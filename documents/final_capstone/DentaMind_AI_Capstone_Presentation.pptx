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B54C7C-3BB2-4A4D-BD54-2C75E7637B6F}" type="datetimeFigureOut">
              <a:rPr lang="en-IN" smtClean="0"/>
              <a:t>15-10-2026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71E702-072E-44D1-AC28-6DAAC1BC783D}" type="slidenum">
              <a:rPr lang="en-IN" smtClean="0"/>
              <a:t>‹#›</a:t>
            </a:fld>
            <a:endParaRPr lang="en-IN"/>
          </a:p>
        </p:txBody>
      </p:sp>
    </p:spTree>
    <p:extLst>
      <p:ext uri="{BB962C8B-B14F-4D97-AF65-F5344CB8AC3E}">
        <p14:creationId xmlns:p14="http://schemas.microsoft.com/office/powerpoint/2010/main" val="25480968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Introduce the team and the project. DentaMind AI is a research prototype that reads a panoramic dental X-ray, finds and numbers each tooth, outlines it, suggests the closest of four trained findings, flags uncertain regions and drafts a structured report that a qualified person must review. Say clearly at the start that it is not a clinically validated diagnostic tool.</a:t>
            </a:r>
            <a:endParaRPr lang="en-IN"/>
          </a:p>
        </p:txBody>
      </p:sp>
      <p:sp>
        <p:nvSpPr>
          <p:cNvPr id="4" name="Slide Number Placeholder 3"/>
          <p:cNvSpPr>
            <a:spLocks noGrp="1"/>
          </p:cNvSpPr>
          <p:nvPr>
            <p:ph type="sldNum" sz="quarter" idx="5"/>
          </p:nvPr>
        </p:nvSpPr>
        <p:spPr/>
        <p:txBody>
          <a:bodyPr/>
          <a:lstStyle/>
          <a:p>
            <a:fld id="{7E71E702-072E-44D1-AC28-6DAAC1BC783D}" type="slidenum">
              <a:rPr lang="en-IN" smtClean="0"/>
              <a:t>1</a:t>
            </a:fld>
            <a:endParaRPr lang="en-IN"/>
          </a:p>
        </p:txBody>
      </p:sp>
    </p:spTree>
    <p:extLst>
      <p:ext uri="{BB962C8B-B14F-4D97-AF65-F5344CB8AC3E}">
        <p14:creationId xmlns:p14="http://schemas.microsoft.com/office/powerpoint/2010/main" val="14988442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Motivation. Panoramic X-rays are common but reading them is slow and error-prone. Explain that tooth detection is close to solved in the literature, while finding classification is harder. The generative part of our project is report drafting, and the main risk with generated text is unsupported claims, so we built a validator. The screenshot is the real application running on a DENTEX test image.</a:t>
            </a:r>
            <a:endParaRPr lang="en-IN"/>
          </a:p>
        </p:txBody>
      </p:sp>
      <p:sp>
        <p:nvSpPr>
          <p:cNvPr id="4" name="Slide Number Placeholder 3"/>
          <p:cNvSpPr>
            <a:spLocks noGrp="1"/>
          </p:cNvSpPr>
          <p:nvPr>
            <p:ph type="sldNum" sz="quarter" idx="5"/>
          </p:nvPr>
        </p:nvSpPr>
        <p:spPr/>
        <p:txBody>
          <a:bodyPr/>
          <a:lstStyle/>
          <a:p>
            <a:fld id="{7E71E702-072E-44D1-AC28-6DAAC1BC783D}" type="slidenum">
              <a:rPr lang="en-IN" smtClean="0"/>
              <a:t>2</a:t>
            </a:fld>
            <a:endParaRPr lang="en-IN"/>
          </a:p>
        </p:txBody>
      </p:sp>
    </p:spTree>
    <p:extLst>
      <p:ext uri="{BB962C8B-B14F-4D97-AF65-F5344CB8AC3E}">
        <p14:creationId xmlns:p14="http://schemas.microsoft.com/office/powerpoint/2010/main" val="37485820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Read the problem statement. Point out the constraints, because they explain many design choices: DENTEX labels findings only on affected teeth, so there is no healthy class; there are no patient IDs; and all training ran on an RTX 3050 laptop GPU with 4 GB of memory.</a:t>
            </a:r>
            <a:endParaRPr lang="en-IN"/>
          </a:p>
        </p:txBody>
      </p:sp>
      <p:sp>
        <p:nvSpPr>
          <p:cNvPr id="4" name="Slide Number Placeholder 3"/>
          <p:cNvSpPr>
            <a:spLocks noGrp="1"/>
          </p:cNvSpPr>
          <p:nvPr>
            <p:ph type="sldNum" sz="quarter" idx="5"/>
          </p:nvPr>
        </p:nvSpPr>
        <p:spPr/>
        <p:txBody>
          <a:bodyPr/>
          <a:lstStyle/>
          <a:p>
            <a:fld id="{7E71E702-072E-44D1-AC28-6DAAC1BC783D}" type="slidenum">
              <a:rPr lang="en-IN" smtClean="0"/>
              <a:t>3</a:t>
            </a:fld>
            <a:endParaRPr lang="en-IN"/>
          </a:p>
        </p:txBody>
      </p:sp>
    </p:spTree>
    <p:extLst>
      <p:ext uri="{BB962C8B-B14F-4D97-AF65-F5344CB8AC3E}">
        <p14:creationId xmlns:p14="http://schemas.microsoft.com/office/powerpoint/2010/main" val="39276079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Six objectives, which map to the chapters of the report. O6 is a research-integrity objective: every improvement had to pass a rule written before the experiment was run.</a:t>
            </a:r>
            <a:endParaRPr lang="en-IN"/>
          </a:p>
        </p:txBody>
      </p:sp>
      <p:sp>
        <p:nvSpPr>
          <p:cNvPr id="4" name="Slide Number Placeholder 3"/>
          <p:cNvSpPr>
            <a:spLocks noGrp="1"/>
          </p:cNvSpPr>
          <p:nvPr>
            <p:ph type="sldNum" sz="quarter" idx="5"/>
          </p:nvPr>
        </p:nvSpPr>
        <p:spPr/>
        <p:txBody>
          <a:bodyPr/>
          <a:lstStyle/>
          <a:p>
            <a:fld id="{7E71E702-072E-44D1-AC28-6DAAC1BC783D}" type="slidenum">
              <a:rPr lang="en-IN" smtClean="0"/>
              <a:t>4</a:t>
            </a:fld>
            <a:endParaRPr lang="en-IN"/>
          </a:p>
        </p:txBody>
      </p:sp>
    </p:spTree>
    <p:extLst>
      <p:ext uri="{BB962C8B-B14F-4D97-AF65-F5344CB8AC3E}">
        <p14:creationId xmlns:p14="http://schemas.microsoft.com/office/powerpoint/2010/main" val="13483534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Summarise the literature in one table. Numbers in brackets refer to the reference list in the report. The key message: most dental AI work reports a single task on one split. Few works expose uncertainty or control generated text.</a:t>
            </a:r>
            <a:endParaRPr lang="en-IN"/>
          </a:p>
        </p:txBody>
      </p:sp>
      <p:sp>
        <p:nvSpPr>
          <p:cNvPr id="4" name="Slide Number Placeholder 3"/>
          <p:cNvSpPr>
            <a:spLocks noGrp="1"/>
          </p:cNvSpPr>
          <p:nvPr>
            <p:ph type="sldNum" sz="quarter" idx="5"/>
          </p:nvPr>
        </p:nvSpPr>
        <p:spPr/>
        <p:txBody>
          <a:bodyPr/>
          <a:lstStyle/>
          <a:p>
            <a:fld id="{7E71E702-072E-44D1-AC28-6DAAC1BC783D}" type="slidenum">
              <a:rPr lang="en-IN" smtClean="0"/>
              <a:t>5</a:t>
            </a:fld>
            <a:endParaRPr lang="en-IN"/>
          </a:p>
        </p:txBody>
      </p:sp>
    </p:spTree>
    <p:extLst>
      <p:ext uri="{BB962C8B-B14F-4D97-AF65-F5344CB8AC3E}">
        <p14:creationId xmlns:p14="http://schemas.microsoft.com/office/powerpoint/2010/main" val="5403300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Explain each gap briefly. The last bullet links each gap to a component of DentaMind. Be careful not to claim we closed the clinical gap: we addressed it at the research-prototype level.</a:t>
            </a:r>
            <a:endParaRPr lang="en-IN"/>
          </a:p>
        </p:txBody>
      </p:sp>
      <p:sp>
        <p:nvSpPr>
          <p:cNvPr id="4" name="Slide Number Placeholder 3"/>
          <p:cNvSpPr>
            <a:spLocks noGrp="1"/>
          </p:cNvSpPr>
          <p:nvPr>
            <p:ph type="sldNum" sz="quarter" idx="5"/>
          </p:nvPr>
        </p:nvSpPr>
        <p:spPr/>
        <p:txBody>
          <a:bodyPr/>
          <a:lstStyle/>
          <a:p>
            <a:fld id="{7E71E702-072E-44D1-AC28-6DAAC1BC783D}" type="slidenum">
              <a:rPr lang="en-IN" smtClean="0"/>
              <a:t>6</a:t>
            </a:fld>
            <a:endParaRPr lang="en-IN"/>
          </a:p>
        </p:txBody>
      </p:sp>
    </p:spTree>
    <p:extLst>
      <p:ext uri="{BB962C8B-B14F-4D97-AF65-F5344CB8AC3E}">
        <p14:creationId xmlns:p14="http://schemas.microsoft.com/office/powerpoint/2010/main" val="28254360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All counts come from Data/reports/dataset_audit.json. Emphasise the duplicate problem: the same film appears in several DENTEX folders, so we split by unique radiograph using pixel hashes. Three validation_data files are copies of test films; they are only used as demo images and are listed as a leakage-check warning.</a:t>
            </a:r>
            <a:endParaRPr lang="en-IN"/>
          </a:p>
        </p:txBody>
      </p:sp>
      <p:sp>
        <p:nvSpPr>
          <p:cNvPr id="4" name="Slide Number Placeholder 3"/>
          <p:cNvSpPr>
            <a:spLocks noGrp="1"/>
          </p:cNvSpPr>
          <p:nvPr>
            <p:ph type="sldNum" sz="quarter" idx="5"/>
          </p:nvPr>
        </p:nvSpPr>
        <p:spPr/>
        <p:txBody>
          <a:bodyPr/>
          <a:lstStyle/>
          <a:p>
            <a:fld id="{7E71E702-072E-44D1-AC28-6DAAC1BC783D}" type="slidenum">
              <a:rPr lang="en-IN" smtClean="0"/>
              <a:t>7</a:t>
            </a:fld>
            <a:endParaRPr lang="en-IN"/>
          </a:p>
        </p:txBody>
      </p:sp>
    </p:spTree>
    <p:extLst>
      <p:ext uri="{BB962C8B-B14F-4D97-AF65-F5344CB8AC3E}">
        <p14:creationId xmlns:p14="http://schemas.microsoft.com/office/powerpoint/2010/main" val="25335299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calibration split is used only to choose uncertainty thresholds. The test split is used once per checkpoint and recorded in a hash-chained ledger. Stress that with only 9 validation Periapical Lesion examples, one prediction changes recall by 11 percentage points.</a:t>
            </a:r>
            <a:endParaRPr lang="en-IN"/>
          </a:p>
        </p:txBody>
      </p:sp>
      <p:sp>
        <p:nvSpPr>
          <p:cNvPr id="4" name="Slide Number Placeholder 3"/>
          <p:cNvSpPr>
            <a:spLocks noGrp="1"/>
          </p:cNvSpPr>
          <p:nvPr>
            <p:ph type="sldNum" sz="quarter" idx="5"/>
          </p:nvPr>
        </p:nvSpPr>
        <p:spPr/>
        <p:txBody>
          <a:bodyPr/>
          <a:lstStyle/>
          <a:p>
            <a:fld id="{7E71E702-072E-44D1-AC28-6DAAC1BC783D}" type="slidenum">
              <a:rPr lang="en-IN" smtClean="0"/>
              <a:t>8</a:t>
            </a:fld>
            <a:endParaRPr lang="en-IN"/>
          </a:p>
        </p:txBody>
      </p:sp>
    </p:spTree>
    <p:extLst>
      <p:ext uri="{BB962C8B-B14F-4D97-AF65-F5344CB8AC3E}">
        <p14:creationId xmlns:p14="http://schemas.microsoft.com/office/powerpoint/2010/main" val="17047935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Walk through the eleven steps. Grey boxes are trained networks. Detection runs first; numbering and segmentation are matched to detected boxes; each tooth is cropped with 10 % padding and classified. Flip test-time augmentation gives an uncertainty estimate. If normalised entropy is at least 0.397, a threshold chosen on the calibration split, the system abstains and shows 'No reliable class candidate'. The report generator only uses the structured evidence.</a:t>
            </a:r>
            <a:endParaRPr lang="en-IN"/>
          </a:p>
        </p:txBody>
      </p:sp>
      <p:sp>
        <p:nvSpPr>
          <p:cNvPr id="4" name="Slide Number Placeholder 3"/>
          <p:cNvSpPr>
            <a:spLocks noGrp="1"/>
          </p:cNvSpPr>
          <p:nvPr>
            <p:ph type="sldNum" sz="quarter" idx="5"/>
          </p:nvPr>
        </p:nvSpPr>
        <p:spPr/>
        <p:txBody>
          <a:bodyPr/>
          <a:lstStyle/>
          <a:p>
            <a:fld id="{7E71E702-072E-44D1-AC28-6DAAC1BC783D}" type="slidenum">
              <a:rPr lang="en-IN" smtClean="0"/>
              <a:t>9</a:t>
            </a:fld>
            <a:endParaRPr lang="en-IN"/>
          </a:p>
        </p:txBody>
      </p:sp>
    </p:spTree>
    <p:extLst>
      <p:ext uri="{BB962C8B-B14F-4D97-AF65-F5344CB8AC3E}">
        <p14:creationId xmlns:p14="http://schemas.microsoft.com/office/powerpoint/2010/main" val="8152117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Three tiers: a React user interface, a FastAPI service layer, and the dentexmodel machine-learning package, with storage on the right. The API binds only to 127.0.0.1 and needs a token, which the Vite proxy adds on the server side so it is never exposed in the browser. Mention that the LLM path exists in code but is not configured; all drafts shown come from the deterministic template.</a:t>
            </a:r>
            <a:endParaRPr lang="en-IN"/>
          </a:p>
        </p:txBody>
      </p:sp>
      <p:sp>
        <p:nvSpPr>
          <p:cNvPr id="4" name="Slide Number Placeholder 3"/>
          <p:cNvSpPr>
            <a:spLocks noGrp="1"/>
          </p:cNvSpPr>
          <p:nvPr>
            <p:ph type="sldNum" sz="quarter" idx="5"/>
          </p:nvPr>
        </p:nvSpPr>
        <p:spPr/>
        <p:txBody>
          <a:bodyPr/>
          <a:lstStyle/>
          <a:p>
            <a:fld id="{7E71E702-072E-44D1-AC28-6DAAC1BC783D}" type="slidenum">
              <a:rPr lang="en-IN" smtClean="0"/>
              <a:t>10</a:t>
            </a:fld>
            <a:endParaRPr lang="en-IN"/>
          </a:p>
        </p:txBody>
      </p:sp>
    </p:spTree>
    <p:extLst>
      <p:ext uri="{BB962C8B-B14F-4D97-AF65-F5344CB8AC3E}">
        <p14:creationId xmlns:p14="http://schemas.microsoft.com/office/powerpoint/2010/main" val="31672362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Versions are taken from the project's virtual environment and package.json. Every model was trained on one 4 GB laptop GPU, which limited batch size: batch 2 for detection, 1 for segmentation, 32 for the classifier.</a:t>
            </a:r>
            <a:endParaRPr lang="en-IN"/>
          </a:p>
        </p:txBody>
      </p:sp>
      <p:sp>
        <p:nvSpPr>
          <p:cNvPr id="4" name="Slide Number Placeholder 3"/>
          <p:cNvSpPr>
            <a:spLocks noGrp="1"/>
          </p:cNvSpPr>
          <p:nvPr>
            <p:ph type="sldNum" sz="quarter" idx="5"/>
          </p:nvPr>
        </p:nvSpPr>
        <p:spPr/>
        <p:txBody>
          <a:bodyPr/>
          <a:lstStyle/>
          <a:p>
            <a:fld id="{7E71E702-072E-44D1-AC28-6DAAC1BC783D}" type="slidenum">
              <a:rPr lang="en-IN" smtClean="0"/>
              <a:t>11</a:t>
            </a:fld>
            <a:endParaRPr lang="en-IN"/>
          </a:p>
        </p:txBody>
      </p:sp>
    </p:spTree>
    <p:extLst>
      <p:ext uri="{BB962C8B-B14F-4D97-AF65-F5344CB8AC3E}">
        <p14:creationId xmlns:p14="http://schemas.microsoft.com/office/powerpoint/2010/main" val="23305600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All four checkpoints are labelled 'legacy' because they were trained before the provenance manifests existed. We later showed that the production trainer reproduces the deployed classifier bit-for-bit with seed 42.</a:t>
            </a:r>
            <a:endParaRPr lang="en-IN"/>
          </a:p>
        </p:txBody>
      </p:sp>
      <p:sp>
        <p:nvSpPr>
          <p:cNvPr id="4" name="Slide Number Placeholder 3"/>
          <p:cNvSpPr>
            <a:spLocks noGrp="1"/>
          </p:cNvSpPr>
          <p:nvPr>
            <p:ph type="sldNum" sz="quarter" idx="5"/>
          </p:nvPr>
        </p:nvSpPr>
        <p:spPr/>
        <p:txBody>
          <a:bodyPr/>
          <a:lstStyle/>
          <a:p>
            <a:fld id="{7E71E702-072E-44D1-AC28-6DAAC1BC783D}" type="slidenum">
              <a:rPr lang="en-IN" smtClean="0"/>
              <a:t>12</a:t>
            </a:fld>
            <a:endParaRPr lang="en-IN"/>
          </a:p>
        </p:txBody>
      </p:sp>
    </p:spTree>
    <p:extLst>
      <p:ext uri="{BB962C8B-B14F-4D97-AF65-F5344CB8AC3E}">
        <p14:creationId xmlns:p14="http://schemas.microsoft.com/office/powerpoint/2010/main" val="13740784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Data flows from the archives through the audit and the duplicate-aware split. The leakage checker runs before any training. Validation is for selection, calibration for thresholds, and test is used once per checkpoint through a hash-chained ledger. Promotion to the live system is a human decision that needs a validation report and a written justification, and it can be rolled back.</a:t>
            </a:r>
            <a:endParaRPr lang="en-IN"/>
          </a:p>
        </p:txBody>
      </p:sp>
      <p:sp>
        <p:nvSpPr>
          <p:cNvPr id="4" name="Slide Number Placeholder 3"/>
          <p:cNvSpPr>
            <a:spLocks noGrp="1"/>
          </p:cNvSpPr>
          <p:nvPr>
            <p:ph type="sldNum" sz="quarter" idx="5"/>
          </p:nvPr>
        </p:nvSpPr>
        <p:spPr/>
        <p:txBody>
          <a:bodyPr/>
          <a:lstStyle/>
          <a:p>
            <a:fld id="{7E71E702-072E-44D1-AC28-6DAAC1BC783D}" type="slidenum">
              <a:rPr lang="en-IN" smtClean="0"/>
              <a:t>13</a:t>
            </a:fld>
            <a:endParaRPr lang="en-IN"/>
          </a:p>
        </p:txBody>
      </p:sp>
    </p:spTree>
    <p:extLst>
      <p:ext uri="{BB962C8B-B14F-4D97-AF65-F5344CB8AC3E}">
        <p14:creationId xmlns:p14="http://schemas.microsoft.com/office/powerpoint/2010/main" val="30071300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Validation numbers come from the validation split, which was also used for model selection, so they are slightly optimistic. Test numbers are historical: the test split was evaluated once per checkpoint and is now recorded as used. Tooth localisation is strong. The gap between AP50 and mAP means boxes overlap well but are not tight at strict IoU thresholds.</a:t>
            </a:r>
            <a:endParaRPr lang="en-IN"/>
          </a:p>
        </p:txBody>
      </p:sp>
      <p:sp>
        <p:nvSpPr>
          <p:cNvPr id="4" name="Slide Number Placeholder 3"/>
          <p:cNvSpPr>
            <a:spLocks noGrp="1"/>
          </p:cNvSpPr>
          <p:nvPr>
            <p:ph type="sldNum" sz="quarter" idx="5"/>
          </p:nvPr>
        </p:nvSpPr>
        <p:spPr/>
        <p:txBody>
          <a:bodyPr/>
          <a:lstStyle/>
          <a:p>
            <a:fld id="{7E71E702-072E-44D1-AC28-6DAAC1BC783D}" type="slidenum">
              <a:rPr lang="en-IN" smtClean="0"/>
              <a:t>14</a:t>
            </a:fld>
            <a:endParaRPr lang="en-IN"/>
          </a:p>
        </p:txBody>
      </p:sp>
    </p:spTree>
    <p:extLst>
      <p:ext uri="{BB962C8B-B14F-4D97-AF65-F5344CB8AC3E}">
        <p14:creationId xmlns:p14="http://schemas.microsoft.com/office/powerpoint/2010/main" val="36799471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Values are validation / historical test. Explain why macro-F1 is lower than accuracy: Caries dominates, so accuracy mostly measures Caries. Deep Caries and Caries form a continuum of depth and the labels are hard to separate. Periapical Lesion has very few examples, so its scores have wide uncertainty.</a:t>
            </a:r>
            <a:endParaRPr lang="en-IN"/>
          </a:p>
        </p:txBody>
      </p:sp>
      <p:sp>
        <p:nvSpPr>
          <p:cNvPr id="4" name="Slide Number Placeholder 3"/>
          <p:cNvSpPr>
            <a:spLocks noGrp="1"/>
          </p:cNvSpPr>
          <p:nvPr>
            <p:ph type="sldNum" sz="quarter" idx="5"/>
          </p:nvPr>
        </p:nvSpPr>
        <p:spPr/>
        <p:txBody>
          <a:bodyPr/>
          <a:lstStyle/>
          <a:p>
            <a:fld id="{7E71E702-072E-44D1-AC28-6DAAC1BC783D}" type="slidenum">
              <a:rPr lang="en-IN" smtClean="0"/>
              <a:t>15</a:t>
            </a:fld>
            <a:endParaRPr lang="en-IN"/>
          </a:p>
        </p:txBody>
      </p:sp>
    </p:spTree>
    <p:extLst>
      <p:ext uri="{BB962C8B-B14F-4D97-AF65-F5344CB8AC3E}">
        <p14:creationId xmlns:p14="http://schemas.microsoft.com/office/powerpoint/2010/main" val="2734669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most honest view of the deployed system: classification on the detector's own crops. The drop in macro-F1 is mostly on the rare classes: Deep Caries end-to-end recall 0.33 and Periapical Lesion 4 of 9. Errors decompose into 248 correct with both box types, 41 wrong with both, 20 correct only with ground-truth boxes, 14 correct only with detector boxes, and 8 unmatched.</a:t>
            </a:r>
            <a:endParaRPr lang="en-IN"/>
          </a:p>
        </p:txBody>
      </p:sp>
      <p:sp>
        <p:nvSpPr>
          <p:cNvPr id="4" name="Slide Number Placeholder 3"/>
          <p:cNvSpPr>
            <a:spLocks noGrp="1"/>
          </p:cNvSpPr>
          <p:nvPr>
            <p:ph type="sldNum" sz="quarter" idx="5"/>
          </p:nvPr>
        </p:nvSpPr>
        <p:spPr/>
        <p:txBody>
          <a:bodyPr/>
          <a:lstStyle/>
          <a:p>
            <a:fld id="{7E71E702-072E-44D1-AC28-6DAAC1BC783D}" type="slidenum">
              <a:rPr lang="en-IN" smtClean="0"/>
              <a:t>16</a:t>
            </a:fld>
            <a:endParaRPr lang="en-IN"/>
          </a:p>
        </p:txBody>
      </p:sp>
    </p:spTree>
    <p:extLst>
      <p:ext uri="{BB962C8B-B14F-4D97-AF65-F5344CB8AC3E}">
        <p14:creationId xmlns:p14="http://schemas.microsoft.com/office/powerpoint/2010/main" val="4656507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All runs used the validation split, five seeds (42 to 46), and changed one factor at a time against the inverse-frequency-weighted baseline C0. The baseline re-run reproduced C0 bit-for-bit, so the comparison is deterministic. Validation was used for both epoch selection and reporting, which gives every method the same optimistic bias. The crop-jitter candidate and the training-recipe comparison also failed their pre-registered rules.</a:t>
            </a:r>
            <a:endParaRPr lang="en-IN"/>
          </a:p>
        </p:txBody>
      </p:sp>
      <p:sp>
        <p:nvSpPr>
          <p:cNvPr id="4" name="Slide Number Placeholder 3"/>
          <p:cNvSpPr>
            <a:spLocks noGrp="1"/>
          </p:cNvSpPr>
          <p:nvPr>
            <p:ph type="sldNum" sz="quarter" idx="5"/>
          </p:nvPr>
        </p:nvSpPr>
        <p:spPr/>
        <p:txBody>
          <a:bodyPr/>
          <a:lstStyle/>
          <a:p>
            <a:fld id="{7E71E702-072E-44D1-AC28-6DAAC1BC783D}" type="slidenum">
              <a:rPr lang="en-IN" smtClean="0"/>
              <a:t>17</a:t>
            </a:fld>
            <a:endParaRPr lang="en-IN"/>
          </a:p>
        </p:txBody>
      </p:sp>
    </p:spTree>
    <p:extLst>
      <p:ext uri="{BB962C8B-B14F-4D97-AF65-F5344CB8AC3E}">
        <p14:creationId xmlns:p14="http://schemas.microsoft.com/office/powerpoint/2010/main" val="22904447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Uncertainty works as a triage signal: flagged crops are about five times more likely to be wrong. The cost is that more than half of all crops are flagged, which is high for a clinical workflow. The recipe study found that seed variation alone gives a 0.125 spread in detector-crop macro-F1, which is larger than any imbalance remedy we tried.</a:t>
            </a:r>
            <a:endParaRPr lang="en-IN"/>
          </a:p>
        </p:txBody>
      </p:sp>
      <p:sp>
        <p:nvSpPr>
          <p:cNvPr id="4" name="Slide Number Placeholder 3"/>
          <p:cNvSpPr>
            <a:spLocks noGrp="1"/>
          </p:cNvSpPr>
          <p:nvPr>
            <p:ph type="sldNum" sz="quarter" idx="5"/>
          </p:nvPr>
        </p:nvSpPr>
        <p:spPr/>
        <p:txBody>
          <a:bodyPr/>
          <a:lstStyle/>
          <a:p>
            <a:fld id="{7E71E702-072E-44D1-AC28-6DAAC1BC783D}" type="slidenum">
              <a:rPr lang="en-IN" smtClean="0"/>
              <a:t>18</a:t>
            </a:fld>
            <a:endParaRPr lang="en-IN"/>
          </a:p>
        </p:txBody>
      </p:sp>
    </p:spTree>
    <p:extLst>
      <p:ext uri="{BB962C8B-B14F-4D97-AF65-F5344CB8AC3E}">
        <p14:creationId xmlns:p14="http://schemas.microsoft.com/office/powerpoint/2010/main" val="5332705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system never finalises a finding. Each region can be confirmed, corrected or rejected, and every decision is a new revision that keeps the previous output. A second person approves or rejects. Approved reviews only become training data if the image is unassigned and is not a copy of any labelled film, which prevents leakage into validation or test.</a:t>
            </a:r>
            <a:endParaRPr lang="en-IN"/>
          </a:p>
        </p:txBody>
      </p:sp>
      <p:sp>
        <p:nvSpPr>
          <p:cNvPr id="4" name="Slide Number Placeholder 3"/>
          <p:cNvSpPr>
            <a:spLocks noGrp="1"/>
          </p:cNvSpPr>
          <p:nvPr>
            <p:ph type="sldNum" sz="quarter" idx="5"/>
          </p:nvPr>
        </p:nvSpPr>
        <p:spPr/>
        <p:txBody>
          <a:bodyPr/>
          <a:lstStyle/>
          <a:p>
            <a:fld id="{7E71E702-072E-44D1-AC28-6DAAC1BC783D}" type="slidenum">
              <a:rPr lang="en-IN" smtClean="0"/>
              <a:t>19</a:t>
            </a:fld>
            <a:endParaRPr lang="en-IN"/>
          </a:p>
        </p:txBody>
      </p:sp>
    </p:spTree>
    <p:extLst>
      <p:ext uri="{BB962C8B-B14F-4D97-AF65-F5344CB8AC3E}">
        <p14:creationId xmlns:p14="http://schemas.microsoft.com/office/powerpoint/2010/main" val="1728473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 direct about limitations; examiners value this. The missing healthy class is the biggest one: it explains the high abstention rate and why the classifier output is called a 'closest class'. We have no external dataset, so we cannot say how the system generalises to other clinics or machines.</a:t>
            </a:r>
            <a:endParaRPr lang="en-IN"/>
          </a:p>
        </p:txBody>
      </p:sp>
      <p:sp>
        <p:nvSpPr>
          <p:cNvPr id="4" name="Slide Number Placeholder 3"/>
          <p:cNvSpPr>
            <a:spLocks noGrp="1"/>
          </p:cNvSpPr>
          <p:nvPr>
            <p:ph type="sldNum" sz="quarter" idx="5"/>
          </p:nvPr>
        </p:nvSpPr>
        <p:spPr/>
        <p:txBody>
          <a:bodyPr/>
          <a:lstStyle/>
          <a:p>
            <a:fld id="{7E71E702-072E-44D1-AC28-6DAAC1BC783D}" type="slidenum">
              <a:rPr lang="en-IN" smtClean="0"/>
              <a:t>20</a:t>
            </a:fld>
            <a:endParaRPr lang="en-IN"/>
          </a:p>
        </p:txBody>
      </p:sp>
    </p:spTree>
    <p:extLst>
      <p:ext uri="{BB962C8B-B14F-4D97-AF65-F5344CB8AC3E}">
        <p14:creationId xmlns:p14="http://schemas.microsoft.com/office/powerpoint/2010/main" val="39686175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Conclude with what works and what does not. The integrity tooling (leakage audit, ledger, pre-registered rules) is a reusable contribution even though the imbalance remedies did not help. Future work should start with data, especially healthy teeth and more rare-class examples, before trying more algorithms.</a:t>
            </a:r>
            <a:endParaRPr lang="en-IN"/>
          </a:p>
        </p:txBody>
      </p:sp>
      <p:sp>
        <p:nvSpPr>
          <p:cNvPr id="4" name="Slide Number Placeholder 3"/>
          <p:cNvSpPr>
            <a:spLocks noGrp="1"/>
          </p:cNvSpPr>
          <p:nvPr>
            <p:ph type="sldNum" sz="quarter" idx="5"/>
          </p:nvPr>
        </p:nvSpPr>
        <p:spPr/>
        <p:txBody>
          <a:bodyPr/>
          <a:lstStyle/>
          <a:p>
            <a:fld id="{7E71E702-072E-44D1-AC28-6DAAC1BC783D}" type="slidenum">
              <a:rPr lang="en-IN" smtClean="0"/>
              <a:t>21</a:t>
            </a:fld>
            <a:endParaRPr lang="en-IN"/>
          </a:p>
        </p:txBody>
      </p:sp>
    </p:spTree>
    <p:extLst>
      <p:ext uri="{BB962C8B-B14F-4D97-AF65-F5344CB8AC3E}">
        <p14:creationId xmlns:p14="http://schemas.microsoft.com/office/powerpoint/2010/main" val="23247702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Show the main references. The numbering matches the project report. Invite questions. If asked about clinical use, repeat that this is a research prototype that has not been clinically validated.</a:t>
            </a:r>
            <a:endParaRPr lang="en-IN"/>
          </a:p>
        </p:txBody>
      </p:sp>
      <p:sp>
        <p:nvSpPr>
          <p:cNvPr id="4" name="Slide Number Placeholder 3"/>
          <p:cNvSpPr>
            <a:spLocks noGrp="1"/>
          </p:cNvSpPr>
          <p:nvPr>
            <p:ph type="sldNum" sz="quarter" idx="5"/>
          </p:nvPr>
        </p:nvSpPr>
        <p:spPr/>
        <p:txBody>
          <a:bodyPr/>
          <a:lstStyle/>
          <a:p>
            <a:fld id="{7E71E702-072E-44D1-AC28-6DAAC1BC783D}" type="slidenum">
              <a:rPr lang="en-IN" smtClean="0"/>
              <a:t>22</a:t>
            </a:fld>
            <a:endParaRPr lang="en-IN"/>
          </a:p>
        </p:txBody>
      </p:sp>
    </p:spTree>
    <p:extLst>
      <p:ext uri="{BB962C8B-B14F-4D97-AF65-F5344CB8AC3E}">
        <p14:creationId xmlns:p14="http://schemas.microsoft.com/office/powerpoint/2010/main" val="34590201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3DC54-A4DA-8007-5066-B50D848A443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4A3B61D-1253-8359-1BE5-281CB55DC3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7EF5295-D8DA-38FF-0137-7E50BD463408}"/>
              </a:ext>
            </a:extLst>
          </p:cNvPr>
          <p:cNvSpPr>
            <a:spLocks noGrp="1"/>
          </p:cNvSpPr>
          <p:nvPr>
            <p:ph type="dt" sz="half" idx="10"/>
          </p:nvPr>
        </p:nvSpPr>
        <p:spPr/>
        <p:txBody>
          <a:bodyPr/>
          <a:lstStyle/>
          <a:p>
            <a:fld id="{F886C934-FE8D-40F0-9D59-92D7B5A97E20}" type="datetimeFigureOut">
              <a:rPr lang="en-IN" smtClean="0"/>
              <a:t>15-10-2026</a:t>
            </a:fld>
            <a:endParaRPr lang="en-IN"/>
          </a:p>
        </p:txBody>
      </p:sp>
      <p:sp>
        <p:nvSpPr>
          <p:cNvPr id="5" name="Footer Placeholder 4">
            <a:extLst>
              <a:ext uri="{FF2B5EF4-FFF2-40B4-BE49-F238E27FC236}">
                <a16:creationId xmlns:a16="http://schemas.microsoft.com/office/drawing/2014/main" id="{12016524-AB04-8D70-D5B8-B5DFB54FDBD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F4EB5F9-A01F-9BC5-3720-391B82A34DF2}"/>
              </a:ext>
            </a:extLst>
          </p:cNvPr>
          <p:cNvSpPr>
            <a:spLocks noGrp="1"/>
          </p:cNvSpPr>
          <p:nvPr>
            <p:ph type="sldNum" sz="quarter" idx="12"/>
          </p:nvPr>
        </p:nvSpPr>
        <p:spPr/>
        <p:txBody>
          <a:bodyPr/>
          <a:lstStyle/>
          <a:p>
            <a:fld id="{BEFD9651-B6AF-4450-A8A7-1366AC7489F2}" type="slidenum">
              <a:rPr lang="en-IN" smtClean="0"/>
              <a:t>‹#›</a:t>
            </a:fld>
            <a:endParaRPr lang="en-IN"/>
          </a:p>
        </p:txBody>
      </p:sp>
    </p:spTree>
    <p:extLst>
      <p:ext uri="{BB962C8B-B14F-4D97-AF65-F5344CB8AC3E}">
        <p14:creationId xmlns:p14="http://schemas.microsoft.com/office/powerpoint/2010/main" val="31704318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D4D0E-A0B5-8074-B00F-2CBC732B187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C5AEF1B-241A-55FC-B446-EBE34AC3FCD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E0911FB-F629-64B6-2B0D-FC0BA1C52AB9}"/>
              </a:ext>
            </a:extLst>
          </p:cNvPr>
          <p:cNvSpPr>
            <a:spLocks noGrp="1"/>
          </p:cNvSpPr>
          <p:nvPr>
            <p:ph type="dt" sz="half" idx="10"/>
          </p:nvPr>
        </p:nvSpPr>
        <p:spPr/>
        <p:txBody>
          <a:bodyPr/>
          <a:lstStyle/>
          <a:p>
            <a:fld id="{F886C934-FE8D-40F0-9D59-92D7B5A97E20}" type="datetimeFigureOut">
              <a:rPr lang="en-IN" smtClean="0"/>
              <a:t>15-10-2026</a:t>
            </a:fld>
            <a:endParaRPr lang="en-IN"/>
          </a:p>
        </p:txBody>
      </p:sp>
      <p:sp>
        <p:nvSpPr>
          <p:cNvPr id="5" name="Footer Placeholder 4">
            <a:extLst>
              <a:ext uri="{FF2B5EF4-FFF2-40B4-BE49-F238E27FC236}">
                <a16:creationId xmlns:a16="http://schemas.microsoft.com/office/drawing/2014/main" id="{170BF5D7-0BEF-595D-B51E-D64FDC99179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0EA2989-CFB1-D469-8A1D-35AFFF4ED6D6}"/>
              </a:ext>
            </a:extLst>
          </p:cNvPr>
          <p:cNvSpPr>
            <a:spLocks noGrp="1"/>
          </p:cNvSpPr>
          <p:nvPr>
            <p:ph type="sldNum" sz="quarter" idx="12"/>
          </p:nvPr>
        </p:nvSpPr>
        <p:spPr/>
        <p:txBody>
          <a:bodyPr/>
          <a:lstStyle/>
          <a:p>
            <a:fld id="{BEFD9651-B6AF-4450-A8A7-1366AC7489F2}" type="slidenum">
              <a:rPr lang="en-IN" smtClean="0"/>
              <a:t>‹#›</a:t>
            </a:fld>
            <a:endParaRPr lang="en-IN"/>
          </a:p>
        </p:txBody>
      </p:sp>
    </p:spTree>
    <p:extLst>
      <p:ext uri="{BB962C8B-B14F-4D97-AF65-F5344CB8AC3E}">
        <p14:creationId xmlns:p14="http://schemas.microsoft.com/office/powerpoint/2010/main" val="12125610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82B1A-5685-C6FE-8BD6-AE03AC8B7D0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365AD40-307C-F58C-C08E-669C9070CAE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B02DEF9-DD7E-B40A-43E4-0252191CFC10}"/>
              </a:ext>
            </a:extLst>
          </p:cNvPr>
          <p:cNvSpPr>
            <a:spLocks noGrp="1"/>
          </p:cNvSpPr>
          <p:nvPr>
            <p:ph type="dt" sz="half" idx="10"/>
          </p:nvPr>
        </p:nvSpPr>
        <p:spPr/>
        <p:txBody>
          <a:bodyPr/>
          <a:lstStyle/>
          <a:p>
            <a:fld id="{F886C934-FE8D-40F0-9D59-92D7B5A97E20}" type="datetimeFigureOut">
              <a:rPr lang="en-IN" smtClean="0"/>
              <a:t>15-10-2026</a:t>
            </a:fld>
            <a:endParaRPr lang="en-IN"/>
          </a:p>
        </p:txBody>
      </p:sp>
      <p:sp>
        <p:nvSpPr>
          <p:cNvPr id="5" name="Footer Placeholder 4">
            <a:extLst>
              <a:ext uri="{FF2B5EF4-FFF2-40B4-BE49-F238E27FC236}">
                <a16:creationId xmlns:a16="http://schemas.microsoft.com/office/drawing/2014/main" id="{7346F5C0-8CAC-F9B7-7F58-52161B639B0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E6AAF3D-4B99-7DF3-BF41-5EE4FBF5A67E}"/>
              </a:ext>
            </a:extLst>
          </p:cNvPr>
          <p:cNvSpPr>
            <a:spLocks noGrp="1"/>
          </p:cNvSpPr>
          <p:nvPr>
            <p:ph type="sldNum" sz="quarter" idx="12"/>
          </p:nvPr>
        </p:nvSpPr>
        <p:spPr/>
        <p:txBody>
          <a:bodyPr/>
          <a:lstStyle/>
          <a:p>
            <a:fld id="{BEFD9651-B6AF-4450-A8A7-1366AC7489F2}" type="slidenum">
              <a:rPr lang="en-IN" smtClean="0"/>
              <a:t>‹#›</a:t>
            </a:fld>
            <a:endParaRPr lang="en-IN"/>
          </a:p>
        </p:txBody>
      </p:sp>
    </p:spTree>
    <p:extLst>
      <p:ext uri="{BB962C8B-B14F-4D97-AF65-F5344CB8AC3E}">
        <p14:creationId xmlns:p14="http://schemas.microsoft.com/office/powerpoint/2010/main" val="15235707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E6635-9BA5-747B-3E47-4D1EDCB2EF5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EEB5B1B-00EB-0944-552E-05CB7C80CA4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F72529C-E812-1F6D-DE1B-8C1D925A865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488BD42-5CAF-2EA8-0B38-542AA21BB0B3}"/>
              </a:ext>
            </a:extLst>
          </p:cNvPr>
          <p:cNvSpPr>
            <a:spLocks noGrp="1"/>
          </p:cNvSpPr>
          <p:nvPr>
            <p:ph type="dt" sz="half" idx="10"/>
          </p:nvPr>
        </p:nvSpPr>
        <p:spPr/>
        <p:txBody>
          <a:bodyPr/>
          <a:lstStyle/>
          <a:p>
            <a:fld id="{F886C934-FE8D-40F0-9D59-92D7B5A97E20}" type="datetimeFigureOut">
              <a:rPr lang="en-IN" smtClean="0"/>
              <a:t>15-10-2026</a:t>
            </a:fld>
            <a:endParaRPr lang="en-IN"/>
          </a:p>
        </p:txBody>
      </p:sp>
      <p:sp>
        <p:nvSpPr>
          <p:cNvPr id="6" name="Footer Placeholder 5">
            <a:extLst>
              <a:ext uri="{FF2B5EF4-FFF2-40B4-BE49-F238E27FC236}">
                <a16:creationId xmlns:a16="http://schemas.microsoft.com/office/drawing/2014/main" id="{FE0556B6-F6D4-A43B-06CA-3BBFD5914C6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4C229DA-F12A-78DA-60F4-481DCBC65FD7}"/>
              </a:ext>
            </a:extLst>
          </p:cNvPr>
          <p:cNvSpPr>
            <a:spLocks noGrp="1"/>
          </p:cNvSpPr>
          <p:nvPr>
            <p:ph type="sldNum" sz="quarter" idx="12"/>
          </p:nvPr>
        </p:nvSpPr>
        <p:spPr/>
        <p:txBody>
          <a:bodyPr/>
          <a:lstStyle/>
          <a:p>
            <a:fld id="{BEFD9651-B6AF-4450-A8A7-1366AC7489F2}" type="slidenum">
              <a:rPr lang="en-IN" smtClean="0"/>
              <a:t>‹#›</a:t>
            </a:fld>
            <a:endParaRPr lang="en-IN"/>
          </a:p>
        </p:txBody>
      </p:sp>
    </p:spTree>
    <p:extLst>
      <p:ext uri="{BB962C8B-B14F-4D97-AF65-F5344CB8AC3E}">
        <p14:creationId xmlns:p14="http://schemas.microsoft.com/office/powerpoint/2010/main" val="2457269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B75C2-B5AE-CF56-4C0C-3A294BBCD20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8633A45-C9F3-6F0C-789B-728B84D19BD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DD12C03-8F0E-39BA-686D-04ACB2200C8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79E9DD3-7BA8-C554-A592-E9A49B5729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596757C-7EDD-06C2-47D9-61903DA8668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0763C4C-7A3B-E639-07FF-A24D6F12E41B}"/>
              </a:ext>
            </a:extLst>
          </p:cNvPr>
          <p:cNvSpPr>
            <a:spLocks noGrp="1"/>
          </p:cNvSpPr>
          <p:nvPr>
            <p:ph type="dt" sz="half" idx="10"/>
          </p:nvPr>
        </p:nvSpPr>
        <p:spPr/>
        <p:txBody>
          <a:bodyPr/>
          <a:lstStyle/>
          <a:p>
            <a:fld id="{F886C934-FE8D-40F0-9D59-92D7B5A97E20}" type="datetimeFigureOut">
              <a:rPr lang="en-IN" smtClean="0"/>
              <a:t>15-10-2026</a:t>
            </a:fld>
            <a:endParaRPr lang="en-IN"/>
          </a:p>
        </p:txBody>
      </p:sp>
      <p:sp>
        <p:nvSpPr>
          <p:cNvPr id="8" name="Footer Placeholder 7">
            <a:extLst>
              <a:ext uri="{FF2B5EF4-FFF2-40B4-BE49-F238E27FC236}">
                <a16:creationId xmlns:a16="http://schemas.microsoft.com/office/drawing/2014/main" id="{F5C0624E-0A37-9183-02CA-589C7D47F3D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55422FC-090D-B515-6E02-84222E2F0ABD}"/>
              </a:ext>
            </a:extLst>
          </p:cNvPr>
          <p:cNvSpPr>
            <a:spLocks noGrp="1"/>
          </p:cNvSpPr>
          <p:nvPr>
            <p:ph type="sldNum" sz="quarter" idx="12"/>
          </p:nvPr>
        </p:nvSpPr>
        <p:spPr/>
        <p:txBody>
          <a:bodyPr/>
          <a:lstStyle/>
          <a:p>
            <a:fld id="{BEFD9651-B6AF-4450-A8A7-1366AC7489F2}" type="slidenum">
              <a:rPr lang="en-IN" smtClean="0"/>
              <a:t>‹#›</a:t>
            </a:fld>
            <a:endParaRPr lang="en-IN"/>
          </a:p>
        </p:txBody>
      </p:sp>
    </p:spTree>
    <p:extLst>
      <p:ext uri="{BB962C8B-B14F-4D97-AF65-F5344CB8AC3E}">
        <p14:creationId xmlns:p14="http://schemas.microsoft.com/office/powerpoint/2010/main" val="21200813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53882-ABB4-D419-9476-EB5FDAE137E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6A05804-1B6E-47C7-9B15-742791E232B3}"/>
              </a:ext>
            </a:extLst>
          </p:cNvPr>
          <p:cNvSpPr>
            <a:spLocks noGrp="1"/>
          </p:cNvSpPr>
          <p:nvPr>
            <p:ph type="dt" sz="half" idx="10"/>
          </p:nvPr>
        </p:nvSpPr>
        <p:spPr/>
        <p:txBody>
          <a:bodyPr/>
          <a:lstStyle/>
          <a:p>
            <a:fld id="{F886C934-FE8D-40F0-9D59-92D7B5A97E20}" type="datetimeFigureOut">
              <a:rPr lang="en-IN" smtClean="0"/>
              <a:t>15-10-2026</a:t>
            </a:fld>
            <a:endParaRPr lang="en-IN"/>
          </a:p>
        </p:txBody>
      </p:sp>
      <p:sp>
        <p:nvSpPr>
          <p:cNvPr id="4" name="Footer Placeholder 3">
            <a:extLst>
              <a:ext uri="{FF2B5EF4-FFF2-40B4-BE49-F238E27FC236}">
                <a16:creationId xmlns:a16="http://schemas.microsoft.com/office/drawing/2014/main" id="{A135265A-A3A6-3EAB-1682-7B3EDD1790F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C947DE1-F0FE-A2D6-0BA7-E91128010728}"/>
              </a:ext>
            </a:extLst>
          </p:cNvPr>
          <p:cNvSpPr>
            <a:spLocks noGrp="1"/>
          </p:cNvSpPr>
          <p:nvPr>
            <p:ph type="sldNum" sz="quarter" idx="12"/>
          </p:nvPr>
        </p:nvSpPr>
        <p:spPr/>
        <p:txBody>
          <a:bodyPr/>
          <a:lstStyle/>
          <a:p>
            <a:fld id="{BEFD9651-B6AF-4450-A8A7-1366AC7489F2}" type="slidenum">
              <a:rPr lang="en-IN" smtClean="0"/>
              <a:t>‹#›</a:t>
            </a:fld>
            <a:endParaRPr lang="en-IN"/>
          </a:p>
        </p:txBody>
      </p:sp>
    </p:spTree>
    <p:extLst>
      <p:ext uri="{BB962C8B-B14F-4D97-AF65-F5344CB8AC3E}">
        <p14:creationId xmlns:p14="http://schemas.microsoft.com/office/powerpoint/2010/main" val="127358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54A63EF-BF69-F679-A764-5446D65FE260}"/>
              </a:ext>
            </a:extLst>
          </p:cNvPr>
          <p:cNvSpPr>
            <a:spLocks noGrp="1"/>
          </p:cNvSpPr>
          <p:nvPr>
            <p:ph type="dt" sz="half" idx="10"/>
          </p:nvPr>
        </p:nvSpPr>
        <p:spPr/>
        <p:txBody>
          <a:bodyPr/>
          <a:lstStyle/>
          <a:p>
            <a:fld id="{F886C934-FE8D-40F0-9D59-92D7B5A97E20}" type="datetimeFigureOut">
              <a:rPr lang="en-IN" smtClean="0"/>
              <a:t>15-10-2026</a:t>
            </a:fld>
            <a:endParaRPr lang="en-IN"/>
          </a:p>
        </p:txBody>
      </p:sp>
      <p:sp>
        <p:nvSpPr>
          <p:cNvPr id="3" name="Footer Placeholder 2">
            <a:extLst>
              <a:ext uri="{FF2B5EF4-FFF2-40B4-BE49-F238E27FC236}">
                <a16:creationId xmlns:a16="http://schemas.microsoft.com/office/drawing/2014/main" id="{B3C5C2F4-2B28-DB5A-7E62-6E7CBEC3C2F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B19E5D4-42F9-48CD-2EE7-2A5AB4E84667}"/>
              </a:ext>
            </a:extLst>
          </p:cNvPr>
          <p:cNvSpPr>
            <a:spLocks noGrp="1"/>
          </p:cNvSpPr>
          <p:nvPr>
            <p:ph type="sldNum" sz="quarter" idx="12"/>
          </p:nvPr>
        </p:nvSpPr>
        <p:spPr/>
        <p:txBody>
          <a:bodyPr/>
          <a:lstStyle/>
          <a:p>
            <a:fld id="{BEFD9651-B6AF-4450-A8A7-1366AC7489F2}" type="slidenum">
              <a:rPr lang="en-IN" smtClean="0"/>
              <a:t>‹#›</a:t>
            </a:fld>
            <a:endParaRPr lang="en-IN"/>
          </a:p>
        </p:txBody>
      </p:sp>
    </p:spTree>
    <p:extLst>
      <p:ext uri="{BB962C8B-B14F-4D97-AF65-F5344CB8AC3E}">
        <p14:creationId xmlns:p14="http://schemas.microsoft.com/office/powerpoint/2010/main" val="12488008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FA5E7-4874-6BCA-4FA8-2A0127E677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A8F2357-7E1C-D126-4D00-D267AB7C90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5F39474-FECE-0E3C-D74B-E9A3E48857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93A511-2A08-B78A-2588-B9E28A1513D8}"/>
              </a:ext>
            </a:extLst>
          </p:cNvPr>
          <p:cNvSpPr>
            <a:spLocks noGrp="1"/>
          </p:cNvSpPr>
          <p:nvPr>
            <p:ph type="dt" sz="half" idx="10"/>
          </p:nvPr>
        </p:nvSpPr>
        <p:spPr/>
        <p:txBody>
          <a:bodyPr/>
          <a:lstStyle/>
          <a:p>
            <a:fld id="{F886C934-FE8D-40F0-9D59-92D7B5A97E20}" type="datetimeFigureOut">
              <a:rPr lang="en-IN" smtClean="0"/>
              <a:t>15-10-2026</a:t>
            </a:fld>
            <a:endParaRPr lang="en-IN"/>
          </a:p>
        </p:txBody>
      </p:sp>
      <p:sp>
        <p:nvSpPr>
          <p:cNvPr id="6" name="Footer Placeholder 5">
            <a:extLst>
              <a:ext uri="{FF2B5EF4-FFF2-40B4-BE49-F238E27FC236}">
                <a16:creationId xmlns:a16="http://schemas.microsoft.com/office/drawing/2014/main" id="{1B379AC0-087C-4FCA-04E8-C7E80627913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7C83BD1-333F-9D07-9560-5349363129F3}"/>
              </a:ext>
            </a:extLst>
          </p:cNvPr>
          <p:cNvSpPr>
            <a:spLocks noGrp="1"/>
          </p:cNvSpPr>
          <p:nvPr>
            <p:ph type="sldNum" sz="quarter" idx="12"/>
          </p:nvPr>
        </p:nvSpPr>
        <p:spPr/>
        <p:txBody>
          <a:bodyPr/>
          <a:lstStyle/>
          <a:p>
            <a:fld id="{BEFD9651-B6AF-4450-A8A7-1366AC7489F2}" type="slidenum">
              <a:rPr lang="en-IN" smtClean="0"/>
              <a:t>‹#›</a:t>
            </a:fld>
            <a:endParaRPr lang="en-IN"/>
          </a:p>
        </p:txBody>
      </p:sp>
    </p:spTree>
    <p:extLst>
      <p:ext uri="{BB962C8B-B14F-4D97-AF65-F5344CB8AC3E}">
        <p14:creationId xmlns:p14="http://schemas.microsoft.com/office/powerpoint/2010/main" val="2080168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276F0-D298-F3D9-E75D-27B53437B3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158DBDA-D237-3913-3480-38447255EA24}"/>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3493059-A406-60E2-0407-DEFF67E849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7F9B81-4BBB-1CB0-3DFC-75E296A6C633}"/>
              </a:ext>
            </a:extLst>
          </p:cNvPr>
          <p:cNvSpPr>
            <a:spLocks noGrp="1"/>
          </p:cNvSpPr>
          <p:nvPr>
            <p:ph type="dt" sz="half" idx="10"/>
          </p:nvPr>
        </p:nvSpPr>
        <p:spPr/>
        <p:txBody>
          <a:bodyPr/>
          <a:lstStyle/>
          <a:p>
            <a:fld id="{F886C934-FE8D-40F0-9D59-92D7B5A97E20}" type="datetimeFigureOut">
              <a:rPr lang="en-IN" smtClean="0"/>
              <a:t>15-10-2026</a:t>
            </a:fld>
            <a:endParaRPr lang="en-IN"/>
          </a:p>
        </p:txBody>
      </p:sp>
      <p:sp>
        <p:nvSpPr>
          <p:cNvPr id="6" name="Footer Placeholder 5">
            <a:extLst>
              <a:ext uri="{FF2B5EF4-FFF2-40B4-BE49-F238E27FC236}">
                <a16:creationId xmlns:a16="http://schemas.microsoft.com/office/drawing/2014/main" id="{AB8B0E91-AAF8-51B9-3F43-092ED022CDC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9529603-36AA-6668-9FED-A22A08BA165F}"/>
              </a:ext>
            </a:extLst>
          </p:cNvPr>
          <p:cNvSpPr>
            <a:spLocks noGrp="1"/>
          </p:cNvSpPr>
          <p:nvPr>
            <p:ph type="sldNum" sz="quarter" idx="12"/>
          </p:nvPr>
        </p:nvSpPr>
        <p:spPr/>
        <p:txBody>
          <a:bodyPr/>
          <a:lstStyle/>
          <a:p>
            <a:fld id="{BEFD9651-B6AF-4450-A8A7-1366AC7489F2}" type="slidenum">
              <a:rPr lang="en-IN" smtClean="0"/>
              <a:t>‹#›</a:t>
            </a:fld>
            <a:endParaRPr lang="en-IN"/>
          </a:p>
        </p:txBody>
      </p:sp>
    </p:spTree>
    <p:extLst>
      <p:ext uri="{BB962C8B-B14F-4D97-AF65-F5344CB8AC3E}">
        <p14:creationId xmlns:p14="http://schemas.microsoft.com/office/powerpoint/2010/main" val="8110183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92AA6-7B7F-D0D9-D2CD-E4BD8EFD6DD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E46D3F6-D61E-33A3-FE14-5F1C18603A3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8D0A340-2E76-C66B-1DAF-2CA890597F3A}"/>
              </a:ext>
            </a:extLst>
          </p:cNvPr>
          <p:cNvSpPr>
            <a:spLocks noGrp="1"/>
          </p:cNvSpPr>
          <p:nvPr>
            <p:ph type="dt" sz="half" idx="10"/>
          </p:nvPr>
        </p:nvSpPr>
        <p:spPr/>
        <p:txBody>
          <a:bodyPr/>
          <a:lstStyle/>
          <a:p>
            <a:fld id="{F886C934-FE8D-40F0-9D59-92D7B5A97E20}" type="datetimeFigureOut">
              <a:rPr lang="en-IN" smtClean="0"/>
              <a:t>15-10-2026</a:t>
            </a:fld>
            <a:endParaRPr lang="en-IN"/>
          </a:p>
        </p:txBody>
      </p:sp>
      <p:sp>
        <p:nvSpPr>
          <p:cNvPr id="5" name="Footer Placeholder 4">
            <a:extLst>
              <a:ext uri="{FF2B5EF4-FFF2-40B4-BE49-F238E27FC236}">
                <a16:creationId xmlns:a16="http://schemas.microsoft.com/office/drawing/2014/main" id="{55A2E8BB-D305-3968-DC26-FF6BC107956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9BA175-36AF-B414-4536-34D7A8D2F94D}"/>
              </a:ext>
            </a:extLst>
          </p:cNvPr>
          <p:cNvSpPr>
            <a:spLocks noGrp="1"/>
          </p:cNvSpPr>
          <p:nvPr>
            <p:ph type="sldNum" sz="quarter" idx="12"/>
          </p:nvPr>
        </p:nvSpPr>
        <p:spPr/>
        <p:txBody>
          <a:bodyPr/>
          <a:lstStyle/>
          <a:p>
            <a:fld id="{BEFD9651-B6AF-4450-A8A7-1366AC7489F2}" type="slidenum">
              <a:rPr lang="en-IN" smtClean="0"/>
              <a:t>‹#›</a:t>
            </a:fld>
            <a:endParaRPr lang="en-IN"/>
          </a:p>
        </p:txBody>
      </p:sp>
    </p:spTree>
    <p:extLst>
      <p:ext uri="{BB962C8B-B14F-4D97-AF65-F5344CB8AC3E}">
        <p14:creationId xmlns:p14="http://schemas.microsoft.com/office/powerpoint/2010/main" val="31507978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CA9777-0332-F249-3655-39BEB22E4DF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C8F633E-13B9-0748-1C78-F931F16DFCB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CF6D66-FE53-009E-F8C0-C2956524888E}"/>
              </a:ext>
            </a:extLst>
          </p:cNvPr>
          <p:cNvSpPr>
            <a:spLocks noGrp="1"/>
          </p:cNvSpPr>
          <p:nvPr>
            <p:ph type="dt" sz="half" idx="10"/>
          </p:nvPr>
        </p:nvSpPr>
        <p:spPr/>
        <p:txBody>
          <a:bodyPr/>
          <a:lstStyle/>
          <a:p>
            <a:fld id="{F886C934-FE8D-40F0-9D59-92D7B5A97E20}" type="datetimeFigureOut">
              <a:rPr lang="en-IN" smtClean="0"/>
              <a:t>15-10-2026</a:t>
            </a:fld>
            <a:endParaRPr lang="en-IN"/>
          </a:p>
        </p:txBody>
      </p:sp>
      <p:sp>
        <p:nvSpPr>
          <p:cNvPr id="5" name="Footer Placeholder 4">
            <a:extLst>
              <a:ext uri="{FF2B5EF4-FFF2-40B4-BE49-F238E27FC236}">
                <a16:creationId xmlns:a16="http://schemas.microsoft.com/office/drawing/2014/main" id="{6EA699C3-C2DF-7209-3D06-D3F75E97CF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DE55F89-5D68-40DE-B765-8EDD479F88EC}"/>
              </a:ext>
            </a:extLst>
          </p:cNvPr>
          <p:cNvSpPr>
            <a:spLocks noGrp="1"/>
          </p:cNvSpPr>
          <p:nvPr>
            <p:ph type="sldNum" sz="quarter" idx="12"/>
          </p:nvPr>
        </p:nvSpPr>
        <p:spPr/>
        <p:txBody>
          <a:bodyPr/>
          <a:lstStyle/>
          <a:p>
            <a:fld id="{BEFD9651-B6AF-4450-A8A7-1366AC7489F2}" type="slidenum">
              <a:rPr lang="en-IN" smtClean="0"/>
              <a:t>‹#›</a:t>
            </a:fld>
            <a:endParaRPr lang="en-IN"/>
          </a:p>
        </p:txBody>
      </p:sp>
    </p:spTree>
    <p:extLst>
      <p:ext uri="{BB962C8B-B14F-4D97-AF65-F5344CB8AC3E}">
        <p14:creationId xmlns:p14="http://schemas.microsoft.com/office/powerpoint/2010/main" val="36691563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7C7CC9C-79A4-67C3-C830-E210D43439C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341A846-E735-6C60-39F5-D95C6A5367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47F48AE-3875-7BCD-B855-4FFF5F745BB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86C934-FE8D-40F0-9D59-92D7B5A97E20}" type="datetimeFigureOut">
              <a:rPr lang="en-IN" smtClean="0"/>
              <a:t>15-10-2026</a:t>
            </a:fld>
            <a:endParaRPr lang="en-IN"/>
          </a:p>
        </p:txBody>
      </p:sp>
      <p:sp>
        <p:nvSpPr>
          <p:cNvPr id="5" name="Footer Placeholder 4">
            <a:extLst>
              <a:ext uri="{FF2B5EF4-FFF2-40B4-BE49-F238E27FC236}">
                <a16:creationId xmlns:a16="http://schemas.microsoft.com/office/drawing/2014/main" id="{CE000977-8D92-C821-DAD8-21E058D855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BE7D721-4478-C63F-C736-E7074990166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EFD9651-B6AF-4450-A8A7-1366AC7489F2}" type="slidenum">
              <a:rPr lang="en-IN" smtClean="0"/>
              <a:t>‹#›</a:t>
            </a:fld>
            <a:endParaRPr lang="en-IN"/>
          </a:p>
        </p:txBody>
      </p:sp>
    </p:spTree>
    <p:extLst>
      <p:ext uri="{BB962C8B-B14F-4D97-AF65-F5344CB8AC3E}">
        <p14:creationId xmlns:p14="http://schemas.microsoft.com/office/powerpoint/2010/main" val="36809359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3345137-F3F2-D73F-57E0-27D9D15379AF}"/>
              </a:ext>
            </a:extLst>
          </p:cNvPr>
          <p:cNvSpPr/>
          <p:nvPr/>
        </p:nvSpPr>
        <p:spPr>
          <a:xfrm>
            <a:off x="0" y="0"/>
            <a:ext cx="12192000" cy="3810000"/>
          </a:xfrm>
          <a:prstGeom prst="rect">
            <a:avLst/>
          </a:prstGeom>
          <a:solidFill>
            <a:srgbClr val="1F3A5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9FB67160-5A48-5FBB-EC7E-734771FDD6B5}"/>
              </a:ext>
            </a:extLst>
          </p:cNvPr>
          <p:cNvSpPr/>
          <p:nvPr/>
        </p:nvSpPr>
        <p:spPr>
          <a:xfrm>
            <a:off x="762000" y="3632200"/>
            <a:ext cx="1524000" cy="63500"/>
          </a:xfrm>
          <a:prstGeom prst="rect">
            <a:avLst/>
          </a:prstGeom>
          <a:solidFill>
            <a:srgbClr val="2DD4B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74291AAF-259F-10F0-A793-15556450B025}"/>
              </a:ext>
            </a:extLst>
          </p:cNvPr>
          <p:cNvSpPr txBox="1"/>
          <p:nvPr/>
        </p:nvSpPr>
        <p:spPr>
          <a:xfrm>
            <a:off x="762000" y="812800"/>
            <a:ext cx="10668000" cy="369332"/>
          </a:xfrm>
          <a:prstGeom prst="rect">
            <a:avLst/>
          </a:prstGeom>
          <a:noFill/>
        </p:spPr>
        <p:txBody>
          <a:bodyPr vert="horz" wrap="square" lIns="63500" tIns="38100" rIns="63500" bIns="38100" rtlCol="0" anchor="t">
            <a:noAutofit/>
          </a:bodyPr>
          <a:lstStyle/>
          <a:p>
            <a:r>
              <a:rPr lang="en-IN" sz="3800" b="1">
                <a:solidFill>
                  <a:srgbClr val="FFFFFF"/>
                </a:solidFill>
                <a:latin typeface="Calibri" panose="020F0502020204030204" pitchFamily="34" charset="0"/>
              </a:rPr>
              <a:t>DentaMind AI: AI-Assisted Dental X-ray Analysis System</a:t>
            </a:r>
          </a:p>
        </p:txBody>
      </p:sp>
      <p:sp>
        <p:nvSpPr>
          <p:cNvPr id="5" name="TextBox 4">
            <a:extLst>
              <a:ext uri="{FF2B5EF4-FFF2-40B4-BE49-F238E27FC236}">
                <a16:creationId xmlns:a16="http://schemas.microsoft.com/office/drawing/2014/main" id="{A5702FC3-977D-B366-4159-D014519D5CC6}"/>
              </a:ext>
            </a:extLst>
          </p:cNvPr>
          <p:cNvSpPr txBox="1"/>
          <p:nvPr/>
        </p:nvSpPr>
        <p:spPr>
          <a:xfrm>
            <a:off x="762000" y="2362200"/>
            <a:ext cx="10668000" cy="646331"/>
          </a:xfrm>
          <a:prstGeom prst="rect">
            <a:avLst/>
          </a:prstGeom>
          <a:noFill/>
        </p:spPr>
        <p:txBody>
          <a:bodyPr vert="horz" wrap="square" lIns="63500" tIns="38100" rIns="63500" bIns="38100" rtlCol="0" anchor="t">
            <a:noAutofit/>
          </a:bodyPr>
          <a:lstStyle/>
          <a:p>
            <a:r>
              <a:rPr lang="en-US">
                <a:solidFill>
                  <a:srgbClr val="CBD5E1"/>
                </a:solidFill>
                <a:latin typeface="Calibri" panose="020F0502020204030204" pitchFamily="34" charset="0"/>
              </a:rPr>
              <a:t>Tooth detection, FDI numbering, segmentation, finding classification and validated draft reports for panoramic radiographs, with human review</a:t>
            </a:r>
            <a:endParaRPr lang="en-IN">
              <a:solidFill>
                <a:srgbClr val="CBD5E1"/>
              </a:solidFill>
              <a:latin typeface="Calibri" panose="020F0502020204030204" pitchFamily="34" charset="0"/>
            </a:endParaRPr>
          </a:p>
        </p:txBody>
      </p:sp>
      <p:sp>
        <p:nvSpPr>
          <p:cNvPr id="6" name="TextBox 5">
            <a:extLst>
              <a:ext uri="{FF2B5EF4-FFF2-40B4-BE49-F238E27FC236}">
                <a16:creationId xmlns:a16="http://schemas.microsoft.com/office/drawing/2014/main" id="{0758B336-8478-0AFD-BC5B-EAE6DA0F724D}"/>
              </a:ext>
            </a:extLst>
          </p:cNvPr>
          <p:cNvSpPr txBox="1"/>
          <p:nvPr/>
        </p:nvSpPr>
        <p:spPr>
          <a:xfrm>
            <a:off x="762000" y="4064000"/>
            <a:ext cx="10668000" cy="1477328"/>
          </a:xfrm>
          <a:prstGeom prst="rect">
            <a:avLst/>
          </a:prstGeom>
          <a:noFill/>
        </p:spPr>
        <p:txBody>
          <a:bodyPr vert="horz" wrap="square" lIns="63500" tIns="38100" rIns="63500" bIns="38100" rtlCol="0" anchor="t">
            <a:noAutofit/>
          </a:bodyPr>
          <a:lstStyle/>
          <a:p>
            <a:pPr>
              <a:spcAft>
                <a:spcPts val="400"/>
              </a:spcAft>
            </a:pPr>
            <a:r>
              <a:rPr lang="en-IN" sz="1400">
                <a:solidFill>
                  <a:srgbClr val="1A1A1A"/>
                </a:solidFill>
                <a:latin typeface="Calibri" panose="020F0502020204030204" pitchFamily="34" charset="0"/>
              </a:rPr>
              <a:t>B.Tech Generative AI MDM Capstone Project · Department of Computer Science and Engineering (AI &amp; ML)</a:t>
            </a:r>
          </a:p>
          <a:p>
            <a:pPr>
              <a:spcAft>
                <a:spcPts val="400"/>
              </a:spcAft>
            </a:pPr>
            <a:r>
              <a:rPr lang="en-IN" sz="1400">
                <a:solidFill>
                  <a:srgbClr val="1A1A1A"/>
                </a:solidFill>
                <a:latin typeface="Calibri" panose="020F0502020204030204" pitchFamily="34" charset="0"/>
              </a:rPr>
              <a:t>Pimpri Chinchwad College of Engineering, Pune · 2026-27</a:t>
            </a:r>
          </a:p>
          <a:p>
            <a:pPr>
              <a:spcAft>
                <a:spcPts val="400"/>
              </a:spcAft>
            </a:pPr>
            <a:r>
              <a:rPr lang="en-IN" sz="1400">
                <a:solidFill>
                  <a:srgbClr val="1A1A1A"/>
                </a:solidFill>
                <a:latin typeface="Calibri" panose="020F0502020204030204" pitchFamily="34" charset="0"/>
              </a:rPr>
              <a:t>Group ID: ________   Students: ____________________ (PRN ________)</a:t>
            </a:r>
          </a:p>
          <a:p>
            <a:pPr>
              <a:spcAft>
                <a:spcPts val="400"/>
              </a:spcAft>
            </a:pPr>
            <a:r>
              <a:rPr lang="en-IN" sz="1400">
                <a:solidFill>
                  <a:srgbClr val="1A1A1A"/>
                </a:solidFill>
                <a:latin typeface="Calibri" panose="020F0502020204030204" pitchFamily="34" charset="0"/>
              </a:rPr>
              <a:t>Guide: Prof. ____________________</a:t>
            </a:r>
          </a:p>
          <a:p>
            <a:pPr>
              <a:spcAft>
                <a:spcPts val="400"/>
              </a:spcAft>
            </a:pPr>
            <a:r>
              <a:rPr lang="en-IN" sz="1400">
                <a:solidFill>
                  <a:srgbClr val="1A1A1A"/>
                </a:solidFill>
                <a:latin typeface="Calibri" panose="020F0502020204030204" pitchFamily="34" charset="0"/>
              </a:rPr>
              <a:t>Research prototype: not clinically validated, not for diagnosis</a:t>
            </a:r>
          </a:p>
        </p:txBody>
      </p:sp>
    </p:spTree>
    <p:extLst>
      <p:ext uri="{BB962C8B-B14F-4D97-AF65-F5344CB8AC3E}">
        <p14:creationId xmlns:p14="http://schemas.microsoft.com/office/powerpoint/2010/main" val="11278071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18421A7-6624-9E3E-4A28-4E1FBB5C74E4}"/>
              </a:ext>
            </a:extLst>
          </p:cNvPr>
          <p:cNvSpPr txBox="1"/>
          <p:nvPr/>
        </p:nvSpPr>
        <p:spPr>
          <a:xfrm>
            <a:off x="508000" y="279400"/>
            <a:ext cx="11176000" cy="369332"/>
          </a:xfrm>
          <a:prstGeom prst="rect">
            <a:avLst/>
          </a:prstGeom>
          <a:noFill/>
        </p:spPr>
        <p:txBody>
          <a:bodyPr vert="horz" wrap="square" lIns="63500" tIns="38100" rIns="63500" bIns="38100" rtlCol="0" anchor="ctr">
            <a:noAutofit/>
          </a:bodyPr>
          <a:lstStyle/>
          <a:p>
            <a:r>
              <a:rPr lang="en-IN" sz="2600" b="1">
                <a:solidFill>
                  <a:srgbClr val="1F3A5F"/>
                </a:solidFill>
                <a:latin typeface="Calibri" panose="020F0502020204030204" pitchFamily="34" charset="0"/>
              </a:rPr>
              <a:t>Introduction and motivation</a:t>
            </a:r>
          </a:p>
        </p:txBody>
      </p:sp>
      <p:sp>
        <p:nvSpPr>
          <p:cNvPr id="3" name="Rectangle 2">
            <a:extLst>
              <a:ext uri="{FF2B5EF4-FFF2-40B4-BE49-F238E27FC236}">
                <a16:creationId xmlns:a16="http://schemas.microsoft.com/office/drawing/2014/main" id="{52652CFC-DC48-262B-91D5-A1159E5D1B1C}"/>
              </a:ext>
            </a:extLst>
          </p:cNvPr>
          <p:cNvSpPr/>
          <p:nvPr/>
        </p:nvSpPr>
        <p:spPr>
          <a:xfrm>
            <a:off x="533400" y="939800"/>
            <a:ext cx="889000" cy="38100"/>
          </a:xfrm>
          <a:prstGeom prst="rect">
            <a:avLst/>
          </a:prstGeom>
          <a:solidFill>
            <a:srgbClr val="0F766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4A44ABB5-5BC9-65FD-8D87-7CE3A32C7457}"/>
              </a:ext>
            </a:extLst>
          </p:cNvPr>
          <p:cNvSpPr txBox="1"/>
          <p:nvPr/>
        </p:nvSpPr>
        <p:spPr>
          <a:xfrm>
            <a:off x="508000" y="6502400"/>
            <a:ext cx="8890000" cy="369332"/>
          </a:xfrm>
          <a:prstGeom prst="rect">
            <a:avLst/>
          </a:prstGeom>
          <a:noFill/>
        </p:spPr>
        <p:txBody>
          <a:bodyPr vert="horz" wrap="square" lIns="63500" tIns="38100" rIns="63500" bIns="38100" rtlCol="0" anchor="t">
            <a:noAutofit/>
          </a:bodyPr>
          <a:lstStyle/>
          <a:p>
            <a:r>
              <a:rPr lang="it-IT" sz="900">
                <a:solidFill>
                  <a:srgbClr val="55657A"/>
                </a:solidFill>
                <a:latin typeface="Calibri" panose="020F0502020204030204" pitchFamily="34" charset="0"/>
              </a:rPr>
              <a:t>DentaMind AI · B.Tech Capstone · PCCOE CSE (AI &amp; ML) 2026-27</a:t>
            </a:r>
            <a:endParaRPr lang="en-IN" sz="900">
              <a:solidFill>
                <a:srgbClr val="55657A"/>
              </a:solidFill>
              <a:latin typeface="Calibri" panose="020F0502020204030204" pitchFamily="34" charset="0"/>
            </a:endParaRPr>
          </a:p>
        </p:txBody>
      </p:sp>
      <p:sp>
        <p:nvSpPr>
          <p:cNvPr id="5" name="TextBox 4">
            <a:extLst>
              <a:ext uri="{FF2B5EF4-FFF2-40B4-BE49-F238E27FC236}">
                <a16:creationId xmlns:a16="http://schemas.microsoft.com/office/drawing/2014/main" id="{41753A85-E74D-E59F-E875-38872B78D033}"/>
              </a:ext>
            </a:extLst>
          </p:cNvPr>
          <p:cNvSpPr txBox="1"/>
          <p:nvPr/>
        </p:nvSpPr>
        <p:spPr>
          <a:xfrm>
            <a:off x="10414000" y="6502400"/>
            <a:ext cx="1270000" cy="369332"/>
          </a:xfrm>
          <a:prstGeom prst="rect">
            <a:avLst/>
          </a:prstGeom>
          <a:noFill/>
        </p:spPr>
        <p:txBody>
          <a:bodyPr vert="horz" wrap="square" lIns="63500" tIns="38100" rIns="63500" bIns="38100" rtlCol="0" anchor="t">
            <a:noAutofit/>
          </a:bodyPr>
          <a:lstStyle/>
          <a:p>
            <a:pPr algn="r"/>
            <a:r>
              <a:rPr lang="en-IN" sz="900">
                <a:solidFill>
                  <a:srgbClr val="55657A"/>
                </a:solidFill>
                <a:latin typeface="Calibri" panose="020F0502020204030204" pitchFamily="34" charset="0"/>
              </a:rPr>
              <a:t>2 / 22</a:t>
            </a:r>
          </a:p>
        </p:txBody>
      </p:sp>
      <p:pic>
        <p:nvPicPr>
          <p:cNvPr id="7" name="Picture 6">
            <a:extLst>
              <a:ext uri="{FF2B5EF4-FFF2-40B4-BE49-F238E27FC236}">
                <a16:creationId xmlns:a16="http://schemas.microsoft.com/office/drawing/2014/main" id="{F13E1488-E0B2-C209-E6C7-E9AA59C27F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18504" y="2568528"/>
            <a:ext cx="5340096" cy="2343245"/>
          </a:xfrm>
          <a:prstGeom prst="rect">
            <a:avLst/>
          </a:prstGeom>
          <a:ln w="9525">
            <a:solidFill>
              <a:srgbClr val="CBD5E1"/>
            </a:solidFill>
          </a:ln>
        </p:spPr>
      </p:pic>
      <p:sp>
        <p:nvSpPr>
          <p:cNvPr id="8" name="TextBox 7">
            <a:extLst>
              <a:ext uri="{FF2B5EF4-FFF2-40B4-BE49-F238E27FC236}">
                <a16:creationId xmlns:a16="http://schemas.microsoft.com/office/drawing/2014/main" id="{429716F2-10F0-2937-C35F-91C92BED2486}"/>
              </a:ext>
            </a:extLst>
          </p:cNvPr>
          <p:cNvSpPr txBox="1"/>
          <p:nvPr/>
        </p:nvSpPr>
        <p:spPr>
          <a:xfrm>
            <a:off x="6318504" y="4937173"/>
            <a:ext cx="5340096" cy="646331"/>
          </a:xfrm>
          <a:prstGeom prst="rect">
            <a:avLst/>
          </a:prstGeom>
          <a:noFill/>
        </p:spPr>
        <p:txBody>
          <a:bodyPr vert="horz" wrap="square" lIns="63500" tIns="38100" rIns="63500" bIns="38100" rtlCol="0" anchor="t">
            <a:noAutofit/>
          </a:bodyPr>
          <a:lstStyle/>
          <a:p>
            <a:pPr algn="ctr"/>
            <a:r>
              <a:rPr lang="en-IN" sz="900">
                <a:solidFill>
                  <a:srgbClr val="55657A"/>
                </a:solidFill>
                <a:latin typeface="Calibri" panose="020F0502020204030204" pitchFamily="34" charset="0"/>
              </a:rPr>
              <a:t>X-ray Analysis page: 27 regions on DENTEX test image val_0</a:t>
            </a:r>
          </a:p>
        </p:txBody>
      </p:sp>
      <p:sp>
        <p:nvSpPr>
          <p:cNvPr id="9" name="TextBox 8">
            <a:extLst>
              <a:ext uri="{FF2B5EF4-FFF2-40B4-BE49-F238E27FC236}">
                <a16:creationId xmlns:a16="http://schemas.microsoft.com/office/drawing/2014/main" id="{63E0A452-3475-ECD2-12C9-C9C013372EA1}"/>
              </a:ext>
            </a:extLst>
          </p:cNvPr>
          <p:cNvSpPr txBox="1"/>
          <p:nvPr/>
        </p:nvSpPr>
        <p:spPr>
          <a:xfrm>
            <a:off x="533400" y="1168400"/>
            <a:ext cx="5556504" cy="369332"/>
          </a:xfrm>
          <a:prstGeom prst="rect">
            <a:avLst/>
          </a:prstGeom>
          <a:noFill/>
        </p:spPr>
        <p:txBody>
          <a:bodyPr vert="horz" wrap="square" rtlCol="0" anchor="t">
            <a:noAutofit/>
          </a:bodyPr>
          <a:lstStyle/>
          <a:p>
            <a:pPr marL="508000" indent="-228600">
              <a:spcAft>
                <a:spcPts val="600"/>
              </a:spcAft>
              <a:buFont typeface="+mj-lt"/>
              <a:buChar char="•"/>
            </a:pPr>
            <a:r>
              <a:rPr lang="en-US" sz="1700">
                <a:solidFill>
                  <a:srgbClr val="1A1A1A"/>
                </a:solidFill>
                <a:latin typeface="Calibri" panose="020F0502020204030204" pitchFamily="34" charset="0"/>
              </a:rPr>
              <a:t>Panoramic radiographs (OPGs) show all teeth in one image and are used for screening and treatment planning</a:t>
            </a:r>
          </a:p>
          <a:p>
            <a:pPr marL="508000" indent="-228600">
              <a:spcAft>
                <a:spcPts val="600"/>
              </a:spcAft>
              <a:buFont typeface="+mj-lt"/>
              <a:buChar char="•"/>
            </a:pPr>
            <a:r>
              <a:rPr lang="en-US" sz="1700">
                <a:solidFill>
                  <a:srgbClr val="1A1A1A"/>
                </a:solidFill>
                <a:latin typeface="Calibri" panose="020F0502020204030204" pitchFamily="34" charset="0"/>
              </a:rPr>
              <a:t>Reading them is time-consuming, and subtle findings such as early caries or small periapical lesions are easy to miss</a:t>
            </a:r>
          </a:p>
          <a:p>
            <a:pPr marL="508000" indent="-228600">
              <a:spcAft>
                <a:spcPts val="600"/>
              </a:spcAft>
              <a:buFont typeface="+mj-lt"/>
              <a:buChar char="•"/>
            </a:pPr>
            <a:r>
              <a:rPr lang="en-US" sz="1700">
                <a:solidFill>
                  <a:srgbClr val="1A1A1A"/>
                </a:solidFill>
                <a:latin typeface="Calibri" panose="020F0502020204030204" pitchFamily="34" charset="0"/>
              </a:rPr>
              <a:t>Deep learning detects and numbers teeth well, but finding-level classification is harder and published systems rarely show their uncertainty</a:t>
            </a:r>
          </a:p>
          <a:p>
            <a:pPr marL="508000" indent="-228600">
              <a:spcAft>
                <a:spcPts val="600"/>
              </a:spcAft>
              <a:buFont typeface="+mj-lt"/>
              <a:buChar char="•"/>
            </a:pPr>
            <a:r>
              <a:rPr lang="en-US" sz="1700">
                <a:solidFill>
                  <a:srgbClr val="1A1A1A"/>
                </a:solidFill>
                <a:latin typeface="Calibri" panose="020F0502020204030204" pitchFamily="34" charset="0"/>
              </a:rPr>
              <a:t>Generative AI can turn structured model output into readable reports, but free text can state things the image does not support</a:t>
            </a:r>
          </a:p>
          <a:p>
            <a:pPr marL="508000" indent="-228600">
              <a:spcAft>
                <a:spcPts val="600"/>
              </a:spcAft>
              <a:buFont typeface="+mj-lt"/>
              <a:buChar char="•"/>
            </a:pPr>
            <a:r>
              <a:rPr lang="en-US" sz="1700" b="1">
                <a:solidFill>
                  <a:srgbClr val="1A1A1A"/>
                </a:solidFill>
                <a:latin typeface="Calibri" panose="020F0502020204030204" pitchFamily="34" charset="0"/>
              </a:rPr>
              <a:t>Goal of DentaMind AI:</a:t>
            </a:r>
            <a:r>
              <a:rPr lang="en-US" sz="1700">
                <a:solidFill>
                  <a:srgbClr val="1A1A1A"/>
                </a:solidFill>
                <a:latin typeface="Calibri" panose="020F0502020204030204" pitchFamily="34" charset="0"/>
              </a:rPr>
              <a:t> a transparent assistant that shows evidence, flags doubt, and leaves the decision to a person</a:t>
            </a:r>
            <a:endParaRPr lang="en-IN" sz="1700">
              <a:solidFill>
                <a:srgbClr val="1A1A1A"/>
              </a:solidFill>
              <a:latin typeface="Calibri" panose="020F0502020204030204" pitchFamily="34" charset="0"/>
            </a:endParaRPr>
          </a:p>
        </p:txBody>
      </p:sp>
    </p:spTree>
    <p:extLst>
      <p:ext uri="{BB962C8B-B14F-4D97-AF65-F5344CB8AC3E}">
        <p14:creationId xmlns:p14="http://schemas.microsoft.com/office/powerpoint/2010/main" val="7265798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87C8CA9-1A74-7227-817A-AC3BE7EF2D29}"/>
              </a:ext>
            </a:extLst>
          </p:cNvPr>
          <p:cNvSpPr txBox="1"/>
          <p:nvPr/>
        </p:nvSpPr>
        <p:spPr>
          <a:xfrm>
            <a:off x="508000" y="279400"/>
            <a:ext cx="11176000" cy="369332"/>
          </a:xfrm>
          <a:prstGeom prst="rect">
            <a:avLst/>
          </a:prstGeom>
          <a:noFill/>
        </p:spPr>
        <p:txBody>
          <a:bodyPr vert="horz" wrap="square" lIns="63500" tIns="38100" rIns="63500" bIns="38100" rtlCol="0" anchor="ctr">
            <a:noAutofit/>
          </a:bodyPr>
          <a:lstStyle/>
          <a:p>
            <a:r>
              <a:rPr lang="en-IN" sz="2600" b="1">
                <a:solidFill>
                  <a:srgbClr val="1F3A5F"/>
                </a:solidFill>
                <a:latin typeface="Calibri" panose="020F0502020204030204" pitchFamily="34" charset="0"/>
              </a:rPr>
              <a:t>Problem statement</a:t>
            </a:r>
          </a:p>
        </p:txBody>
      </p:sp>
      <p:sp>
        <p:nvSpPr>
          <p:cNvPr id="3" name="Rectangle 2">
            <a:extLst>
              <a:ext uri="{FF2B5EF4-FFF2-40B4-BE49-F238E27FC236}">
                <a16:creationId xmlns:a16="http://schemas.microsoft.com/office/drawing/2014/main" id="{C5070EC6-C4F3-BA4D-4F2A-27EE6323973C}"/>
              </a:ext>
            </a:extLst>
          </p:cNvPr>
          <p:cNvSpPr/>
          <p:nvPr/>
        </p:nvSpPr>
        <p:spPr>
          <a:xfrm>
            <a:off x="533400" y="939800"/>
            <a:ext cx="889000" cy="38100"/>
          </a:xfrm>
          <a:prstGeom prst="rect">
            <a:avLst/>
          </a:prstGeom>
          <a:solidFill>
            <a:srgbClr val="0F766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8D707655-BD7A-F97F-536D-B8E8869BE954}"/>
              </a:ext>
            </a:extLst>
          </p:cNvPr>
          <p:cNvSpPr txBox="1"/>
          <p:nvPr/>
        </p:nvSpPr>
        <p:spPr>
          <a:xfrm>
            <a:off x="508000" y="6502400"/>
            <a:ext cx="8890000" cy="369332"/>
          </a:xfrm>
          <a:prstGeom prst="rect">
            <a:avLst/>
          </a:prstGeom>
          <a:noFill/>
        </p:spPr>
        <p:txBody>
          <a:bodyPr vert="horz" wrap="square" lIns="63500" tIns="38100" rIns="63500" bIns="38100" rtlCol="0" anchor="t">
            <a:noAutofit/>
          </a:bodyPr>
          <a:lstStyle/>
          <a:p>
            <a:r>
              <a:rPr lang="it-IT" sz="900">
                <a:solidFill>
                  <a:srgbClr val="55657A"/>
                </a:solidFill>
                <a:latin typeface="Calibri" panose="020F0502020204030204" pitchFamily="34" charset="0"/>
              </a:rPr>
              <a:t>DentaMind AI · B.Tech Capstone · PCCOE CSE (AI &amp; ML) 2026-27</a:t>
            </a:r>
            <a:endParaRPr lang="en-IN" sz="900">
              <a:solidFill>
                <a:srgbClr val="55657A"/>
              </a:solidFill>
              <a:latin typeface="Calibri" panose="020F0502020204030204" pitchFamily="34" charset="0"/>
            </a:endParaRPr>
          </a:p>
        </p:txBody>
      </p:sp>
      <p:sp>
        <p:nvSpPr>
          <p:cNvPr id="5" name="TextBox 4">
            <a:extLst>
              <a:ext uri="{FF2B5EF4-FFF2-40B4-BE49-F238E27FC236}">
                <a16:creationId xmlns:a16="http://schemas.microsoft.com/office/drawing/2014/main" id="{A9D135E2-1A41-D298-AAC3-7E887B04FD6C}"/>
              </a:ext>
            </a:extLst>
          </p:cNvPr>
          <p:cNvSpPr txBox="1"/>
          <p:nvPr/>
        </p:nvSpPr>
        <p:spPr>
          <a:xfrm>
            <a:off x="10414000" y="6502400"/>
            <a:ext cx="1270000" cy="369332"/>
          </a:xfrm>
          <a:prstGeom prst="rect">
            <a:avLst/>
          </a:prstGeom>
          <a:noFill/>
        </p:spPr>
        <p:txBody>
          <a:bodyPr vert="horz" wrap="square" lIns="63500" tIns="38100" rIns="63500" bIns="38100" rtlCol="0" anchor="t">
            <a:noAutofit/>
          </a:bodyPr>
          <a:lstStyle/>
          <a:p>
            <a:pPr algn="r"/>
            <a:r>
              <a:rPr lang="en-IN" sz="900">
                <a:solidFill>
                  <a:srgbClr val="55657A"/>
                </a:solidFill>
                <a:latin typeface="Calibri" panose="020F0502020204030204" pitchFamily="34" charset="0"/>
              </a:rPr>
              <a:t>3 / 22</a:t>
            </a:r>
          </a:p>
        </p:txBody>
      </p:sp>
      <p:sp>
        <p:nvSpPr>
          <p:cNvPr id="6" name="TextBox 5">
            <a:extLst>
              <a:ext uri="{FF2B5EF4-FFF2-40B4-BE49-F238E27FC236}">
                <a16:creationId xmlns:a16="http://schemas.microsoft.com/office/drawing/2014/main" id="{950A4574-BDCD-061E-3508-1C3C25CE930D}"/>
              </a:ext>
            </a:extLst>
          </p:cNvPr>
          <p:cNvSpPr txBox="1"/>
          <p:nvPr/>
        </p:nvSpPr>
        <p:spPr>
          <a:xfrm>
            <a:off x="533400" y="1168400"/>
            <a:ext cx="11125200" cy="369332"/>
          </a:xfrm>
          <a:prstGeom prst="rect">
            <a:avLst/>
          </a:prstGeom>
          <a:noFill/>
        </p:spPr>
        <p:txBody>
          <a:bodyPr vert="horz" wrap="square" rtlCol="0" anchor="t">
            <a:noAutofit/>
          </a:bodyPr>
          <a:lstStyle/>
          <a:p>
            <a:pPr marL="508000" indent="-228600">
              <a:spcAft>
                <a:spcPts val="600"/>
              </a:spcAft>
              <a:buFont typeface="+mj-lt"/>
              <a:buChar char="•"/>
            </a:pPr>
            <a:r>
              <a:rPr lang="en-US" sz="2000">
                <a:solidFill>
                  <a:srgbClr val="1A1A1A"/>
                </a:solidFill>
                <a:latin typeface="Calibri" panose="020F0502020204030204" pitchFamily="34" charset="0"/>
              </a:rPr>
              <a:t>Build an end-to-end system that, given a panoramic radiograph, locates and numbers each tooth (FDI), outlines it, and suggests the closest of four findings: Caries, Deep Caries, Impacted, Periapical Lesion</a:t>
            </a:r>
          </a:p>
          <a:p>
            <a:pPr marL="508000" indent="-228600">
              <a:spcAft>
                <a:spcPts val="600"/>
              </a:spcAft>
              <a:buFont typeface="+mj-lt"/>
              <a:buChar char="•"/>
            </a:pPr>
            <a:r>
              <a:rPr lang="en-US" sz="2000">
                <a:solidFill>
                  <a:srgbClr val="1A1A1A"/>
                </a:solidFill>
                <a:latin typeface="Calibri" panose="020F0502020204030204" pitchFamily="34" charset="0"/>
              </a:rPr>
              <a:t>Generate a structured, multilingual (English, Hindi, Marathi) draft report that contains only statements supported by the model evidence</a:t>
            </a:r>
          </a:p>
          <a:p>
            <a:pPr marL="508000" indent="-228600">
              <a:spcAft>
                <a:spcPts val="600"/>
              </a:spcAft>
              <a:buFont typeface="+mj-lt"/>
              <a:buChar char="•"/>
            </a:pPr>
            <a:r>
              <a:rPr lang="en-US" sz="2000">
                <a:solidFill>
                  <a:srgbClr val="1A1A1A"/>
                </a:solidFill>
                <a:latin typeface="Calibri" panose="020F0502020204030204" pitchFamily="34" charset="0"/>
              </a:rPr>
              <a:t>Make uncertainty visible and route doubtful regions to a human reviewer</a:t>
            </a:r>
          </a:p>
          <a:p>
            <a:pPr marL="508000" indent="-228600">
              <a:spcAft>
                <a:spcPts val="600"/>
              </a:spcAft>
              <a:buFont typeface="+mj-lt"/>
              <a:buChar char="•"/>
            </a:pPr>
            <a:r>
              <a:rPr lang="en-US" sz="2000" b="1">
                <a:solidFill>
                  <a:srgbClr val="1A1A1A"/>
                </a:solidFill>
                <a:latin typeface="Calibri" panose="020F0502020204030204" pitchFamily="34" charset="0"/>
              </a:rPr>
              <a:t>Evaluate honestly:</a:t>
            </a:r>
            <a:r>
              <a:rPr lang="en-US" sz="2000">
                <a:solidFill>
                  <a:srgbClr val="1A1A1A"/>
                </a:solidFill>
                <a:latin typeface="Calibri" panose="020F0502020204030204" pitchFamily="34" charset="0"/>
              </a:rPr>
              <a:t> separate validation from test data, avoid data leakage, and never promote a model on test-set results</a:t>
            </a:r>
          </a:p>
          <a:p>
            <a:pPr marL="508000" indent="-228600">
              <a:spcAft>
                <a:spcPts val="600"/>
              </a:spcAft>
              <a:buFont typeface="+mj-lt"/>
              <a:buChar char="•"/>
            </a:pPr>
            <a:r>
              <a:rPr lang="en-US" sz="2000" b="1">
                <a:solidFill>
                  <a:srgbClr val="1A1A1A"/>
                </a:solidFill>
                <a:latin typeface="Calibri" panose="020F0502020204030204" pitchFamily="34" charset="0"/>
              </a:rPr>
              <a:t>Constraints:</a:t>
            </a:r>
            <a:r>
              <a:rPr lang="en-US" sz="2000">
                <a:solidFill>
                  <a:srgbClr val="1A1A1A"/>
                </a:solidFill>
                <a:latin typeface="Calibri" panose="020F0502020204030204" pitchFamily="34" charset="0"/>
              </a:rPr>
              <a:t> public DENTEX data only (no healthy-tooth labels, no patient IDs), one 4 GB laptop GPU, local deployment</a:t>
            </a:r>
            <a:endParaRPr lang="en-IN" sz="2000">
              <a:solidFill>
                <a:srgbClr val="1A1A1A"/>
              </a:solidFill>
              <a:latin typeface="Calibri" panose="020F0502020204030204" pitchFamily="34" charset="0"/>
            </a:endParaRPr>
          </a:p>
        </p:txBody>
      </p:sp>
    </p:spTree>
    <p:extLst>
      <p:ext uri="{BB962C8B-B14F-4D97-AF65-F5344CB8AC3E}">
        <p14:creationId xmlns:p14="http://schemas.microsoft.com/office/powerpoint/2010/main" val="24443527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7FE9152-D740-2439-130C-25D64551A428}"/>
              </a:ext>
            </a:extLst>
          </p:cNvPr>
          <p:cNvSpPr txBox="1"/>
          <p:nvPr/>
        </p:nvSpPr>
        <p:spPr>
          <a:xfrm>
            <a:off x="508000" y="279400"/>
            <a:ext cx="11176000" cy="369332"/>
          </a:xfrm>
          <a:prstGeom prst="rect">
            <a:avLst/>
          </a:prstGeom>
          <a:noFill/>
        </p:spPr>
        <p:txBody>
          <a:bodyPr vert="horz" wrap="square" lIns="63500" tIns="38100" rIns="63500" bIns="38100" rtlCol="0" anchor="ctr">
            <a:noAutofit/>
          </a:bodyPr>
          <a:lstStyle/>
          <a:p>
            <a:r>
              <a:rPr lang="en-IN" sz="2600" b="1">
                <a:solidFill>
                  <a:srgbClr val="1F3A5F"/>
                </a:solidFill>
                <a:latin typeface="Calibri" panose="020F0502020204030204" pitchFamily="34" charset="0"/>
              </a:rPr>
              <a:t>Objectives</a:t>
            </a:r>
          </a:p>
        </p:txBody>
      </p:sp>
      <p:sp>
        <p:nvSpPr>
          <p:cNvPr id="3" name="Rectangle 2">
            <a:extLst>
              <a:ext uri="{FF2B5EF4-FFF2-40B4-BE49-F238E27FC236}">
                <a16:creationId xmlns:a16="http://schemas.microsoft.com/office/drawing/2014/main" id="{DC16EE3B-324E-D3EA-6AD9-94AFA4B265E3}"/>
              </a:ext>
            </a:extLst>
          </p:cNvPr>
          <p:cNvSpPr/>
          <p:nvPr/>
        </p:nvSpPr>
        <p:spPr>
          <a:xfrm>
            <a:off x="533400" y="939800"/>
            <a:ext cx="889000" cy="38100"/>
          </a:xfrm>
          <a:prstGeom prst="rect">
            <a:avLst/>
          </a:prstGeom>
          <a:solidFill>
            <a:srgbClr val="0F766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3D8E9855-19F6-2F2E-A82C-717ADE6C4BCA}"/>
              </a:ext>
            </a:extLst>
          </p:cNvPr>
          <p:cNvSpPr txBox="1"/>
          <p:nvPr/>
        </p:nvSpPr>
        <p:spPr>
          <a:xfrm>
            <a:off x="508000" y="6502400"/>
            <a:ext cx="8890000" cy="369332"/>
          </a:xfrm>
          <a:prstGeom prst="rect">
            <a:avLst/>
          </a:prstGeom>
          <a:noFill/>
        </p:spPr>
        <p:txBody>
          <a:bodyPr vert="horz" wrap="square" lIns="63500" tIns="38100" rIns="63500" bIns="38100" rtlCol="0" anchor="t">
            <a:noAutofit/>
          </a:bodyPr>
          <a:lstStyle/>
          <a:p>
            <a:r>
              <a:rPr lang="it-IT" sz="900">
                <a:solidFill>
                  <a:srgbClr val="55657A"/>
                </a:solidFill>
                <a:latin typeface="Calibri" panose="020F0502020204030204" pitchFamily="34" charset="0"/>
              </a:rPr>
              <a:t>DentaMind AI · B.Tech Capstone · PCCOE CSE (AI &amp; ML) 2026-27</a:t>
            </a:r>
            <a:endParaRPr lang="en-IN" sz="900">
              <a:solidFill>
                <a:srgbClr val="55657A"/>
              </a:solidFill>
              <a:latin typeface="Calibri" panose="020F0502020204030204" pitchFamily="34" charset="0"/>
            </a:endParaRPr>
          </a:p>
        </p:txBody>
      </p:sp>
      <p:sp>
        <p:nvSpPr>
          <p:cNvPr id="5" name="TextBox 4">
            <a:extLst>
              <a:ext uri="{FF2B5EF4-FFF2-40B4-BE49-F238E27FC236}">
                <a16:creationId xmlns:a16="http://schemas.microsoft.com/office/drawing/2014/main" id="{C39106A1-6B2B-C0F8-7B2D-1BC8382F3679}"/>
              </a:ext>
            </a:extLst>
          </p:cNvPr>
          <p:cNvSpPr txBox="1"/>
          <p:nvPr/>
        </p:nvSpPr>
        <p:spPr>
          <a:xfrm>
            <a:off x="10414000" y="6502400"/>
            <a:ext cx="1270000" cy="369332"/>
          </a:xfrm>
          <a:prstGeom prst="rect">
            <a:avLst/>
          </a:prstGeom>
          <a:noFill/>
        </p:spPr>
        <p:txBody>
          <a:bodyPr vert="horz" wrap="square" lIns="63500" tIns="38100" rIns="63500" bIns="38100" rtlCol="0" anchor="t">
            <a:noAutofit/>
          </a:bodyPr>
          <a:lstStyle/>
          <a:p>
            <a:pPr algn="r"/>
            <a:r>
              <a:rPr lang="en-IN" sz="900">
                <a:solidFill>
                  <a:srgbClr val="55657A"/>
                </a:solidFill>
                <a:latin typeface="Calibri" panose="020F0502020204030204" pitchFamily="34" charset="0"/>
              </a:rPr>
              <a:t>4 / 22</a:t>
            </a:r>
          </a:p>
        </p:txBody>
      </p:sp>
      <p:sp>
        <p:nvSpPr>
          <p:cNvPr id="6" name="TextBox 5">
            <a:extLst>
              <a:ext uri="{FF2B5EF4-FFF2-40B4-BE49-F238E27FC236}">
                <a16:creationId xmlns:a16="http://schemas.microsoft.com/office/drawing/2014/main" id="{D5ACE61C-7BBF-8667-A2ED-1B53275EC84E}"/>
              </a:ext>
            </a:extLst>
          </p:cNvPr>
          <p:cNvSpPr txBox="1"/>
          <p:nvPr/>
        </p:nvSpPr>
        <p:spPr>
          <a:xfrm>
            <a:off x="533400" y="1168400"/>
            <a:ext cx="11125200" cy="369332"/>
          </a:xfrm>
          <a:prstGeom prst="rect">
            <a:avLst/>
          </a:prstGeom>
          <a:noFill/>
        </p:spPr>
        <p:txBody>
          <a:bodyPr vert="horz" wrap="square" rtlCol="0" anchor="t">
            <a:noAutofit/>
          </a:bodyPr>
          <a:lstStyle/>
          <a:p>
            <a:pPr marL="508000" indent="-228600">
              <a:spcAft>
                <a:spcPts val="600"/>
              </a:spcAft>
              <a:buFont typeface="+mj-lt"/>
              <a:buChar char="•"/>
            </a:pPr>
            <a:r>
              <a:rPr lang="en-US" sz="2000" b="1">
                <a:solidFill>
                  <a:srgbClr val="1A1A1A"/>
                </a:solidFill>
                <a:latin typeface="Calibri" panose="020F0502020204030204" pitchFamily="34" charset="0"/>
              </a:rPr>
              <a:t>O1:</a:t>
            </a:r>
            <a:r>
              <a:rPr lang="en-US" sz="2000">
                <a:solidFill>
                  <a:srgbClr val="1A1A1A"/>
                </a:solidFill>
                <a:latin typeface="Calibri" panose="020F0502020204030204" pitchFamily="34" charset="0"/>
              </a:rPr>
              <a:t> Audit and de-duplicate the DENTEX data and build leakage-free train / validation / calibration / test splits</a:t>
            </a:r>
          </a:p>
          <a:p>
            <a:pPr marL="508000" indent="-228600">
              <a:spcAft>
                <a:spcPts val="600"/>
              </a:spcAft>
              <a:buFont typeface="+mj-lt"/>
              <a:buChar char="•"/>
            </a:pPr>
            <a:r>
              <a:rPr lang="en-US" sz="2000" b="1">
                <a:solidFill>
                  <a:srgbClr val="1A1A1A"/>
                </a:solidFill>
                <a:latin typeface="Calibri" panose="020F0502020204030204" pitchFamily="34" charset="0"/>
              </a:rPr>
              <a:t>O2:</a:t>
            </a:r>
            <a:r>
              <a:rPr lang="en-US" sz="2000">
                <a:solidFill>
                  <a:srgbClr val="1A1A1A"/>
                </a:solidFill>
                <a:latin typeface="Calibri" panose="020F0502020204030204" pitchFamily="34" charset="0"/>
              </a:rPr>
              <a:t> Train tooth detection, FDI numbering, instance segmentation and finding classification models</a:t>
            </a:r>
          </a:p>
          <a:p>
            <a:pPr marL="508000" indent="-228600">
              <a:spcAft>
                <a:spcPts val="600"/>
              </a:spcAft>
              <a:buFont typeface="+mj-lt"/>
              <a:buChar char="•"/>
            </a:pPr>
            <a:r>
              <a:rPr lang="en-US" sz="2000" b="1">
                <a:solidFill>
                  <a:srgbClr val="1A1A1A"/>
                </a:solidFill>
                <a:latin typeface="Calibri" panose="020F0502020204030204" pitchFamily="34" charset="0"/>
              </a:rPr>
              <a:t>O3:</a:t>
            </a:r>
            <a:r>
              <a:rPr lang="en-US" sz="2000">
                <a:solidFill>
                  <a:srgbClr val="1A1A1A"/>
                </a:solidFill>
                <a:latin typeface="Calibri" panose="020F0502020204030204" pitchFamily="34" charset="0"/>
              </a:rPr>
              <a:t> Combine them in one inference pipeline with flip-TTA uncertainty, review flags and abstention</a:t>
            </a:r>
          </a:p>
          <a:p>
            <a:pPr marL="508000" indent="-228600">
              <a:spcAft>
                <a:spcPts val="600"/>
              </a:spcAft>
              <a:buFont typeface="+mj-lt"/>
              <a:buChar char="•"/>
            </a:pPr>
            <a:r>
              <a:rPr lang="en-US" sz="2000" b="1">
                <a:solidFill>
                  <a:srgbClr val="1A1A1A"/>
                </a:solidFill>
                <a:latin typeface="Calibri" panose="020F0502020204030204" pitchFamily="34" charset="0"/>
              </a:rPr>
              <a:t>O4:</a:t>
            </a:r>
            <a:r>
              <a:rPr lang="en-US" sz="2000">
                <a:solidFill>
                  <a:srgbClr val="1A1A1A"/>
                </a:solidFill>
                <a:latin typeface="Calibri" panose="020F0502020204030204" pitchFamily="34" charset="0"/>
              </a:rPr>
              <a:t> Generate evidence-grounded draft reports in three languages with an automatic output validator</a:t>
            </a:r>
          </a:p>
          <a:p>
            <a:pPr marL="508000" indent="-228600">
              <a:spcAft>
                <a:spcPts val="600"/>
              </a:spcAft>
              <a:buFont typeface="+mj-lt"/>
              <a:buChar char="•"/>
            </a:pPr>
            <a:r>
              <a:rPr lang="en-US" sz="2000" b="1">
                <a:solidFill>
                  <a:srgbClr val="1A1A1A"/>
                </a:solidFill>
                <a:latin typeface="Calibri" panose="020F0502020204030204" pitchFamily="34" charset="0"/>
              </a:rPr>
              <a:t>O5:</a:t>
            </a:r>
            <a:r>
              <a:rPr lang="en-US" sz="2000">
                <a:solidFill>
                  <a:srgbClr val="1A1A1A"/>
                </a:solidFill>
                <a:latin typeface="Calibri" panose="020F0502020204030204" pitchFamily="34" charset="0"/>
              </a:rPr>
              <a:t> Provide a web interface for analysis, reports and human review, with an auditable review trail</a:t>
            </a:r>
          </a:p>
          <a:p>
            <a:pPr marL="508000" indent="-228600">
              <a:spcAft>
                <a:spcPts val="600"/>
              </a:spcAft>
              <a:buFont typeface="+mj-lt"/>
              <a:buChar char="•"/>
            </a:pPr>
            <a:r>
              <a:rPr lang="en-US" sz="2000" b="1">
                <a:solidFill>
                  <a:srgbClr val="1A1A1A"/>
                </a:solidFill>
                <a:latin typeface="Calibri" panose="020F0502020204030204" pitchFamily="34" charset="0"/>
              </a:rPr>
              <a:t>O6:</a:t>
            </a:r>
            <a:r>
              <a:rPr lang="en-US" sz="2000">
                <a:solidFill>
                  <a:srgbClr val="1A1A1A"/>
                </a:solidFill>
                <a:latin typeface="Calibri" panose="020F0502020204030204" pitchFamily="34" charset="0"/>
              </a:rPr>
              <a:t> Evaluate with precision, recall, F1, AP, Dice and calibration; test class-imbalance remedies under a pre-registered rule</a:t>
            </a:r>
            <a:endParaRPr lang="en-IN" sz="2000">
              <a:solidFill>
                <a:srgbClr val="1A1A1A"/>
              </a:solidFill>
              <a:latin typeface="Calibri" panose="020F0502020204030204" pitchFamily="34" charset="0"/>
            </a:endParaRPr>
          </a:p>
        </p:txBody>
      </p:sp>
    </p:spTree>
    <p:extLst>
      <p:ext uri="{BB962C8B-B14F-4D97-AF65-F5344CB8AC3E}">
        <p14:creationId xmlns:p14="http://schemas.microsoft.com/office/powerpoint/2010/main" val="22427129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F91C6C-C146-63DA-1D00-CD477A8B922E}"/>
              </a:ext>
            </a:extLst>
          </p:cNvPr>
          <p:cNvSpPr txBox="1"/>
          <p:nvPr/>
        </p:nvSpPr>
        <p:spPr>
          <a:xfrm>
            <a:off x="508000" y="279400"/>
            <a:ext cx="11176000" cy="369332"/>
          </a:xfrm>
          <a:prstGeom prst="rect">
            <a:avLst/>
          </a:prstGeom>
          <a:noFill/>
        </p:spPr>
        <p:txBody>
          <a:bodyPr vert="horz" wrap="square" lIns="63500" tIns="38100" rIns="63500" bIns="38100" rtlCol="0" anchor="ctr">
            <a:noAutofit/>
          </a:bodyPr>
          <a:lstStyle/>
          <a:p>
            <a:r>
              <a:rPr lang="en-IN" sz="2600" b="1">
                <a:solidFill>
                  <a:srgbClr val="1F3A5F"/>
                </a:solidFill>
                <a:latin typeface="Calibri" panose="020F0502020204030204" pitchFamily="34" charset="0"/>
              </a:rPr>
              <a:t>Literature review</a:t>
            </a:r>
          </a:p>
        </p:txBody>
      </p:sp>
      <p:sp>
        <p:nvSpPr>
          <p:cNvPr id="3" name="Rectangle 2">
            <a:extLst>
              <a:ext uri="{FF2B5EF4-FFF2-40B4-BE49-F238E27FC236}">
                <a16:creationId xmlns:a16="http://schemas.microsoft.com/office/drawing/2014/main" id="{17E0FA08-57A7-C062-A42B-4C7E28104FBE}"/>
              </a:ext>
            </a:extLst>
          </p:cNvPr>
          <p:cNvSpPr/>
          <p:nvPr/>
        </p:nvSpPr>
        <p:spPr>
          <a:xfrm>
            <a:off x="533400" y="939800"/>
            <a:ext cx="889000" cy="38100"/>
          </a:xfrm>
          <a:prstGeom prst="rect">
            <a:avLst/>
          </a:prstGeom>
          <a:solidFill>
            <a:srgbClr val="0F766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9855BD7D-C169-FA3B-AF85-36F7B005885A}"/>
              </a:ext>
            </a:extLst>
          </p:cNvPr>
          <p:cNvSpPr txBox="1"/>
          <p:nvPr/>
        </p:nvSpPr>
        <p:spPr>
          <a:xfrm>
            <a:off x="508000" y="6502400"/>
            <a:ext cx="8890000" cy="369332"/>
          </a:xfrm>
          <a:prstGeom prst="rect">
            <a:avLst/>
          </a:prstGeom>
          <a:noFill/>
        </p:spPr>
        <p:txBody>
          <a:bodyPr vert="horz" wrap="square" lIns="63500" tIns="38100" rIns="63500" bIns="38100" rtlCol="0" anchor="t">
            <a:noAutofit/>
          </a:bodyPr>
          <a:lstStyle/>
          <a:p>
            <a:r>
              <a:rPr lang="it-IT" sz="900">
                <a:solidFill>
                  <a:srgbClr val="55657A"/>
                </a:solidFill>
                <a:latin typeface="Calibri" panose="020F0502020204030204" pitchFamily="34" charset="0"/>
              </a:rPr>
              <a:t>DentaMind AI · B.Tech Capstone · PCCOE CSE (AI &amp; ML) 2026-27</a:t>
            </a:r>
            <a:endParaRPr lang="en-IN" sz="900">
              <a:solidFill>
                <a:srgbClr val="55657A"/>
              </a:solidFill>
              <a:latin typeface="Calibri" panose="020F0502020204030204" pitchFamily="34" charset="0"/>
            </a:endParaRPr>
          </a:p>
        </p:txBody>
      </p:sp>
      <p:sp>
        <p:nvSpPr>
          <p:cNvPr id="5" name="TextBox 4">
            <a:extLst>
              <a:ext uri="{FF2B5EF4-FFF2-40B4-BE49-F238E27FC236}">
                <a16:creationId xmlns:a16="http://schemas.microsoft.com/office/drawing/2014/main" id="{D0692B80-EF53-B51E-FEB4-E0B73231718E}"/>
              </a:ext>
            </a:extLst>
          </p:cNvPr>
          <p:cNvSpPr txBox="1"/>
          <p:nvPr/>
        </p:nvSpPr>
        <p:spPr>
          <a:xfrm>
            <a:off x="10414000" y="6502400"/>
            <a:ext cx="1270000" cy="369332"/>
          </a:xfrm>
          <a:prstGeom prst="rect">
            <a:avLst/>
          </a:prstGeom>
          <a:noFill/>
        </p:spPr>
        <p:txBody>
          <a:bodyPr vert="horz" wrap="square" lIns="63500" tIns="38100" rIns="63500" bIns="38100" rtlCol="0" anchor="t">
            <a:noAutofit/>
          </a:bodyPr>
          <a:lstStyle/>
          <a:p>
            <a:pPr algn="r"/>
            <a:r>
              <a:rPr lang="en-IN" sz="900">
                <a:solidFill>
                  <a:srgbClr val="55657A"/>
                </a:solidFill>
                <a:latin typeface="Calibri" panose="020F0502020204030204" pitchFamily="34" charset="0"/>
              </a:rPr>
              <a:t>5 / 22</a:t>
            </a:r>
          </a:p>
        </p:txBody>
      </p:sp>
      <p:graphicFrame>
        <p:nvGraphicFramePr>
          <p:cNvPr id="6" name="Table 5">
            <a:extLst>
              <a:ext uri="{FF2B5EF4-FFF2-40B4-BE49-F238E27FC236}">
                <a16:creationId xmlns:a16="http://schemas.microsoft.com/office/drawing/2014/main" id="{45610761-D647-86D0-435A-4D7FFA84603F}"/>
              </a:ext>
            </a:extLst>
          </p:cNvPr>
          <p:cNvGraphicFramePr>
            <a:graphicFrameLocks noGrp="1"/>
          </p:cNvGraphicFramePr>
          <p:nvPr>
            <p:extLst>
              <p:ext uri="{D42A27DB-BD31-4B8C-83A1-F6EECF244321}">
                <p14:modId xmlns:p14="http://schemas.microsoft.com/office/powerpoint/2010/main" val="3419492161"/>
              </p:ext>
            </p:extLst>
          </p:nvPr>
        </p:nvGraphicFramePr>
        <p:xfrm>
          <a:off x="533400" y="1168400"/>
          <a:ext cx="11125200" cy="3048000"/>
        </p:xfrm>
        <a:graphic>
          <a:graphicData uri="http://schemas.openxmlformats.org/drawingml/2006/table">
            <a:tbl>
              <a:tblPr firstRow="1" bandRow="1">
                <a:tableStyleId>{5C22544A-7EE6-4342-B048-85BDC9FD1C3A}</a:tableStyleId>
              </a:tblPr>
              <a:tblGrid>
                <a:gridCol w="2447544">
                  <a:extLst>
                    <a:ext uri="{9D8B030D-6E8A-4147-A177-3AD203B41FA5}">
                      <a16:colId xmlns:a16="http://schemas.microsoft.com/office/drawing/2014/main" val="281511617"/>
                    </a:ext>
                  </a:extLst>
                </a:gridCol>
                <a:gridCol w="2225040">
                  <a:extLst>
                    <a:ext uri="{9D8B030D-6E8A-4147-A177-3AD203B41FA5}">
                      <a16:colId xmlns:a16="http://schemas.microsoft.com/office/drawing/2014/main" val="4267360325"/>
                    </a:ext>
                  </a:extLst>
                </a:gridCol>
                <a:gridCol w="2892552">
                  <a:extLst>
                    <a:ext uri="{9D8B030D-6E8A-4147-A177-3AD203B41FA5}">
                      <a16:colId xmlns:a16="http://schemas.microsoft.com/office/drawing/2014/main" val="1713503273"/>
                    </a:ext>
                  </a:extLst>
                </a:gridCol>
                <a:gridCol w="3560064">
                  <a:extLst>
                    <a:ext uri="{9D8B030D-6E8A-4147-A177-3AD203B41FA5}">
                      <a16:colId xmlns:a16="http://schemas.microsoft.com/office/drawing/2014/main" val="3212398050"/>
                    </a:ext>
                  </a:extLst>
                </a:gridCol>
              </a:tblGrid>
              <a:tr h="381000">
                <a:tc>
                  <a:txBody>
                    <a:bodyPr/>
                    <a:lstStyle/>
                    <a:p>
                      <a:r>
                        <a:rPr lang="en-IN" sz="1300" b="1">
                          <a:solidFill>
                            <a:srgbClr val="FFFFFF"/>
                          </a:solidFill>
                          <a:latin typeface="Calibri" panose="020F0502020204030204" pitchFamily="34" charset="0"/>
                        </a:rPr>
                        <a:t>Work</a:t>
                      </a:r>
                    </a:p>
                  </a:txBody>
                  <a:tcPr marL="76200" marR="76200" marT="38100" marB="38100">
                    <a:solidFill>
                      <a:srgbClr val="1F3A5F"/>
                    </a:solidFill>
                  </a:tcPr>
                </a:tc>
                <a:tc>
                  <a:txBody>
                    <a:bodyPr/>
                    <a:lstStyle/>
                    <a:p>
                      <a:r>
                        <a:rPr lang="en-IN" sz="1300" b="1">
                          <a:solidFill>
                            <a:srgbClr val="FFFFFF"/>
                          </a:solidFill>
                          <a:latin typeface="Calibri" panose="020F0502020204030204" pitchFamily="34" charset="0"/>
                        </a:rPr>
                        <a:t>Task</a:t>
                      </a:r>
                    </a:p>
                  </a:txBody>
                  <a:tcPr marL="76200" marR="76200" marT="38100" marB="38100">
                    <a:solidFill>
                      <a:srgbClr val="1F3A5F"/>
                    </a:solidFill>
                  </a:tcPr>
                </a:tc>
                <a:tc>
                  <a:txBody>
                    <a:bodyPr/>
                    <a:lstStyle/>
                    <a:p>
                      <a:r>
                        <a:rPr lang="en-IN" sz="1300" b="1">
                          <a:solidFill>
                            <a:srgbClr val="FFFFFF"/>
                          </a:solidFill>
                          <a:latin typeface="Calibri" panose="020F0502020204030204" pitchFamily="34" charset="0"/>
                        </a:rPr>
                        <a:t>Approach</a:t>
                      </a:r>
                    </a:p>
                  </a:txBody>
                  <a:tcPr marL="76200" marR="76200" marT="38100" marB="38100">
                    <a:solidFill>
                      <a:srgbClr val="1F3A5F"/>
                    </a:solidFill>
                  </a:tcPr>
                </a:tc>
                <a:tc>
                  <a:txBody>
                    <a:bodyPr/>
                    <a:lstStyle/>
                    <a:p>
                      <a:r>
                        <a:rPr lang="en-IN" sz="1300" b="1">
                          <a:solidFill>
                            <a:srgbClr val="FFFFFF"/>
                          </a:solidFill>
                          <a:latin typeface="Calibri" panose="020F0502020204030204" pitchFamily="34" charset="0"/>
                        </a:rPr>
                        <a:t>Gap relevant to us</a:t>
                      </a:r>
                    </a:p>
                  </a:txBody>
                  <a:tcPr marL="76200" marR="76200" marT="38100" marB="38100">
                    <a:solidFill>
                      <a:srgbClr val="1F3A5F"/>
                    </a:solidFill>
                  </a:tcPr>
                </a:tc>
                <a:extLst>
                  <a:ext uri="{0D108BD9-81ED-4DB2-BD59-A6C34878D82A}">
                    <a16:rowId xmlns:a16="http://schemas.microsoft.com/office/drawing/2014/main" val="1413480715"/>
                  </a:ext>
                </a:extLst>
              </a:tr>
              <a:tr h="381000">
                <a:tc>
                  <a:txBody>
                    <a:bodyPr/>
                    <a:lstStyle/>
                    <a:p>
                      <a:r>
                        <a:rPr lang="da-DK" sz="1300" b="1">
                          <a:solidFill>
                            <a:srgbClr val="1A1A1A"/>
                          </a:solidFill>
                          <a:latin typeface="Calibri" panose="020F0502020204030204" pitchFamily="34" charset="0"/>
                        </a:rPr>
                        <a:t>Lee et al., 2018 [14]</a:t>
                      </a:r>
                      <a:endParaRPr lang="en-IN" sz="1300" b="1">
                        <a:solidFill>
                          <a:srgbClr val="1A1A1A"/>
                        </a:solidFill>
                        <a:latin typeface="Calibri" panose="020F0502020204030204" pitchFamily="34" charset="0"/>
                      </a:endParaRPr>
                    </a:p>
                  </a:txBody>
                  <a:tcPr marL="76200" marR="76200" marT="38100" marB="38100">
                    <a:solidFill>
                      <a:srgbClr val="FFFFFF"/>
                    </a:solidFill>
                  </a:tcPr>
                </a:tc>
                <a:tc>
                  <a:txBody>
                    <a:bodyPr/>
                    <a:lstStyle/>
                    <a:p>
                      <a:r>
                        <a:rPr lang="en-IN" sz="1300" b="0">
                          <a:solidFill>
                            <a:srgbClr val="1A1A1A"/>
                          </a:solidFill>
                          <a:latin typeface="Calibri" panose="020F0502020204030204" pitchFamily="34" charset="0"/>
                        </a:rPr>
                        <a:t>Caries, periapical films</a:t>
                      </a:r>
                    </a:p>
                  </a:txBody>
                  <a:tcPr marL="76200" marR="76200" marT="38100" marB="38100">
                    <a:solidFill>
                      <a:srgbClr val="FFFFFF"/>
                    </a:solidFill>
                  </a:tcPr>
                </a:tc>
                <a:tc>
                  <a:txBody>
                    <a:bodyPr/>
                    <a:lstStyle/>
                    <a:p>
                      <a:r>
                        <a:rPr lang="en-IN" sz="1300" b="0">
                          <a:solidFill>
                            <a:srgbClr val="1A1A1A"/>
                          </a:solidFill>
                          <a:latin typeface="Calibri" panose="020F0502020204030204" pitchFamily="34" charset="0"/>
                        </a:rPr>
                        <a:t>GoogLeNet Inception v3 CNN</a:t>
                      </a:r>
                    </a:p>
                  </a:txBody>
                  <a:tcPr marL="76200" marR="76200" marT="38100" marB="38100">
                    <a:solidFill>
                      <a:srgbClr val="FFFFFF"/>
                    </a:solidFill>
                  </a:tcPr>
                </a:tc>
                <a:tc>
                  <a:txBody>
                    <a:bodyPr/>
                    <a:lstStyle/>
                    <a:p>
                      <a:r>
                        <a:rPr lang="en-US" sz="1300" b="0">
                          <a:solidFill>
                            <a:srgbClr val="1A1A1A"/>
                          </a:solidFill>
                          <a:latin typeface="Calibri" panose="020F0502020204030204" pitchFamily="34" charset="0"/>
                        </a:rPr>
                        <a:t>Single task; no tooth numbering or report</a:t>
                      </a:r>
                      <a:endParaRPr lang="en-IN" sz="1300" b="0">
                        <a:solidFill>
                          <a:srgbClr val="1A1A1A"/>
                        </a:solidFill>
                        <a:latin typeface="Calibri" panose="020F0502020204030204" pitchFamily="34" charset="0"/>
                      </a:endParaRPr>
                    </a:p>
                  </a:txBody>
                  <a:tcPr marL="76200" marR="76200" marT="38100" marB="38100">
                    <a:solidFill>
                      <a:srgbClr val="FFFFFF"/>
                    </a:solidFill>
                  </a:tcPr>
                </a:tc>
                <a:extLst>
                  <a:ext uri="{0D108BD9-81ED-4DB2-BD59-A6C34878D82A}">
                    <a16:rowId xmlns:a16="http://schemas.microsoft.com/office/drawing/2014/main" val="2042509968"/>
                  </a:ext>
                </a:extLst>
              </a:tr>
              <a:tr h="381000">
                <a:tc>
                  <a:txBody>
                    <a:bodyPr/>
                    <a:lstStyle/>
                    <a:p>
                      <a:r>
                        <a:rPr lang="da-DK" sz="1300" b="1">
                          <a:solidFill>
                            <a:srgbClr val="1A1A1A"/>
                          </a:solidFill>
                          <a:latin typeface="Calibri" panose="020F0502020204030204" pitchFamily="34" charset="0"/>
                        </a:rPr>
                        <a:t>Tuzoff et al., 2019 [15]</a:t>
                      </a:r>
                      <a:endParaRPr lang="en-IN" sz="1300" b="1">
                        <a:solidFill>
                          <a:srgbClr val="1A1A1A"/>
                        </a:solidFill>
                        <a:latin typeface="Calibri" panose="020F0502020204030204" pitchFamily="34" charset="0"/>
                      </a:endParaRPr>
                    </a:p>
                  </a:txBody>
                  <a:tcPr marL="76200" marR="76200" marT="38100" marB="38100">
                    <a:solidFill>
                      <a:srgbClr val="F1F5F9"/>
                    </a:solidFill>
                  </a:tcPr>
                </a:tc>
                <a:tc>
                  <a:txBody>
                    <a:bodyPr/>
                    <a:lstStyle/>
                    <a:p>
                      <a:r>
                        <a:rPr lang="en-IN" sz="1300" b="0">
                          <a:solidFill>
                            <a:srgbClr val="1A1A1A"/>
                          </a:solidFill>
                          <a:latin typeface="Calibri" panose="020F0502020204030204" pitchFamily="34" charset="0"/>
                        </a:rPr>
                        <a:t>Tooth detection + numbering</a:t>
                      </a:r>
                    </a:p>
                  </a:txBody>
                  <a:tcPr marL="76200" marR="76200" marT="38100" marB="38100">
                    <a:solidFill>
                      <a:srgbClr val="F1F5F9"/>
                    </a:solidFill>
                  </a:tcPr>
                </a:tc>
                <a:tc>
                  <a:txBody>
                    <a:bodyPr/>
                    <a:lstStyle/>
                    <a:p>
                      <a:r>
                        <a:rPr lang="en-IN" sz="1300" b="0">
                          <a:solidFill>
                            <a:srgbClr val="1A1A1A"/>
                          </a:solidFill>
                          <a:latin typeface="Calibri" panose="020F0502020204030204" pitchFamily="34" charset="0"/>
                        </a:rPr>
                        <a:t>Faster R-CNN + CNN classifier</a:t>
                      </a:r>
                    </a:p>
                  </a:txBody>
                  <a:tcPr marL="76200" marR="76200" marT="38100" marB="38100">
                    <a:solidFill>
                      <a:srgbClr val="F1F5F9"/>
                    </a:solidFill>
                  </a:tcPr>
                </a:tc>
                <a:tc>
                  <a:txBody>
                    <a:bodyPr/>
                    <a:lstStyle/>
                    <a:p>
                      <a:r>
                        <a:rPr lang="en-IN" sz="1300" b="0">
                          <a:solidFill>
                            <a:srgbClr val="1A1A1A"/>
                          </a:solidFill>
                          <a:latin typeface="Calibri" panose="020F0502020204030204" pitchFamily="34" charset="0"/>
                        </a:rPr>
                        <a:t>No pathology</a:t>
                      </a:r>
                    </a:p>
                  </a:txBody>
                  <a:tcPr marL="76200" marR="76200" marT="38100" marB="38100">
                    <a:solidFill>
                      <a:srgbClr val="F1F5F9"/>
                    </a:solidFill>
                  </a:tcPr>
                </a:tc>
                <a:extLst>
                  <a:ext uri="{0D108BD9-81ED-4DB2-BD59-A6C34878D82A}">
                    <a16:rowId xmlns:a16="http://schemas.microsoft.com/office/drawing/2014/main" val="2636627015"/>
                  </a:ext>
                </a:extLst>
              </a:tr>
              <a:tr h="381000">
                <a:tc>
                  <a:txBody>
                    <a:bodyPr/>
                    <a:lstStyle/>
                    <a:p>
                      <a:r>
                        <a:rPr lang="da-DK" sz="1300" b="1">
                          <a:solidFill>
                            <a:srgbClr val="1A1A1A"/>
                          </a:solidFill>
                          <a:latin typeface="Calibri" panose="020F0502020204030204" pitchFamily="34" charset="0"/>
                        </a:rPr>
                        <a:t>Chen et al., 2019 [16]</a:t>
                      </a:r>
                      <a:endParaRPr lang="en-IN" sz="1300" b="1">
                        <a:solidFill>
                          <a:srgbClr val="1A1A1A"/>
                        </a:solidFill>
                        <a:latin typeface="Calibri" panose="020F0502020204030204" pitchFamily="34" charset="0"/>
                      </a:endParaRPr>
                    </a:p>
                  </a:txBody>
                  <a:tcPr marL="76200" marR="76200" marT="38100" marB="38100">
                    <a:solidFill>
                      <a:srgbClr val="FFFFFF"/>
                    </a:solidFill>
                  </a:tcPr>
                </a:tc>
                <a:tc>
                  <a:txBody>
                    <a:bodyPr/>
                    <a:lstStyle/>
                    <a:p>
                      <a:r>
                        <a:rPr lang="en-IN" sz="1300" b="0">
                          <a:solidFill>
                            <a:srgbClr val="1A1A1A"/>
                          </a:solidFill>
                          <a:latin typeface="Calibri" panose="020F0502020204030204" pitchFamily="34" charset="0"/>
                        </a:rPr>
                        <a:t>Detection + numbering, periapical films</a:t>
                      </a:r>
                    </a:p>
                  </a:txBody>
                  <a:tcPr marL="76200" marR="76200" marT="38100" marB="38100">
                    <a:solidFill>
                      <a:srgbClr val="FFFFFF"/>
                    </a:solidFill>
                  </a:tcPr>
                </a:tc>
                <a:tc>
                  <a:txBody>
                    <a:bodyPr/>
                    <a:lstStyle/>
                    <a:p>
                      <a:r>
                        <a:rPr lang="en-IN" sz="1300" b="0">
                          <a:solidFill>
                            <a:srgbClr val="1A1A1A"/>
                          </a:solidFill>
                          <a:latin typeface="Calibri" panose="020F0502020204030204" pitchFamily="34" charset="0"/>
                        </a:rPr>
                        <a:t>Faster R-CNN + rule-based post-processing</a:t>
                      </a:r>
                    </a:p>
                  </a:txBody>
                  <a:tcPr marL="76200" marR="76200" marT="38100" marB="38100">
                    <a:solidFill>
                      <a:srgbClr val="FFFFFF"/>
                    </a:solidFill>
                  </a:tcPr>
                </a:tc>
                <a:tc>
                  <a:txBody>
                    <a:bodyPr/>
                    <a:lstStyle/>
                    <a:p>
                      <a:r>
                        <a:rPr lang="en-IN" sz="1300" b="0">
                          <a:solidFill>
                            <a:srgbClr val="1A1A1A"/>
                          </a:solidFill>
                          <a:latin typeface="Calibri" panose="020F0502020204030204" pitchFamily="34" charset="0"/>
                        </a:rPr>
                        <a:t>No findings or report</a:t>
                      </a:r>
                    </a:p>
                  </a:txBody>
                  <a:tcPr marL="76200" marR="76200" marT="38100" marB="38100">
                    <a:solidFill>
                      <a:srgbClr val="FFFFFF"/>
                    </a:solidFill>
                  </a:tcPr>
                </a:tc>
                <a:extLst>
                  <a:ext uri="{0D108BD9-81ED-4DB2-BD59-A6C34878D82A}">
                    <a16:rowId xmlns:a16="http://schemas.microsoft.com/office/drawing/2014/main" val="285288378"/>
                  </a:ext>
                </a:extLst>
              </a:tr>
              <a:tr h="381000">
                <a:tc>
                  <a:txBody>
                    <a:bodyPr/>
                    <a:lstStyle/>
                    <a:p>
                      <a:r>
                        <a:rPr lang="en-IN" sz="1300" b="1">
                          <a:solidFill>
                            <a:srgbClr val="1A1A1A"/>
                          </a:solidFill>
                          <a:latin typeface="Calibri" panose="020F0502020204030204" pitchFamily="34" charset="0"/>
                        </a:rPr>
                        <a:t>Ekert et al., 2019 [17]</a:t>
                      </a:r>
                    </a:p>
                  </a:txBody>
                  <a:tcPr marL="76200" marR="76200" marT="38100" marB="38100">
                    <a:solidFill>
                      <a:srgbClr val="F1F5F9"/>
                    </a:solidFill>
                  </a:tcPr>
                </a:tc>
                <a:tc>
                  <a:txBody>
                    <a:bodyPr/>
                    <a:lstStyle/>
                    <a:p>
                      <a:r>
                        <a:rPr lang="en-IN" sz="1300" b="0">
                          <a:solidFill>
                            <a:srgbClr val="1A1A1A"/>
                          </a:solidFill>
                          <a:latin typeface="Calibri" panose="020F0502020204030204" pitchFamily="34" charset="0"/>
                        </a:rPr>
                        <a:t>Apical lesions, panoramic</a:t>
                      </a:r>
                    </a:p>
                  </a:txBody>
                  <a:tcPr marL="76200" marR="76200" marT="38100" marB="38100">
                    <a:solidFill>
                      <a:srgbClr val="F1F5F9"/>
                    </a:solidFill>
                  </a:tcPr>
                </a:tc>
                <a:tc>
                  <a:txBody>
                    <a:bodyPr/>
                    <a:lstStyle/>
                    <a:p>
                      <a:r>
                        <a:rPr lang="en-IN" sz="1300" b="0">
                          <a:solidFill>
                            <a:srgbClr val="1A1A1A"/>
                          </a:solidFill>
                          <a:latin typeface="Calibri" panose="020F0502020204030204" pitchFamily="34" charset="0"/>
                        </a:rPr>
                        <a:t>Deep CNN</a:t>
                      </a:r>
                    </a:p>
                  </a:txBody>
                  <a:tcPr marL="76200" marR="76200" marT="38100" marB="38100">
                    <a:solidFill>
                      <a:srgbClr val="F1F5F9"/>
                    </a:solidFill>
                  </a:tcPr>
                </a:tc>
                <a:tc>
                  <a:txBody>
                    <a:bodyPr/>
                    <a:lstStyle/>
                    <a:p>
                      <a:r>
                        <a:rPr lang="en-US" sz="1300" b="0">
                          <a:solidFill>
                            <a:srgbClr val="1A1A1A"/>
                          </a:solidFill>
                          <a:latin typeface="Calibri" panose="020F0502020204030204" pitchFamily="34" charset="0"/>
                        </a:rPr>
                        <a:t>Single finding; no human-review loop</a:t>
                      </a:r>
                      <a:endParaRPr lang="en-IN" sz="1300" b="0">
                        <a:solidFill>
                          <a:srgbClr val="1A1A1A"/>
                        </a:solidFill>
                        <a:latin typeface="Calibri" panose="020F0502020204030204" pitchFamily="34" charset="0"/>
                      </a:endParaRPr>
                    </a:p>
                  </a:txBody>
                  <a:tcPr marL="76200" marR="76200" marT="38100" marB="38100">
                    <a:solidFill>
                      <a:srgbClr val="F1F5F9"/>
                    </a:solidFill>
                  </a:tcPr>
                </a:tc>
                <a:extLst>
                  <a:ext uri="{0D108BD9-81ED-4DB2-BD59-A6C34878D82A}">
                    <a16:rowId xmlns:a16="http://schemas.microsoft.com/office/drawing/2014/main" val="3557084271"/>
                  </a:ext>
                </a:extLst>
              </a:tr>
              <a:tr h="381000">
                <a:tc>
                  <a:txBody>
                    <a:bodyPr/>
                    <a:lstStyle/>
                    <a:p>
                      <a:r>
                        <a:rPr lang="en-IN" sz="1300" b="1">
                          <a:solidFill>
                            <a:srgbClr val="1A1A1A"/>
                          </a:solidFill>
                          <a:latin typeface="Calibri" panose="020F0502020204030204" pitchFamily="34" charset="0"/>
                        </a:rPr>
                        <a:t>Hamamci et al., 2023 [11], [8]</a:t>
                      </a:r>
                    </a:p>
                  </a:txBody>
                  <a:tcPr marL="76200" marR="76200" marT="38100" marB="38100">
                    <a:solidFill>
                      <a:srgbClr val="FFFFFF"/>
                    </a:solidFill>
                  </a:tcPr>
                </a:tc>
                <a:tc>
                  <a:txBody>
                    <a:bodyPr/>
                    <a:lstStyle/>
                    <a:p>
                      <a:r>
                        <a:rPr lang="en-IN" sz="1300" b="0">
                          <a:solidFill>
                            <a:srgbClr val="1A1A1A"/>
                          </a:solidFill>
                          <a:latin typeface="Calibri" panose="020F0502020204030204" pitchFamily="34" charset="0"/>
                        </a:rPr>
                        <a:t>DENTEX: enumeration + diagnosis</a:t>
                      </a:r>
                    </a:p>
                  </a:txBody>
                  <a:tcPr marL="76200" marR="76200" marT="38100" marB="38100">
                    <a:solidFill>
                      <a:srgbClr val="FFFFFF"/>
                    </a:solidFill>
                  </a:tcPr>
                </a:tc>
                <a:tc>
                  <a:txBody>
                    <a:bodyPr/>
                    <a:lstStyle/>
                    <a:p>
                      <a:r>
                        <a:rPr lang="en-IN" sz="1300" b="0">
                          <a:solidFill>
                            <a:srgbClr val="1A1A1A"/>
                          </a:solidFill>
                          <a:latin typeface="Calibri" panose="020F0502020204030204" pitchFamily="34" charset="0"/>
                        </a:rPr>
                        <a:t>Hierarchical diffusion-based detector</a:t>
                      </a:r>
                    </a:p>
                  </a:txBody>
                  <a:tcPr marL="76200" marR="76200" marT="38100" marB="38100">
                    <a:solidFill>
                      <a:srgbClr val="FFFFFF"/>
                    </a:solidFill>
                  </a:tcPr>
                </a:tc>
                <a:tc>
                  <a:txBody>
                    <a:bodyPr/>
                    <a:lstStyle/>
                    <a:p>
                      <a:r>
                        <a:rPr lang="en-US" sz="1300" b="0">
                          <a:solidFill>
                            <a:srgbClr val="1A1A1A"/>
                          </a:solidFill>
                          <a:latin typeface="Calibri" panose="020F0502020204030204" pitchFamily="34" charset="0"/>
                        </a:rPr>
                        <a:t>Benchmark scores; no calibrated abstention or reporting</a:t>
                      </a:r>
                      <a:endParaRPr lang="en-IN" sz="1300" b="0">
                        <a:solidFill>
                          <a:srgbClr val="1A1A1A"/>
                        </a:solidFill>
                        <a:latin typeface="Calibri" panose="020F0502020204030204" pitchFamily="34" charset="0"/>
                      </a:endParaRPr>
                    </a:p>
                  </a:txBody>
                  <a:tcPr marL="76200" marR="76200" marT="38100" marB="38100">
                    <a:solidFill>
                      <a:srgbClr val="FFFFFF"/>
                    </a:solidFill>
                  </a:tcPr>
                </a:tc>
                <a:extLst>
                  <a:ext uri="{0D108BD9-81ED-4DB2-BD59-A6C34878D82A}">
                    <a16:rowId xmlns:a16="http://schemas.microsoft.com/office/drawing/2014/main" val="1677979913"/>
                  </a:ext>
                </a:extLst>
              </a:tr>
              <a:tr h="381000">
                <a:tc>
                  <a:txBody>
                    <a:bodyPr/>
                    <a:lstStyle/>
                    <a:p>
                      <a:r>
                        <a:rPr lang="en-IN" sz="1300" b="1">
                          <a:solidFill>
                            <a:srgbClr val="1A1A1A"/>
                          </a:solidFill>
                          <a:latin typeface="Calibri" panose="020F0502020204030204" pitchFamily="34" charset="0"/>
                        </a:rPr>
                        <a:t>Jing et al., 2018 [5]</a:t>
                      </a:r>
                    </a:p>
                  </a:txBody>
                  <a:tcPr marL="76200" marR="76200" marT="38100" marB="38100">
                    <a:solidFill>
                      <a:srgbClr val="F1F5F9"/>
                    </a:solidFill>
                  </a:tcPr>
                </a:tc>
                <a:tc>
                  <a:txBody>
                    <a:bodyPr/>
                    <a:lstStyle/>
                    <a:p>
                      <a:r>
                        <a:rPr lang="en-IN" sz="1300" b="0">
                          <a:solidFill>
                            <a:srgbClr val="1A1A1A"/>
                          </a:solidFill>
                          <a:latin typeface="Calibri" panose="020F0502020204030204" pitchFamily="34" charset="0"/>
                        </a:rPr>
                        <a:t>Medical report generation</a:t>
                      </a:r>
                    </a:p>
                  </a:txBody>
                  <a:tcPr marL="76200" marR="76200" marT="38100" marB="38100">
                    <a:solidFill>
                      <a:srgbClr val="F1F5F9"/>
                    </a:solidFill>
                  </a:tcPr>
                </a:tc>
                <a:tc>
                  <a:txBody>
                    <a:bodyPr/>
                    <a:lstStyle/>
                    <a:p>
                      <a:r>
                        <a:rPr lang="en-IN" sz="1300" b="0">
                          <a:solidFill>
                            <a:srgbClr val="1A1A1A"/>
                          </a:solidFill>
                          <a:latin typeface="Calibri" panose="020F0502020204030204" pitchFamily="34" charset="0"/>
                        </a:rPr>
                        <a:t>Co-attention + hierarchical LSTM</a:t>
                      </a:r>
                    </a:p>
                  </a:txBody>
                  <a:tcPr marL="76200" marR="76200" marT="38100" marB="38100">
                    <a:solidFill>
                      <a:srgbClr val="F1F5F9"/>
                    </a:solidFill>
                  </a:tcPr>
                </a:tc>
                <a:tc>
                  <a:txBody>
                    <a:bodyPr/>
                    <a:lstStyle/>
                    <a:p>
                      <a:r>
                        <a:rPr lang="en-US" sz="1300" b="0">
                          <a:solidFill>
                            <a:srgbClr val="1A1A1A"/>
                          </a:solidFill>
                          <a:latin typeface="Calibri" panose="020F0502020204030204" pitchFamily="34" charset="0"/>
                        </a:rPr>
                        <a:t>Free text can be unsupported by evidence</a:t>
                      </a:r>
                      <a:endParaRPr lang="en-IN" sz="1300" b="0">
                        <a:solidFill>
                          <a:srgbClr val="1A1A1A"/>
                        </a:solidFill>
                        <a:latin typeface="Calibri" panose="020F0502020204030204" pitchFamily="34" charset="0"/>
                      </a:endParaRPr>
                    </a:p>
                  </a:txBody>
                  <a:tcPr marL="76200" marR="76200" marT="38100" marB="38100">
                    <a:solidFill>
                      <a:srgbClr val="F1F5F9"/>
                    </a:solidFill>
                  </a:tcPr>
                </a:tc>
                <a:extLst>
                  <a:ext uri="{0D108BD9-81ED-4DB2-BD59-A6C34878D82A}">
                    <a16:rowId xmlns:a16="http://schemas.microsoft.com/office/drawing/2014/main" val="4215218020"/>
                  </a:ext>
                </a:extLst>
              </a:tr>
              <a:tr h="381000">
                <a:tc>
                  <a:txBody>
                    <a:bodyPr/>
                    <a:lstStyle/>
                    <a:p>
                      <a:r>
                        <a:rPr lang="en-IN" sz="1300" b="1">
                          <a:solidFill>
                            <a:srgbClr val="1A1A1A"/>
                          </a:solidFill>
                          <a:latin typeface="Calibri" panose="020F0502020204030204" pitchFamily="34" charset="0"/>
                        </a:rPr>
                        <a:t>Stephan et al., 2024 [6]</a:t>
                      </a:r>
                    </a:p>
                  </a:txBody>
                  <a:tcPr marL="76200" marR="76200" marT="38100" marB="38100">
                    <a:solidFill>
                      <a:srgbClr val="FFFFFF"/>
                    </a:solidFill>
                  </a:tcPr>
                </a:tc>
                <a:tc>
                  <a:txBody>
                    <a:bodyPr/>
                    <a:lstStyle/>
                    <a:p>
                      <a:r>
                        <a:rPr lang="en-IN" sz="1300" b="0">
                          <a:solidFill>
                            <a:srgbClr val="1A1A1A"/>
                          </a:solidFill>
                          <a:latin typeface="Calibri" panose="020F0502020204030204" pitchFamily="34" charset="0"/>
                        </a:rPr>
                        <a:t>ChatGPT for OPG reports</a:t>
                      </a:r>
                    </a:p>
                  </a:txBody>
                  <a:tcPr marL="76200" marR="76200" marT="38100" marB="38100">
                    <a:solidFill>
                      <a:srgbClr val="FFFFFF"/>
                    </a:solidFill>
                  </a:tcPr>
                </a:tc>
                <a:tc>
                  <a:txBody>
                    <a:bodyPr/>
                    <a:lstStyle/>
                    <a:p>
                      <a:r>
                        <a:rPr lang="en-IN" sz="1300" b="0">
                          <a:solidFill>
                            <a:srgbClr val="1A1A1A"/>
                          </a:solidFill>
                          <a:latin typeface="Calibri" panose="020F0502020204030204" pitchFamily="34" charset="0"/>
                        </a:rPr>
                        <a:t>LLM-assisted reporting study</a:t>
                      </a:r>
                    </a:p>
                  </a:txBody>
                  <a:tcPr marL="76200" marR="76200" marT="38100" marB="38100">
                    <a:solidFill>
                      <a:srgbClr val="FFFFFF"/>
                    </a:solidFill>
                  </a:tcPr>
                </a:tc>
                <a:tc>
                  <a:txBody>
                    <a:bodyPr/>
                    <a:lstStyle/>
                    <a:p>
                      <a:r>
                        <a:rPr lang="en-US" sz="1300" b="0">
                          <a:solidFill>
                            <a:srgbClr val="1A1A1A"/>
                          </a:solidFill>
                          <a:latin typeface="Calibri" panose="020F0502020204030204" pitchFamily="34" charset="0"/>
                        </a:rPr>
                        <a:t>Reports omitted key diagnostic details</a:t>
                      </a:r>
                      <a:endParaRPr lang="en-IN" sz="1300" b="0">
                        <a:solidFill>
                          <a:srgbClr val="1A1A1A"/>
                        </a:solidFill>
                        <a:latin typeface="Calibri" panose="020F0502020204030204" pitchFamily="34" charset="0"/>
                      </a:endParaRPr>
                    </a:p>
                  </a:txBody>
                  <a:tcPr marL="76200" marR="76200" marT="38100" marB="38100">
                    <a:solidFill>
                      <a:srgbClr val="FFFFFF"/>
                    </a:solidFill>
                  </a:tcPr>
                </a:tc>
                <a:extLst>
                  <a:ext uri="{0D108BD9-81ED-4DB2-BD59-A6C34878D82A}">
                    <a16:rowId xmlns:a16="http://schemas.microsoft.com/office/drawing/2014/main" val="520243365"/>
                  </a:ext>
                </a:extLst>
              </a:tr>
            </a:tbl>
          </a:graphicData>
        </a:graphic>
      </p:graphicFrame>
      <p:sp>
        <p:nvSpPr>
          <p:cNvPr id="7" name="Rectangle: Rounded Corners 6">
            <a:extLst>
              <a:ext uri="{FF2B5EF4-FFF2-40B4-BE49-F238E27FC236}">
                <a16:creationId xmlns:a16="http://schemas.microsoft.com/office/drawing/2014/main" id="{B96E30D5-EB34-9E92-82FB-E8735A3491B9}"/>
              </a:ext>
            </a:extLst>
          </p:cNvPr>
          <p:cNvSpPr/>
          <p:nvPr/>
        </p:nvSpPr>
        <p:spPr>
          <a:xfrm>
            <a:off x="533400" y="5588000"/>
            <a:ext cx="11125200" cy="787400"/>
          </a:xfrm>
          <a:prstGeom prst="roundRect">
            <a:avLst>
              <a:gd name="adj" fmla="val 15000"/>
            </a:avLst>
          </a:prstGeom>
          <a:solidFill>
            <a:srgbClr val="F0FDFA"/>
          </a:solidFill>
          <a:ln w="12700">
            <a:solidFill>
              <a:srgbClr val="0F766E"/>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38100" rIns="152400" bIns="38100" rtlCol="0" anchor="ctr">
            <a:noAutofit/>
          </a:bodyPr>
          <a:lstStyle/>
          <a:p>
            <a:r>
              <a:rPr lang="en-US" sz="1400">
                <a:solidFill>
                  <a:srgbClr val="115E59"/>
                </a:solidFill>
                <a:latin typeface="Calibri" panose="020F0502020204030204" pitchFamily="34" charset="0"/>
              </a:rPr>
              <a:t>Common pattern: strong single-task accuracy, but little attention to uncertainty, leakage control, or keeping generated text faithful to the evidence.</a:t>
            </a:r>
            <a:endParaRPr lang="en-IN" sz="1400">
              <a:solidFill>
                <a:srgbClr val="115E59"/>
              </a:solidFill>
              <a:latin typeface="Calibri" panose="020F0502020204030204" pitchFamily="34" charset="0"/>
            </a:endParaRPr>
          </a:p>
        </p:txBody>
      </p:sp>
    </p:spTree>
    <p:extLst>
      <p:ext uri="{BB962C8B-B14F-4D97-AF65-F5344CB8AC3E}">
        <p14:creationId xmlns:p14="http://schemas.microsoft.com/office/powerpoint/2010/main" val="33137830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45A546-19F4-6AED-95DE-3F5D8145C7DF}"/>
              </a:ext>
            </a:extLst>
          </p:cNvPr>
          <p:cNvSpPr txBox="1"/>
          <p:nvPr/>
        </p:nvSpPr>
        <p:spPr>
          <a:xfrm>
            <a:off x="508000" y="279400"/>
            <a:ext cx="11176000" cy="369332"/>
          </a:xfrm>
          <a:prstGeom prst="rect">
            <a:avLst/>
          </a:prstGeom>
          <a:noFill/>
        </p:spPr>
        <p:txBody>
          <a:bodyPr vert="horz" wrap="square" lIns="63500" tIns="38100" rIns="63500" bIns="38100" rtlCol="0" anchor="ctr">
            <a:noAutofit/>
          </a:bodyPr>
          <a:lstStyle/>
          <a:p>
            <a:r>
              <a:rPr lang="en-IN" sz="2600" b="1">
                <a:solidFill>
                  <a:srgbClr val="1F3A5F"/>
                </a:solidFill>
                <a:latin typeface="Calibri" panose="020F0502020204030204" pitchFamily="34" charset="0"/>
              </a:rPr>
              <a:t>Research gap</a:t>
            </a:r>
          </a:p>
        </p:txBody>
      </p:sp>
      <p:sp>
        <p:nvSpPr>
          <p:cNvPr id="3" name="Rectangle 2">
            <a:extLst>
              <a:ext uri="{FF2B5EF4-FFF2-40B4-BE49-F238E27FC236}">
                <a16:creationId xmlns:a16="http://schemas.microsoft.com/office/drawing/2014/main" id="{F8E7BE20-3F59-A151-B412-541E3C2C5BE6}"/>
              </a:ext>
            </a:extLst>
          </p:cNvPr>
          <p:cNvSpPr/>
          <p:nvPr/>
        </p:nvSpPr>
        <p:spPr>
          <a:xfrm>
            <a:off x="533400" y="939800"/>
            <a:ext cx="889000" cy="38100"/>
          </a:xfrm>
          <a:prstGeom prst="rect">
            <a:avLst/>
          </a:prstGeom>
          <a:solidFill>
            <a:srgbClr val="0F766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3207EA59-2868-6035-8B5B-DFBFBE68433A}"/>
              </a:ext>
            </a:extLst>
          </p:cNvPr>
          <p:cNvSpPr txBox="1"/>
          <p:nvPr/>
        </p:nvSpPr>
        <p:spPr>
          <a:xfrm>
            <a:off x="508000" y="6502400"/>
            <a:ext cx="8890000" cy="369332"/>
          </a:xfrm>
          <a:prstGeom prst="rect">
            <a:avLst/>
          </a:prstGeom>
          <a:noFill/>
        </p:spPr>
        <p:txBody>
          <a:bodyPr vert="horz" wrap="square" lIns="63500" tIns="38100" rIns="63500" bIns="38100" rtlCol="0" anchor="t">
            <a:noAutofit/>
          </a:bodyPr>
          <a:lstStyle/>
          <a:p>
            <a:r>
              <a:rPr lang="it-IT" sz="900">
                <a:solidFill>
                  <a:srgbClr val="55657A"/>
                </a:solidFill>
                <a:latin typeface="Calibri" panose="020F0502020204030204" pitchFamily="34" charset="0"/>
              </a:rPr>
              <a:t>DentaMind AI · B.Tech Capstone · PCCOE CSE (AI &amp; ML) 2026-27</a:t>
            </a:r>
            <a:endParaRPr lang="en-IN" sz="900">
              <a:solidFill>
                <a:srgbClr val="55657A"/>
              </a:solidFill>
              <a:latin typeface="Calibri" panose="020F0502020204030204" pitchFamily="34" charset="0"/>
            </a:endParaRPr>
          </a:p>
        </p:txBody>
      </p:sp>
      <p:sp>
        <p:nvSpPr>
          <p:cNvPr id="5" name="TextBox 4">
            <a:extLst>
              <a:ext uri="{FF2B5EF4-FFF2-40B4-BE49-F238E27FC236}">
                <a16:creationId xmlns:a16="http://schemas.microsoft.com/office/drawing/2014/main" id="{BE427E36-556F-9376-DD07-A3979EF7F35B}"/>
              </a:ext>
            </a:extLst>
          </p:cNvPr>
          <p:cNvSpPr txBox="1"/>
          <p:nvPr/>
        </p:nvSpPr>
        <p:spPr>
          <a:xfrm>
            <a:off x="10414000" y="6502400"/>
            <a:ext cx="1270000" cy="369332"/>
          </a:xfrm>
          <a:prstGeom prst="rect">
            <a:avLst/>
          </a:prstGeom>
          <a:noFill/>
        </p:spPr>
        <p:txBody>
          <a:bodyPr vert="horz" wrap="square" lIns="63500" tIns="38100" rIns="63500" bIns="38100" rtlCol="0" anchor="t">
            <a:noAutofit/>
          </a:bodyPr>
          <a:lstStyle/>
          <a:p>
            <a:pPr algn="r"/>
            <a:r>
              <a:rPr lang="en-IN" sz="900">
                <a:solidFill>
                  <a:srgbClr val="55657A"/>
                </a:solidFill>
                <a:latin typeface="Calibri" panose="020F0502020204030204" pitchFamily="34" charset="0"/>
              </a:rPr>
              <a:t>6 / 22</a:t>
            </a:r>
          </a:p>
        </p:txBody>
      </p:sp>
      <p:sp>
        <p:nvSpPr>
          <p:cNvPr id="6" name="TextBox 5">
            <a:extLst>
              <a:ext uri="{FF2B5EF4-FFF2-40B4-BE49-F238E27FC236}">
                <a16:creationId xmlns:a16="http://schemas.microsoft.com/office/drawing/2014/main" id="{93DF8CA8-B33E-7A6D-3ED9-B54558B7DD8D}"/>
              </a:ext>
            </a:extLst>
          </p:cNvPr>
          <p:cNvSpPr txBox="1"/>
          <p:nvPr/>
        </p:nvSpPr>
        <p:spPr>
          <a:xfrm>
            <a:off x="533400" y="1168400"/>
            <a:ext cx="11125200" cy="369332"/>
          </a:xfrm>
          <a:prstGeom prst="rect">
            <a:avLst/>
          </a:prstGeom>
          <a:noFill/>
        </p:spPr>
        <p:txBody>
          <a:bodyPr vert="horz" wrap="square" rtlCol="0" anchor="t">
            <a:noAutofit/>
          </a:bodyPr>
          <a:lstStyle/>
          <a:p>
            <a:pPr marL="508000" indent="-228600">
              <a:spcAft>
                <a:spcPts val="600"/>
              </a:spcAft>
              <a:buFont typeface="+mj-lt"/>
              <a:buChar char="•"/>
            </a:pPr>
            <a:r>
              <a:rPr lang="en-US" sz="2000" b="1">
                <a:solidFill>
                  <a:srgbClr val="1A1A1A"/>
                </a:solidFill>
                <a:latin typeface="Calibri" panose="020F0502020204030204" pitchFamily="34" charset="0"/>
              </a:rPr>
              <a:t>Integration:</a:t>
            </a:r>
            <a:r>
              <a:rPr lang="en-US" sz="2000">
                <a:solidFill>
                  <a:srgbClr val="1A1A1A"/>
                </a:solidFill>
                <a:latin typeface="Calibri" panose="020F0502020204030204" pitchFamily="34" charset="0"/>
              </a:rPr>
              <a:t> tooth detection, numbering, segmentation and findings are usually studied separately</a:t>
            </a:r>
          </a:p>
          <a:p>
            <a:pPr marL="508000" indent="-228600">
              <a:spcAft>
                <a:spcPts val="600"/>
              </a:spcAft>
              <a:buFont typeface="+mj-lt"/>
              <a:buChar char="•"/>
            </a:pPr>
            <a:r>
              <a:rPr lang="en-US" sz="2000" b="1">
                <a:solidFill>
                  <a:srgbClr val="1A1A1A"/>
                </a:solidFill>
                <a:latin typeface="Calibri" panose="020F0502020204030204" pitchFamily="34" charset="0"/>
              </a:rPr>
              <a:t>Uncertainty:</a:t>
            </a:r>
            <a:r>
              <a:rPr lang="en-US" sz="2000">
                <a:solidFill>
                  <a:srgbClr val="1A1A1A"/>
                </a:solidFill>
                <a:latin typeface="Calibri" panose="020F0502020204030204" pitchFamily="34" charset="0"/>
              </a:rPr>
              <a:t> closed-set classifiers always output a class, so a system needs abstention and review flags</a:t>
            </a:r>
          </a:p>
          <a:p>
            <a:pPr marL="508000" indent="-228600">
              <a:spcAft>
                <a:spcPts val="600"/>
              </a:spcAft>
              <a:buFont typeface="+mj-lt"/>
              <a:buChar char="•"/>
            </a:pPr>
            <a:r>
              <a:rPr lang="en-US" sz="2000" b="1">
                <a:solidFill>
                  <a:srgbClr val="1A1A1A"/>
                </a:solidFill>
                <a:latin typeface="Calibri" panose="020F0502020204030204" pitchFamily="34" charset="0"/>
              </a:rPr>
              <a:t>Faithful generation:</a:t>
            </a:r>
            <a:r>
              <a:rPr lang="en-US" sz="2000">
                <a:solidFill>
                  <a:srgbClr val="1A1A1A"/>
                </a:solidFill>
                <a:latin typeface="Calibri" panose="020F0502020204030204" pitchFamily="34" charset="0"/>
              </a:rPr>
              <a:t> LLM reports can omit or invent findings, so output must be checked against the model evidence</a:t>
            </a:r>
          </a:p>
          <a:p>
            <a:pPr marL="508000" indent="-228600">
              <a:spcAft>
                <a:spcPts val="600"/>
              </a:spcAft>
              <a:buFont typeface="+mj-lt"/>
              <a:buChar char="•"/>
            </a:pPr>
            <a:r>
              <a:rPr lang="en-US" sz="2000" b="1">
                <a:solidFill>
                  <a:srgbClr val="1A1A1A"/>
                </a:solidFill>
                <a:latin typeface="Calibri" panose="020F0502020204030204" pitchFamily="34" charset="0"/>
              </a:rPr>
              <a:t>Evaluation hygiene:</a:t>
            </a:r>
            <a:r>
              <a:rPr lang="en-US" sz="2000">
                <a:solidFill>
                  <a:srgbClr val="1A1A1A"/>
                </a:solidFill>
                <a:latin typeface="Calibri" panose="020F0502020204030204" pitchFamily="34" charset="0"/>
              </a:rPr>
              <a:t> duplicates across DENTEX folders, test-set reuse and selection bias are rarely audited</a:t>
            </a:r>
          </a:p>
          <a:p>
            <a:pPr marL="508000" indent="-228600">
              <a:spcAft>
                <a:spcPts val="600"/>
              </a:spcAft>
              <a:buFont typeface="+mj-lt"/>
              <a:buChar char="•"/>
            </a:pPr>
            <a:r>
              <a:rPr lang="en-US" sz="2000" b="1">
                <a:solidFill>
                  <a:srgbClr val="1A1A1A"/>
                </a:solidFill>
                <a:latin typeface="Calibri" panose="020F0502020204030204" pitchFamily="34" charset="0"/>
              </a:rPr>
              <a:t>Imbalance:</a:t>
            </a:r>
            <a:r>
              <a:rPr lang="en-US" sz="2000">
                <a:solidFill>
                  <a:srgbClr val="1A1A1A"/>
                </a:solidFill>
                <a:latin typeface="Calibri" panose="020F0502020204030204" pitchFamily="34" charset="0"/>
              </a:rPr>
              <a:t> rare classes (Periapical Lesion is about 7 % of findings) are often reported only through accuracy</a:t>
            </a:r>
          </a:p>
          <a:p>
            <a:pPr marL="508000" indent="-228600">
              <a:spcAft>
                <a:spcPts val="600"/>
              </a:spcAft>
              <a:buFont typeface="+mj-lt"/>
              <a:buChar char="•"/>
            </a:pPr>
            <a:r>
              <a:rPr lang="en-US" sz="2000">
                <a:solidFill>
                  <a:srgbClr val="1A1A1A"/>
                </a:solidFill>
                <a:latin typeface="Calibri" panose="020F0502020204030204" pitchFamily="34" charset="0"/>
              </a:rPr>
              <a:t>DentaMind addresses these with one pipeline, a validator, a review workflow, a leakage audit and pre-registered experiments</a:t>
            </a:r>
            <a:endParaRPr lang="en-IN" sz="2000">
              <a:solidFill>
                <a:srgbClr val="1A1A1A"/>
              </a:solidFill>
              <a:latin typeface="Calibri" panose="020F0502020204030204" pitchFamily="34" charset="0"/>
            </a:endParaRPr>
          </a:p>
        </p:txBody>
      </p:sp>
    </p:spTree>
    <p:extLst>
      <p:ext uri="{BB962C8B-B14F-4D97-AF65-F5344CB8AC3E}">
        <p14:creationId xmlns:p14="http://schemas.microsoft.com/office/powerpoint/2010/main" val="9266667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E54C714-E0D9-7783-21B1-33EFEA73C7E2}"/>
              </a:ext>
            </a:extLst>
          </p:cNvPr>
          <p:cNvSpPr txBox="1"/>
          <p:nvPr/>
        </p:nvSpPr>
        <p:spPr>
          <a:xfrm>
            <a:off x="508000" y="279400"/>
            <a:ext cx="11176000" cy="369332"/>
          </a:xfrm>
          <a:prstGeom prst="rect">
            <a:avLst/>
          </a:prstGeom>
          <a:noFill/>
        </p:spPr>
        <p:txBody>
          <a:bodyPr vert="horz" wrap="square" lIns="63500" tIns="38100" rIns="63500" bIns="38100" rtlCol="0" anchor="ctr">
            <a:noAutofit/>
          </a:bodyPr>
          <a:lstStyle/>
          <a:p>
            <a:r>
              <a:rPr lang="en-IN" sz="2600" b="1">
                <a:solidFill>
                  <a:srgbClr val="1F3A5F"/>
                </a:solidFill>
                <a:latin typeface="Calibri" panose="020F0502020204030204" pitchFamily="34" charset="0"/>
              </a:rPr>
              <a:t>Dataset: DENTEX (MICCAI 2023 challenge)</a:t>
            </a:r>
          </a:p>
        </p:txBody>
      </p:sp>
      <p:sp>
        <p:nvSpPr>
          <p:cNvPr id="3" name="Rectangle 2">
            <a:extLst>
              <a:ext uri="{FF2B5EF4-FFF2-40B4-BE49-F238E27FC236}">
                <a16:creationId xmlns:a16="http://schemas.microsoft.com/office/drawing/2014/main" id="{A75A4707-982D-7BAE-A920-EBFD4CFC7379}"/>
              </a:ext>
            </a:extLst>
          </p:cNvPr>
          <p:cNvSpPr/>
          <p:nvPr/>
        </p:nvSpPr>
        <p:spPr>
          <a:xfrm>
            <a:off x="533400" y="939800"/>
            <a:ext cx="889000" cy="38100"/>
          </a:xfrm>
          <a:prstGeom prst="rect">
            <a:avLst/>
          </a:prstGeom>
          <a:solidFill>
            <a:srgbClr val="0F766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6E492EF4-219C-731C-6FF0-160D592948D0}"/>
              </a:ext>
            </a:extLst>
          </p:cNvPr>
          <p:cNvSpPr txBox="1"/>
          <p:nvPr/>
        </p:nvSpPr>
        <p:spPr>
          <a:xfrm>
            <a:off x="508000" y="6502400"/>
            <a:ext cx="8890000" cy="369332"/>
          </a:xfrm>
          <a:prstGeom prst="rect">
            <a:avLst/>
          </a:prstGeom>
          <a:noFill/>
        </p:spPr>
        <p:txBody>
          <a:bodyPr vert="horz" wrap="square" lIns="63500" tIns="38100" rIns="63500" bIns="38100" rtlCol="0" anchor="t">
            <a:noAutofit/>
          </a:bodyPr>
          <a:lstStyle/>
          <a:p>
            <a:r>
              <a:rPr lang="it-IT" sz="900">
                <a:solidFill>
                  <a:srgbClr val="55657A"/>
                </a:solidFill>
                <a:latin typeface="Calibri" panose="020F0502020204030204" pitchFamily="34" charset="0"/>
              </a:rPr>
              <a:t>DentaMind AI · B.Tech Capstone · PCCOE CSE (AI &amp; ML) 2026-27</a:t>
            </a:r>
            <a:endParaRPr lang="en-IN" sz="900">
              <a:solidFill>
                <a:srgbClr val="55657A"/>
              </a:solidFill>
              <a:latin typeface="Calibri" panose="020F0502020204030204" pitchFamily="34" charset="0"/>
            </a:endParaRPr>
          </a:p>
        </p:txBody>
      </p:sp>
      <p:sp>
        <p:nvSpPr>
          <p:cNvPr id="5" name="TextBox 4">
            <a:extLst>
              <a:ext uri="{FF2B5EF4-FFF2-40B4-BE49-F238E27FC236}">
                <a16:creationId xmlns:a16="http://schemas.microsoft.com/office/drawing/2014/main" id="{917D34C9-1EAB-0EA7-BA5F-D41DD4DDDFFE}"/>
              </a:ext>
            </a:extLst>
          </p:cNvPr>
          <p:cNvSpPr txBox="1"/>
          <p:nvPr/>
        </p:nvSpPr>
        <p:spPr>
          <a:xfrm>
            <a:off x="10414000" y="6502400"/>
            <a:ext cx="1270000" cy="369332"/>
          </a:xfrm>
          <a:prstGeom prst="rect">
            <a:avLst/>
          </a:prstGeom>
          <a:noFill/>
        </p:spPr>
        <p:txBody>
          <a:bodyPr vert="horz" wrap="square" lIns="63500" tIns="38100" rIns="63500" bIns="38100" rtlCol="0" anchor="t">
            <a:noAutofit/>
          </a:bodyPr>
          <a:lstStyle/>
          <a:p>
            <a:pPr algn="r"/>
            <a:r>
              <a:rPr lang="en-IN" sz="900">
                <a:solidFill>
                  <a:srgbClr val="55657A"/>
                </a:solidFill>
                <a:latin typeface="Calibri" panose="020F0502020204030204" pitchFamily="34" charset="0"/>
              </a:rPr>
              <a:t>7 / 22</a:t>
            </a:r>
          </a:p>
        </p:txBody>
      </p:sp>
      <p:pic>
        <p:nvPicPr>
          <p:cNvPr id="7" name="Picture 6">
            <a:extLst>
              <a:ext uri="{FF2B5EF4-FFF2-40B4-BE49-F238E27FC236}">
                <a16:creationId xmlns:a16="http://schemas.microsoft.com/office/drawing/2014/main" id="{E128F3B0-EA02-ABE0-5B7E-564ED88061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29756" y="2118142"/>
            <a:ext cx="5228844" cy="2418516"/>
          </a:xfrm>
          <a:prstGeom prst="rect">
            <a:avLst/>
          </a:prstGeom>
        </p:spPr>
      </p:pic>
      <p:sp>
        <p:nvSpPr>
          <p:cNvPr id="8" name="TextBox 7">
            <a:extLst>
              <a:ext uri="{FF2B5EF4-FFF2-40B4-BE49-F238E27FC236}">
                <a16:creationId xmlns:a16="http://schemas.microsoft.com/office/drawing/2014/main" id="{379A3C02-7E0A-99D9-B691-E744B89E5C9C}"/>
              </a:ext>
            </a:extLst>
          </p:cNvPr>
          <p:cNvSpPr txBox="1"/>
          <p:nvPr/>
        </p:nvSpPr>
        <p:spPr>
          <a:xfrm>
            <a:off x="533400" y="1168400"/>
            <a:ext cx="5667756" cy="369332"/>
          </a:xfrm>
          <a:prstGeom prst="rect">
            <a:avLst/>
          </a:prstGeom>
          <a:noFill/>
        </p:spPr>
        <p:txBody>
          <a:bodyPr vert="horz" wrap="square" rtlCol="0" anchor="t">
            <a:noAutofit/>
          </a:bodyPr>
          <a:lstStyle/>
          <a:p>
            <a:pPr marL="508000" indent="-228600">
              <a:spcAft>
                <a:spcPts val="600"/>
              </a:spcAft>
              <a:buFont typeface="+mj-lt"/>
              <a:buChar char="•"/>
            </a:pPr>
            <a:r>
              <a:rPr lang="en-IN" sz="1500" b="1">
                <a:solidFill>
                  <a:srgbClr val="1A1A1A"/>
                </a:solidFill>
                <a:latin typeface="Calibri" panose="020F0502020204030204" pitchFamily="34" charset="0"/>
              </a:rPr>
              <a:t>3,653 PNG files in five folders:</a:t>
            </a:r>
            <a:r>
              <a:rPr lang="en-IN" sz="1500">
                <a:solidFill>
                  <a:srgbClr val="1A1A1A"/>
                </a:solidFill>
                <a:latin typeface="Calibri" panose="020F0502020204030204" pitchFamily="34" charset="0"/>
              </a:rPr>
              <a:t> 2,716 unique radiographs after pixel-hash de-duplication</a:t>
            </a:r>
          </a:p>
          <a:p>
            <a:pPr marL="508000" indent="-228600">
              <a:spcAft>
                <a:spcPts val="600"/>
              </a:spcAft>
              <a:buFont typeface="+mj-lt"/>
              <a:buChar char="•"/>
            </a:pPr>
            <a:r>
              <a:rPr lang="en-IN" sz="1500">
                <a:solidFill>
                  <a:srgbClr val="1A1A1A"/>
                </a:solidFill>
                <a:latin typeface="Calibri" panose="020F0502020204030204" pitchFamily="34" charset="0"/>
              </a:rPr>
              <a:t>1,133 unique annotated radiographs; 1,598 unlabelled files; 50 unlabelled 'validation_data' files used as demo images</a:t>
            </a:r>
          </a:p>
          <a:p>
            <a:pPr marL="508000" indent="-228600">
              <a:spcAft>
                <a:spcPts val="600"/>
              </a:spcAft>
              <a:buFont typeface="+mj-lt"/>
              <a:buChar char="•"/>
            </a:pPr>
            <a:r>
              <a:rPr lang="en-IN" sz="1500" b="1">
                <a:solidFill>
                  <a:srgbClr val="1A1A1A"/>
                </a:solidFill>
                <a:latin typeface="Calibri" panose="020F0502020204030204" pitchFamily="34" charset="0"/>
              </a:rPr>
              <a:t>Three label levels:</a:t>
            </a:r>
            <a:r>
              <a:rPr lang="en-IN" sz="1500">
                <a:solidFill>
                  <a:srgbClr val="1A1A1A"/>
                </a:solidFill>
                <a:latin typeface="Calibri" panose="020F0502020204030204" pitchFamily="34" charset="0"/>
              </a:rPr>
              <a:t> quadrant (693), quadrant + enumeration (634, 18,095 tooth polygons), + disease (705, 3,529 findings)</a:t>
            </a:r>
          </a:p>
          <a:p>
            <a:pPr marL="508000" indent="-228600">
              <a:spcAft>
                <a:spcPts val="600"/>
              </a:spcAft>
              <a:buFont typeface="+mj-lt"/>
              <a:buChar char="•"/>
            </a:pPr>
            <a:r>
              <a:rPr lang="en-IN" sz="1500" b="1">
                <a:solidFill>
                  <a:srgbClr val="1A1A1A"/>
                </a:solidFill>
                <a:latin typeface="Calibri" panose="020F0502020204030204" pitchFamily="34" charset="0"/>
              </a:rPr>
              <a:t>Finding labels:</a:t>
            </a:r>
            <a:r>
              <a:rPr lang="en-IN" sz="1500">
                <a:solidFill>
                  <a:srgbClr val="1A1A1A"/>
                </a:solidFill>
                <a:latin typeface="Calibri" panose="020F0502020204030204" pitchFamily="34" charset="0"/>
              </a:rPr>
              <a:t> Caries 2,189 · Deep Caries 578 · Impacted 604 · Periapical Lesion 158</a:t>
            </a:r>
          </a:p>
          <a:p>
            <a:pPr marL="508000" indent="-228600">
              <a:spcAft>
                <a:spcPts val="600"/>
              </a:spcAft>
              <a:buFont typeface="+mj-lt"/>
              <a:buChar char="•"/>
            </a:pPr>
            <a:r>
              <a:rPr lang="en-IN" sz="1500">
                <a:solidFill>
                  <a:srgbClr val="1A1A1A"/>
                </a:solidFill>
                <a:latin typeface="Calibri" panose="020F0502020204030204" pitchFamily="34" charset="0"/>
              </a:rPr>
              <a:t>No healthy-tooth label and no patient identifier</a:t>
            </a:r>
          </a:p>
        </p:txBody>
      </p:sp>
      <p:sp>
        <p:nvSpPr>
          <p:cNvPr id="9" name="Rectangle: Rounded Corners 8">
            <a:extLst>
              <a:ext uri="{FF2B5EF4-FFF2-40B4-BE49-F238E27FC236}">
                <a16:creationId xmlns:a16="http://schemas.microsoft.com/office/drawing/2014/main" id="{2E2BA048-3BC5-BA7C-1638-AD56DA592626}"/>
              </a:ext>
            </a:extLst>
          </p:cNvPr>
          <p:cNvSpPr/>
          <p:nvPr/>
        </p:nvSpPr>
        <p:spPr>
          <a:xfrm>
            <a:off x="533400" y="5588000"/>
            <a:ext cx="11125200" cy="787400"/>
          </a:xfrm>
          <a:prstGeom prst="roundRect">
            <a:avLst>
              <a:gd name="adj" fmla="val 15000"/>
            </a:avLst>
          </a:prstGeom>
          <a:solidFill>
            <a:srgbClr val="F0FDFA"/>
          </a:solidFill>
          <a:ln w="12700">
            <a:solidFill>
              <a:srgbClr val="0F766E"/>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38100" rIns="152400" bIns="38100" rtlCol="0" anchor="ctr">
            <a:noAutofit/>
          </a:bodyPr>
          <a:lstStyle/>
          <a:p>
            <a:r>
              <a:rPr lang="en-US" sz="1400">
                <a:solidFill>
                  <a:srgbClr val="115E59"/>
                </a:solidFill>
                <a:latin typeface="Calibri" panose="020F0502020204030204" pitchFamily="34" charset="0"/>
              </a:rPr>
              <a:t>638 groups of duplicate files exist across folders, so splitting by file name would leak films between train and test.</a:t>
            </a:r>
            <a:endParaRPr lang="en-IN" sz="1400">
              <a:solidFill>
                <a:srgbClr val="115E59"/>
              </a:solidFill>
              <a:latin typeface="Calibri" panose="020F0502020204030204" pitchFamily="34" charset="0"/>
            </a:endParaRPr>
          </a:p>
        </p:txBody>
      </p:sp>
    </p:spTree>
    <p:extLst>
      <p:ext uri="{BB962C8B-B14F-4D97-AF65-F5344CB8AC3E}">
        <p14:creationId xmlns:p14="http://schemas.microsoft.com/office/powerpoint/2010/main" val="1668622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DBF2076-F0F1-B013-7B08-8F60572AFD5A}"/>
              </a:ext>
            </a:extLst>
          </p:cNvPr>
          <p:cNvSpPr txBox="1"/>
          <p:nvPr/>
        </p:nvSpPr>
        <p:spPr>
          <a:xfrm>
            <a:off x="508000" y="279400"/>
            <a:ext cx="11176000" cy="369332"/>
          </a:xfrm>
          <a:prstGeom prst="rect">
            <a:avLst/>
          </a:prstGeom>
          <a:noFill/>
        </p:spPr>
        <p:txBody>
          <a:bodyPr vert="horz" wrap="square" lIns="63500" tIns="38100" rIns="63500" bIns="38100" rtlCol="0" anchor="ctr">
            <a:noAutofit/>
          </a:bodyPr>
          <a:lstStyle/>
          <a:p>
            <a:r>
              <a:rPr lang="en-IN" sz="2600" b="1">
                <a:solidFill>
                  <a:srgbClr val="1F3A5F"/>
                </a:solidFill>
                <a:latin typeface="Calibri" panose="020F0502020204030204" pitchFamily="34" charset="0"/>
              </a:rPr>
              <a:t>Splits and class imbalance</a:t>
            </a:r>
          </a:p>
        </p:txBody>
      </p:sp>
      <p:sp>
        <p:nvSpPr>
          <p:cNvPr id="3" name="Rectangle 2">
            <a:extLst>
              <a:ext uri="{FF2B5EF4-FFF2-40B4-BE49-F238E27FC236}">
                <a16:creationId xmlns:a16="http://schemas.microsoft.com/office/drawing/2014/main" id="{0ECE441D-9A15-DF35-E1E3-E420CE6A70AB}"/>
              </a:ext>
            </a:extLst>
          </p:cNvPr>
          <p:cNvSpPr/>
          <p:nvPr/>
        </p:nvSpPr>
        <p:spPr>
          <a:xfrm>
            <a:off x="533400" y="939800"/>
            <a:ext cx="889000" cy="38100"/>
          </a:xfrm>
          <a:prstGeom prst="rect">
            <a:avLst/>
          </a:prstGeom>
          <a:solidFill>
            <a:srgbClr val="0F766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F6523044-0D1C-B1B8-DC9E-7E847929C5E7}"/>
              </a:ext>
            </a:extLst>
          </p:cNvPr>
          <p:cNvSpPr txBox="1"/>
          <p:nvPr/>
        </p:nvSpPr>
        <p:spPr>
          <a:xfrm>
            <a:off x="508000" y="6502400"/>
            <a:ext cx="8890000" cy="369332"/>
          </a:xfrm>
          <a:prstGeom prst="rect">
            <a:avLst/>
          </a:prstGeom>
          <a:noFill/>
        </p:spPr>
        <p:txBody>
          <a:bodyPr vert="horz" wrap="square" lIns="63500" tIns="38100" rIns="63500" bIns="38100" rtlCol="0" anchor="t">
            <a:noAutofit/>
          </a:bodyPr>
          <a:lstStyle/>
          <a:p>
            <a:r>
              <a:rPr lang="it-IT" sz="900">
                <a:solidFill>
                  <a:srgbClr val="55657A"/>
                </a:solidFill>
                <a:latin typeface="Calibri" panose="020F0502020204030204" pitchFamily="34" charset="0"/>
              </a:rPr>
              <a:t>DentaMind AI · B.Tech Capstone · PCCOE CSE (AI &amp; ML) 2026-27</a:t>
            </a:r>
            <a:endParaRPr lang="en-IN" sz="900">
              <a:solidFill>
                <a:srgbClr val="55657A"/>
              </a:solidFill>
              <a:latin typeface="Calibri" panose="020F0502020204030204" pitchFamily="34" charset="0"/>
            </a:endParaRPr>
          </a:p>
        </p:txBody>
      </p:sp>
      <p:sp>
        <p:nvSpPr>
          <p:cNvPr id="5" name="TextBox 4">
            <a:extLst>
              <a:ext uri="{FF2B5EF4-FFF2-40B4-BE49-F238E27FC236}">
                <a16:creationId xmlns:a16="http://schemas.microsoft.com/office/drawing/2014/main" id="{200AAAFA-BCA5-5CE4-ED85-1AB8D4FEFE10}"/>
              </a:ext>
            </a:extLst>
          </p:cNvPr>
          <p:cNvSpPr txBox="1"/>
          <p:nvPr/>
        </p:nvSpPr>
        <p:spPr>
          <a:xfrm>
            <a:off x="10414000" y="6502400"/>
            <a:ext cx="1270000" cy="369332"/>
          </a:xfrm>
          <a:prstGeom prst="rect">
            <a:avLst/>
          </a:prstGeom>
          <a:noFill/>
        </p:spPr>
        <p:txBody>
          <a:bodyPr vert="horz" wrap="square" lIns="63500" tIns="38100" rIns="63500" bIns="38100" rtlCol="0" anchor="t">
            <a:noAutofit/>
          </a:bodyPr>
          <a:lstStyle/>
          <a:p>
            <a:pPr algn="r"/>
            <a:r>
              <a:rPr lang="en-IN" sz="900">
                <a:solidFill>
                  <a:srgbClr val="55657A"/>
                </a:solidFill>
                <a:latin typeface="Calibri" panose="020F0502020204030204" pitchFamily="34" charset="0"/>
              </a:rPr>
              <a:t>8 / 22</a:t>
            </a:r>
          </a:p>
        </p:txBody>
      </p:sp>
      <p:pic>
        <p:nvPicPr>
          <p:cNvPr id="7" name="Picture 6">
            <a:extLst>
              <a:ext uri="{FF2B5EF4-FFF2-40B4-BE49-F238E27FC236}">
                <a16:creationId xmlns:a16="http://schemas.microsoft.com/office/drawing/2014/main" id="{B2057ADE-3FEF-D03E-A0CE-B30B580D0D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2448404"/>
            <a:ext cx="5562600" cy="2583491"/>
          </a:xfrm>
          <a:prstGeom prst="rect">
            <a:avLst/>
          </a:prstGeom>
        </p:spPr>
      </p:pic>
      <p:sp>
        <p:nvSpPr>
          <p:cNvPr id="8" name="TextBox 7">
            <a:extLst>
              <a:ext uri="{FF2B5EF4-FFF2-40B4-BE49-F238E27FC236}">
                <a16:creationId xmlns:a16="http://schemas.microsoft.com/office/drawing/2014/main" id="{0C4F7EFF-5F8C-7F51-425A-A4D1EE716B06}"/>
              </a:ext>
            </a:extLst>
          </p:cNvPr>
          <p:cNvSpPr txBox="1"/>
          <p:nvPr/>
        </p:nvSpPr>
        <p:spPr>
          <a:xfrm>
            <a:off x="533400" y="1168400"/>
            <a:ext cx="5334000" cy="369332"/>
          </a:xfrm>
          <a:prstGeom prst="rect">
            <a:avLst/>
          </a:prstGeom>
          <a:noFill/>
        </p:spPr>
        <p:txBody>
          <a:bodyPr vert="horz" wrap="square" rtlCol="0" anchor="t">
            <a:noAutofit/>
          </a:bodyPr>
          <a:lstStyle/>
          <a:p>
            <a:pPr marL="508000" indent="-228600">
              <a:spcAft>
                <a:spcPts val="600"/>
              </a:spcAft>
              <a:buFont typeface="+mj-lt"/>
              <a:buChar char="•"/>
            </a:pPr>
            <a:r>
              <a:rPr lang="en-IN" sz="1500" b="1">
                <a:solidFill>
                  <a:srgbClr val="1A1A1A"/>
                </a:solidFill>
                <a:latin typeface="Calibri" panose="020F0502020204030204" pitchFamily="34" charset="0"/>
              </a:rPr>
              <a:t>Duplicate-aware split per unique radiograph:</a:t>
            </a:r>
            <a:r>
              <a:rPr lang="en-IN" sz="1500">
                <a:solidFill>
                  <a:srgbClr val="1A1A1A"/>
                </a:solidFill>
                <a:latin typeface="Calibri" panose="020F0502020204030204" pitchFamily="34" charset="0"/>
              </a:rPr>
              <a:t> train 794 · validation 113 · calibration 113 · test 113</a:t>
            </a:r>
          </a:p>
          <a:p>
            <a:pPr marL="508000" indent="-228600">
              <a:spcAft>
                <a:spcPts val="600"/>
              </a:spcAft>
              <a:buFont typeface="+mj-lt"/>
              <a:buChar char="•"/>
            </a:pPr>
            <a:r>
              <a:rPr lang="en-IN" sz="1500" b="1">
                <a:solidFill>
                  <a:srgbClr val="1A1A1A"/>
                </a:solidFill>
                <a:latin typeface="Calibri" panose="020F0502020204030204" pitchFamily="34" charset="0"/>
              </a:rPr>
              <a:t>Classifier crops (train):</a:t>
            </a:r>
            <a:r>
              <a:rPr lang="en-IN" sz="1500">
                <a:solidFill>
                  <a:srgbClr val="1A1A1A"/>
                </a:solidFill>
                <a:latin typeface="Calibri" panose="020F0502020204030204" pitchFamily="34" charset="0"/>
              </a:rPr>
              <a:t> Caries 1,550 · Deep Caries 438 · Impacted 412 · Periapical Lesion 120</a:t>
            </a:r>
          </a:p>
          <a:p>
            <a:pPr marL="508000" indent="-228600">
              <a:spcAft>
                <a:spcPts val="600"/>
              </a:spcAft>
              <a:buFont typeface="+mj-lt"/>
              <a:buChar char="•"/>
            </a:pPr>
            <a:r>
              <a:rPr lang="en-IN" sz="1500" b="1">
                <a:solidFill>
                  <a:srgbClr val="1A1A1A"/>
                </a:solidFill>
                <a:latin typeface="Calibri" panose="020F0502020204030204" pitchFamily="34" charset="0"/>
              </a:rPr>
              <a:t>Validation crops:</a:t>
            </a:r>
            <a:r>
              <a:rPr lang="en-IN" sz="1500">
                <a:solidFill>
                  <a:srgbClr val="1A1A1A"/>
                </a:solidFill>
                <a:latin typeface="Calibri" panose="020F0502020204030204" pitchFamily="34" charset="0"/>
              </a:rPr>
              <a:t> 331 (205 / 45 / 72 / 9); test crops: 354 (228 / 48 / 65 / 13)</a:t>
            </a:r>
          </a:p>
          <a:p>
            <a:pPr marL="508000" indent="-228600">
              <a:spcAft>
                <a:spcPts val="600"/>
              </a:spcAft>
              <a:buFont typeface="+mj-lt"/>
              <a:buChar char="•"/>
            </a:pPr>
            <a:r>
              <a:rPr lang="en-IN" sz="1500">
                <a:solidFill>
                  <a:srgbClr val="1A1A1A"/>
                </a:solidFill>
                <a:latin typeface="Calibri" panose="020F0502020204030204" pitchFamily="34" charset="0"/>
              </a:rPr>
              <a:t>Only 9 validation and 13 test Periapical Lesion examples, so rare-class metrics are very noisy</a:t>
            </a:r>
          </a:p>
          <a:p>
            <a:pPr marL="508000" indent="-228600">
              <a:spcAft>
                <a:spcPts val="600"/>
              </a:spcAft>
              <a:buFont typeface="+mj-lt"/>
              <a:buChar char="•"/>
            </a:pPr>
            <a:r>
              <a:rPr lang="en-IN" sz="1500" b="1">
                <a:solidFill>
                  <a:srgbClr val="1A1A1A"/>
                </a:solidFill>
                <a:latin typeface="Calibri" panose="020F0502020204030204" pitchFamily="34" charset="0"/>
              </a:rPr>
              <a:t>Leakage audit:</a:t>
            </a:r>
            <a:r>
              <a:rPr lang="en-IN" sz="1500">
                <a:solidFill>
                  <a:srgbClr val="1A1A1A"/>
                </a:solidFill>
                <a:latin typeface="Calibri" panose="020F0502020204030204" pitchFamily="34" charset="0"/>
              </a:rPr>
              <a:t> 18 automated checks, 17 pass, 1 informational warning</a:t>
            </a:r>
          </a:p>
        </p:txBody>
      </p:sp>
    </p:spTree>
    <p:extLst>
      <p:ext uri="{BB962C8B-B14F-4D97-AF65-F5344CB8AC3E}">
        <p14:creationId xmlns:p14="http://schemas.microsoft.com/office/powerpoint/2010/main" val="36687462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5CF33DB-C6E0-8FC7-41E8-8F81309987C5}"/>
              </a:ext>
            </a:extLst>
          </p:cNvPr>
          <p:cNvSpPr txBox="1"/>
          <p:nvPr/>
        </p:nvSpPr>
        <p:spPr>
          <a:xfrm>
            <a:off x="508000" y="279400"/>
            <a:ext cx="11176000" cy="369332"/>
          </a:xfrm>
          <a:prstGeom prst="rect">
            <a:avLst/>
          </a:prstGeom>
          <a:noFill/>
        </p:spPr>
        <p:txBody>
          <a:bodyPr vert="horz" wrap="square" lIns="63500" tIns="38100" rIns="63500" bIns="38100" rtlCol="0" anchor="ctr">
            <a:noAutofit/>
          </a:bodyPr>
          <a:lstStyle/>
          <a:p>
            <a:r>
              <a:rPr lang="en-IN" sz="2600" b="1">
                <a:solidFill>
                  <a:srgbClr val="1F3A5F"/>
                </a:solidFill>
                <a:latin typeface="Calibri" panose="020F0502020204030204" pitchFamily="34" charset="0"/>
              </a:rPr>
              <a:t>Methodology: AI inference pipeline</a:t>
            </a:r>
          </a:p>
        </p:txBody>
      </p:sp>
      <p:sp>
        <p:nvSpPr>
          <p:cNvPr id="3" name="Rectangle 2">
            <a:extLst>
              <a:ext uri="{FF2B5EF4-FFF2-40B4-BE49-F238E27FC236}">
                <a16:creationId xmlns:a16="http://schemas.microsoft.com/office/drawing/2014/main" id="{E52EB74F-7D4D-41B9-C036-6077D2F8146B}"/>
              </a:ext>
            </a:extLst>
          </p:cNvPr>
          <p:cNvSpPr/>
          <p:nvPr/>
        </p:nvSpPr>
        <p:spPr>
          <a:xfrm>
            <a:off x="533400" y="939800"/>
            <a:ext cx="889000" cy="38100"/>
          </a:xfrm>
          <a:prstGeom prst="rect">
            <a:avLst/>
          </a:prstGeom>
          <a:solidFill>
            <a:srgbClr val="0F766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58EF92AD-3DE6-3889-E990-EB9A69D003CE}"/>
              </a:ext>
            </a:extLst>
          </p:cNvPr>
          <p:cNvSpPr txBox="1"/>
          <p:nvPr/>
        </p:nvSpPr>
        <p:spPr>
          <a:xfrm>
            <a:off x="508000" y="6502400"/>
            <a:ext cx="8890000" cy="369332"/>
          </a:xfrm>
          <a:prstGeom prst="rect">
            <a:avLst/>
          </a:prstGeom>
          <a:noFill/>
        </p:spPr>
        <p:txBody>
          <a:bodyPr vert="horz" wrap="square" lIns="63500" tIns="38100" rIns="63500" bIns="38100" rtlCol="0" anchor="t">
            <a:noAutofit/>
          </a:bodyPr>
          <a:lstStyle/>
          <a:p>
            <a:r>
              <a:rPr lang="it-IT" sz="900">
                <a:solidFill>
                  <a:srgbClr val="55657A"/>
                </a:solidFill>
                <a:latin typeface="Calibri" panose="020F0502020204030204" pitchFamily="34" charset="0"/>
              </a:rPr>
              <a:t>DentaMind AI · B.Tech Capstone · PCCOE CSE (AI &amp; ML) 2026-27</a:t>
            </a:r>
            <a:endParaRPr lang="en-IN" sz="900">
              <a:solidFill>
                <a:srgbClr val="55657A"/>
              </a:solidFill>
              <a:latin typeface="Calibri" panose="020F0502020204030204" pitchFamily="34" charset="0"/>
            </a:endParaRPr>
          </a:p>
        </p:txBody>
      </p:sp>
      <p:sp>
        <p:nvSpPr>
          <p:cNvPr id="5" name="TextBox 4">
            <a:extLst>
              <a:ext uri="{FF2B5EF4-FFF2-40B4-BE49-F238E27FC236}">
                <a16:creationId xmlns:a16="http://schemas.microsoft.com/office/drawing/2014/main" id="{64D2E2E1-40CC-5DD3-2D9C-ACBC720003A7}"/>
              </a:ext>
            </a:extLst>
          </p:cNvPr>
          <p:cNvSpPr txBox="1"/>
          <p:nvPr/>
        </p:nvSpPr>
        <p:spPr>
          <a:xfrm>
            <a:off x="10414000" y="6502400"/>
            <a:ext cx="1270000" cy="369332"/>
          </a:xfrm>
          <a:prstGeom prst="rect">
            <a:avLst/>
          </a:prstGeom>
          <a:noFill/>
        </p:spPr>
        <p:txBody>
          <a:bodyPr vert="horz" wrap="square" lIns="63500" tIns="38100" rIns="63500" bIns="38100" rtlCol="0" anchor="t">
            <a:noAutofit/>
          </a:bodyPr>
          <a:lstStyle/>
          <a:p>
            <a:pPr algn="r"/>
            <a:r>
              <a:rPr lang="en-IN" sz="900">
                <a:solidFill>
                  <a:srgbClr val="55657A"/>
                </a:solidFill>
                <a:latin typeface="Calibri" panose="020F0502020204030204" pitchFamily="34" charset="0"/>
              </a:rPr>
              <a:t>9 / 22</a:t>
            </a:r>
          </a:p>
        </p:txBody>
      </p:sp>
      <p:sp>
        <p:nvSpPr>
          <p:cNvPr id="6" name="Rectangle: Rounded Corners 5">
            <a:extLst>
              <a:ext uri="{FF2B5EF4-FFF2-40B4-BE49-F238E27FC236}">
                <a16:creationId xmlns:a16="http://schemas.microsoft.com/office/drawing/2014/main" id="{DF9A0B11-3329-3B96-3882-0E6E00CADC65}"/>
              </a:ext>
            </a:extLst>
          </p:cNvPr>
          <p:cNvSpPr/>
          <p:nvPr/>
        </p:nvSpPr>
        <p:spPr>
          <a:xfrm>
            <a:off x="665093" y="1461328"/>
            <a:ext cx="1604066" cy="1054100"/>
          </a:xfrm>
          <a:prstGeom prst="roundRect">
            <a:avLst>
              <a:gd name="adj" fmla="val 12000"/>
            </a:avLst>
          </a:prstGeom>
          <a:solidFill>
            <a:srgbClr val="FFFFFF"/>
          </a:solidFill>
          <a:ln w="12603">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7288" tIns="34373" rIns="57288" bIns="34373" rtlCol="0" anchor="ctr">
            <a:noAutofit/>
          </a:bodyPr>
          <a:lstStyle/>
          <a:p>
            <a:pPr algn="ctr"/>
            <a:r>
              <a:rPr lang="en-US" sz="1200" b="1">
                <a:solidFill>
                  <a:srgbClr val="1A1A1A"/>
                </a:solidFill>
                <a:latin typeface="Calibri" panose="020F0502020204030204" pitchFamily="34" charset="0"/>
              </a:rPr>
              <a:t>1  Input radiograph</a:t>
            </a:r>
          </a:p>
          <a:p>
            <a:pPr algn="ctr"/>
            <a:r>
              <a:rPr lang="en-US" sz="1050">
                <a:solidFill>
                  <a:srgbClr val="5A5A5A"/>
                </a:solidFill>
                <a:latin typeface="Calibri" panose="020F0502020204030204" pitchFamily="34" charset="0"/>
              </a:rPr>
              <a:t>upload or test image (PNG/JPEG)</a:t>
            </a:r>
            <a:endParaRPr lang="en-IN" sz="1050">
              <a:solidFill>
                <a:srgbClr val="5A5A5A"/>
              </a:solidFill>
              <a:latin typeface="Calibri" panose="020F0502020204030204" pitchFamily="34" charset="0"/>
            </a:endParaRPr>
          </a:p>
        </p:txBody>
      </p:sp>
      <p:sp>
        <p:nvSpPr>
          <p:cNvPr id="7" name="Rectangle: Rounded Corners 6">
            <a:extLst>
              <a:ext uri="{FF2B5EF4-FFF2-40B4-BE49-F238E27FC236}">
                <a16:creationId xmlns:a16="http://schemas.microsoft.com/office/drawing/2014/main" id="{440D4072-AA21-8A4B-FF7E-CC628FB97EDA}"/>
              </a:ext>
            </a:extLst>
          </p:cNvPr>
          <p:cNvSpPr/>
          <p:nvPr/>
        </p:nvSpPr>
        <p:spPr>
          <a:xfrm>
            <a:off x="2521226" y="1461328"/>
            <a:ext cx="1604065" cy="1054100"/>
          </a:xfrm>
          <a:prstGeom prst="roundRect">
            <a:avLst>
              <a:gd name="adj" fmla="val 12000"/>
            </a:avLst>
          </a:prstGeom>
          <a:solidFill>
            <a:srgbClr val="FFFFFF"/>
          </a:solidFill>
          <a:ln w="12603">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7288" tIns="34373" rIns="57288" bIns="34373" rtlCol="0" anchor="ctr">
            <a:noAutofit/>
          </a:bodyPr>
          <a:lstStyle/>
          <a:p>
            <a:pPr algn="ctr"/>
            <a:r>
              <a:rPr lang="en-IN" sz="1200" b="1">
                <a:solidFill>
                  <a:srgbClr val="1A1A1A"/>
                </a:solidFill>
                <a:latin typeface="Calibri" panose="020F0502020204030204" pitchFamily="34" charset="0"/>
              </a:rPr>
              <a:t>2  Pre-processing</a:t>
            </a:r>
          </a:p>
          <a:p>
            <a:pPr algn="ctr"/>
            <a:r>
              <a:rPr lang="en-IN" sz="1050">
                <a:solidFill>
                  <a:srgbClr val="5A5A5A"/>
                </a:solidFill>
                <a:latin typeface="Calibri" panose="020F0502020204030204" pitchFamily="34" charset="0"/>
              </a:rPr>
              <a:t>load grayscale → 3-channel tensor</a:t>
            </a:r>
          </a:p>
        </p:txBody>
      </p:sp>
      <p:sp>
        <p:nvSpPr>
          <p:cNvPr id="8" name="Rectangle: Rounded Corners 7">
            <a:extLst>
              <a:ext uri="{FF2B5EF4-FFF2-40B4-BE49-F238E27FC236}">
                <a16:creationId xmlns:a16="http://schemas.microsoft.com/office/drawing/2014/main" id="{AAC71F70-07A6-8675-A255-8201BAD0BA40}"/>
              </a:ext>
            </a:extLst>
          </p:cNvPr>
          <p:cNvSpPr/>
          <p:nvPr/>
        </p:nvSpPr>
        <p:spPr>
          <a:xfrm>
            <a:off x="4377359" y="1461328"/>
            <a:ext cx="1604065" cy="1054100"/>
          </a:xfrm>
          <a:prstGeom prst="roundRect">
            <a:avLst>
              <a:gd name="adj" fmla="val 12000"/>
            </a:avLst>
          </a:prstGeom>
          <a:solidFill>
            <a:srgbClr val="E2E2E2"/>
          </a:solidFill>
          <a:ln w="12603">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7288" tIns="34373" rIns="57288" bIns="34373" rtlCol="0" anchor="ctr">
            <a:noAutofit/>
          </a:bodyPr>
          <a:lstStyle/>
          <a:p>
            <a:pPr algn="ctr"/>
            <a:r>
              <a:rPr lang="en-US" sz="1200" b="1">
                <a:solidFill>
                  <a:srgbClr val="1A1A1A"/>
                </a:solidFill>
                <a:latin typeface="Calibri" panose="020F0502020204030204" pitchFamily="34" charset="0"/>
              </a:rPr>
              <a:t>3  Tooth detection</a:t>
            </a:r>
          </a:p>
          <a:p>
            <a:pPr algn="ctr"/>
            <a:r>
              <a:rPr lang="en-US" sz="1050">
                <a:solidFill>
                  <a:srgbClr val="5A5A5A"/>
                </a:solidFill>
                <a:latin typeface="Calibri" panose="020F0502020204030204" pitchFamily="34" charset="0"/>
              </a:rPr>
              <a:t>Faster R-CNN, score ≥ 0.3</a:t>
            </a:r>
            <a:endParaRPr lang="en-IN" sz="1050">
              <a:solidFill>
                <a:srgbClr val="5A5A5A"/>
              </a:solidFill>
              <a:latin typeface="Calibri" panose="020F0502020204030204" pitchFamily="34" charset="0"/>
            </a:endParaRPr>
          </a:p>
        </p:txBody>
      </p:sp>
      <p:sp>
        <p:nvSpPr>
          <p:cNvPr id="9" name="Rectangle: Rounded Corners 8">
            <a:extLst>
              <a:ext uri="{FF2B5EF4-FFF2-40B4-BE49-F238E27FC236}">
                <a16:creationId xmlns:a16="http://schemas.microsoft.com/office/drawing/2014/main" id="{80694EBF-1A3B-8085-FD6F-DBAA5272FEAA}"/>
              </a:ext>
            </a:extLst>
          </p:cNvPr>
          <p:cNvSpPr/>
          <p:nvPr/>
        </p:nvSpPr>
        <p:spPr>
          <a:xfrm>
            <a:off x="6233491" y="1461328"/>
            <a:ext cx="1604065" cy="1054100"/>
          </a:xfrm>
          <a:prstGeom prst="roundRect">
            <a:avLst>
              <a:gd name="adj" fmla="val 12000"/>
            </a:avLst>
          </a:prstGeom>
          <a:solidFill>
            <a:srgbClr val="E2E2E2"/>
          </a:solidFill>
          <a:ln w="12603">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7288" tIns="34373" rIns="57288" bIns="34373" rtlCol="0" anchor="ctr">
            <a:noAutofit/>
          </a:bodyPr>
          <a:lstStyle/>
          <a:p>
            <a:pPr algn="ctr"/>
            <a:r>
              <a:rPr lang="en-IN" sz="1200" b="1">
                <a:solidFill>
                  <a:srgbClr val="1A1A1A"/>
                </a:solidFill>
                <a:latin typeface="Calibri" panose="020F0502020204030204" pitchFamily="34" charset="0"/>
              </a:rPr>
              <a:t>4  FDI numbering</a:t>
            </a:r>
          </a:p>
          <a:p>
            <a:pPr algn="ctr"/>
            <a:r>
              <a:rPr lang="en-IN" sz="1050">
                <a:solidFill>
                  <a:srgbClr val="5A5A5A"/>
                </a:solidFill>
                <a:latin typeface="Calibri" panose="020F0502020204030204" pitchFamily="34" charset="0"/>
              </a:rPr>
              <a:t>Faster R-CNN, matched at IoU ≥ 0.5</a:t>
            </a:r>
          </a:p>
        </p:txBody>
      </p:sp>
      <p:sp>
        <p:nvSpPr>
          <p:cNvPr id="10" name="Rectangle: Rounded Corners 9">
            <a:extLst>
              <a:ext uri="{FF2B5EF4-FFF2-40B4-BE49-F238E27FC236}">
                <a16:creationId xmlns:a16="http://schemas.microsoft.com/office/drawing/2014/main" id="{6F2A85F2-5FC3-B1F3-D271-06CF979B72EC}"/>
              </a:ext>
            </a:extLst>
          </p:cNvPr>
          <p:cNvSpPr/>
          <p:nvPr/>
        </p:nvSpPr>
        <p:spPr>
          <a:xfrm>
            <a:off x="8089624" y="1461328"/>
            <a:ext cx="1604065" cy="1054100"/>
          </a:xfrm>
          <a:prstGeom prst="roundRect">
            <a:avLst>
              <a:gd name="adj" fmla="val 12000"/>
            </a:avLst>
          </a:prstGeom>
          <a:solidFill>
            <a:srgbClr val="E2E2E2"/>
          </a:solidFill>
          <a:ln w="12603">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7288" tIns="34373" rIns="57288" bIns="34373" rtlCol="0" anchor="ctr">
            <a:noAutofit/>
          </a:bodyPr>
          <a:lstStyle/>
          <a:p>
            <a:pPr algn="ctr"/>
            <a:r>
              <a:rPr lang="en-US" sz="1200" b="1">
                <a:solidFill>
                  <a:srgbClr val="1A1A1A"/>
                </a:solidFill>
                <a:latin typeface="Calibri" panose="020F0502020204030204" pitchFamily="34" charset="0"/>
              </a:rPr>
              <a:t>5  Tooth segmentation</a:t>
            </a:r>
          </a:p>
          <a:p>
            <a:pPr algn="ctr"/>
            <a:r>
              <a:rPr lang="en-US" sz="1050">
                <a:solidFill>
                  <a:srgbClr val="5A5A5A"/>
                </a:solidFill>
                <a:latin typeface="Calibri" panose="020F0502020204030204" pitchFamily="34" charset="0"/>
              </a:rPr>
              <a:t>Mask R-CNN outline per tooth</a:t>
            </a:r>
            <a:endParaRPr lang="en-IN" sz="1050">
              <a:solidFill>
                <a:srgbClr val="5A5A5A"/>
              </a:solidFill>
              <a:latin typeface="Calibri" panose="020F0502020204030204" pitchFamily="34" charset="0"/>
            </a:endParaRPr>
          </a:p>
        </p:txBody>
      </p:sp>
      <p:sp>
        <p:nvSpPr>
          <p:cNvPr id="11" name="Rectangle: Rounded Corners 10">
            <a:extLst>
              <a:ext uri="{FF2B5EF4-FFF2-40B4-BE49-F238E27FC236}">
                <a16:creationId xmlns:a16="http://schemas.microsoft.com/office/drawing/2014/main" id="{CEF3D568-3293-47BF-F636-0716DB513796}"/>
              </a:ext>
            </a:extLst>
          </p:cNvPr>
          <p:cNvSpPr/>
          <p:nvPr/>
        </p:nvSpPr>
        <p:spPr>
          <a:xfrm>
            <a:off x="9945756" y="1461328"/>
            <a:ext cx="1604065" cy="1054100"/>
          </a:xfrm>
          <a:prstGeom prst="roundRect">
            <a:avLst>
              <a:gd name="adj" fmla="val 12000"/>
            </a:avLst>
          </a:prstGeom>
          <a:solidFill>
            <a:srgbClr val="FFFFFF"/>
          </a:solidFill>
          <a:ln w="12603">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7288" tIns="34373" rIns="57288" bIns="34373" rtlCol="0" anchor="ctr">
            <a:noAutofit/>
          </a:bodyPr>
          <a:lstStyle/>
          <a:p>
            <a:pPr algn="ctr"/>
            <a:r>
              <a:rPr lang="en-IN" sz="1200" b="1">
                <a:solidFill>
                  <a:srgbClr val="1A1A1A"/>
                </a:solidFill>
                <a:latin typeface="Calibri" panose="020F0502020204030204" pitchFamily="34" charset="0"/>
              </a:rPr>
              <a:t>6  Tooth crops</a:t>
            </a:r>
          </a:p>
          <a:p>
            <a:pPr algn="ctr"/>
            <a:r>
              <a:rPr lang="en-IN" sz="1050">
                <a:solidFill>
                  <a:srgbClr val="5A5A5A"/>
                </a:solidFill>
                <a:latin typeface="Calibri" panose="020F0502020204030204" pitchFamily="34" charset="0"/>
              </a:rPr>
              <a:t>box + 10 % padding, 224 px, ImageNet norm.</a:t>
            </a:r>
          </a:p>
        </p:txBody>
      </p:sp>
      <p:cxnSp>
        <p:nvCxnSpPr>
          <p:cNvPr id="12" name="Straight Arrow Connector 11">
            <a:extLst>
              <a:ext uri="{FF2B5EF4-FFF2-40B4-BE49-F238E27FC236}">
                <a16:creationId xmlns:a16="http://schemas.microsoft.com/office/drawing/2014/main" id="{3E09A83D-E877-0882-BE36-A63AEC456E1E}"/>
              </a:ext>
            </a:extLst>
          </p:cNvPr>
          <p:cNvCxnSpPr>
            <a:cxnSpLocks/>
            <a:stCxn id="6" idx="3"/>
            <a:endCxn id="7" idx="1"/>
          </p:cNvCxnSpPr>
          <p:nvPr/>
        </p:nvCxnSpPr>
        <p:spPr>
          <a:xfrm>
            <a:off x="2269159" y="1988378"/>
            <a:ext cx="252067" cy="0"/>
          </a:xfrm>
          <a:prstGeom prst="straightConnector1">
            <a:avLst/>
          </a:prstGeom>
          <a:ln w="14322">
            <a:solidFill>
              <a:srgbClr val="404040"/>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27E592E1-A253-0227-03F3-8C50D0224385}"/>
              </a:ext>
            </a:extLst>
          </p:cNvPr>
          <p:cNvCxnSpPr>
            <a:cxnSpLocks/>
            <a:stCxn id="7" idx="3"/>
            <a:endCxn id="8" idx="1"/>
          </p:cNvCxnSpPr>
          <p:nvPr/>
        </p:nvCxnSpPr>
        <p:spPr>
          <a:xfrm>
            <a:off x="4125291" y="1988378"/>
            <a:ext cx="252068" cy="0"/>
          </a:xfrm>
          <a:prstGeom prst="straightConnector1">
            <a:avLst/>
          </a:prstGeom>
          <a:ln w="14322">
            <a:solidFill>
              <a:srgbClr val="404040"/>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DA4DAF45-7597-D1E3-8ED4-A9A23440CB9E}"/>
              </a:ext>
            </a:extLst>
          </p:cNvPr>
          <p:cNvCxnSpPr>
            <a:cxnSpLocks/>
            <a:stCxn id="8" idx="3"/>
            <a:endCxn id="9" idx="1"/>
          </p:cNvCxnSpPr>
          <p:nvPr/>
        </p:nvCxnSpPr>
        <p:spPr>
          <a:xfrm>
            <a:off x="5981424" y="1988378"/>
            <a:ext cx="252067" cy="0"/>
          </a:xfrm>
          <a:prstGeom prst="straightConnector1">
            <a:avLst/>
          </a:prstGeom>
          <a:ln w="14322">
            <a:solidFill>
              <a:srgbClr val="404040"/>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EE7C28A-BE48-4CE6-0377-C5F6CCD90380}"/>
              </a:ext>
            </a:extLst>
          </p:cNvPr>
          <p:cNvCxnSpPr>
            <a:cxnSpLocks/>
            <a:stCxn id="9" idx="3"/>
            <a:endCxn id="10" idx="1"/>
          </p:cNvCxnSpPr>
          <p:nvPr/>
        </p:nvCxnSpPr>
        <p:spPr>
          <a:xfrm>
            <a:off x="7837556" y="1988378"/>
            <a:ext cx="252068" cy="0"/>
          </a:xfrm>
          <a:prstGeom prst="straightConnector1">
            <a:avLst/>
          </a:prstGeom>
          <a:ln w="14322">
            <a:solidFill>
              <a:srgbClr val="404040"/>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E0346EC7-F2A8-A198-3B86-235CBBFCEDDF}"/>
              </a:ext>
            </a:extLst>
          </p:cNvPr>
          <p:cNvCxnSpPr>
            <a:cxnSpLocks/>
            <a:stCxn id="10" idx="3"/>
            <a:endCxn id="11" idx="1"/>
          </p:cNvCxnSpPr>
          <p:nvPr/>
        </p:nvCxnSpPr>
        <p:spPr>
          <a:xfrm>
            <a:off x="9693689" y="1988378"/>
            <a:ext cx="252067" cy="0"/>
          </a:xfrm>
          <a:prstGeom prst="straightConnector1">
            <a:avLst/>
          </a:prstGeom>
          <a:ln w="14322">
            <a:solidFill>
              <a:srgbClr val="404040"/>
            </a:solidFill>
            <a:tailEnd type="triangle" w="med" len="med"/>
          </a:ln>
        </p:spPr>
        <p:style>
          <a:lnRef idx="1">
            <a:schemeClr val="accent1"/>
          </a:lnRef>
          <a:fillRef idx="0">
            <a:schemeClr val="accent1"/>
          </a:fillRef>
          <a:effectRef idx="0">
            <a:schemeClr val="accent1"/>
          </a:effectRef>
          <a:fontRef idx="minor">
            <a:schemeClr val="tx1"/>
          </a:fontRef>
        </p:style>
      </p:cxnSp>
      <p:sp>
        <p:nvSpPr>
          <p:cNvPr id="17" name="Rectangle: Rounded Corners 16">
            <a:extLst>
              <a:ext uri="{FF2B5EF4-FFF2-40B4-BE49-F238E27FC236}">
                <a16:creationId xmlns:a16="http://schemas.microsoft.com/office/drawing/2014/main" id="{C05D2E5C-B2E6-83EA-2979-845F7AA6A7F0}"/>
              </a:ext>
            </a:extLst>
          </p:cNvPr>
          <p:cNvSpPr/>
          <p:nvPr/>
        </p:nvSpPr>
        <p:spPr>
          <a:xfrm>
            <a:off x="9945756" y="3580986"/>
            <a:ext cx="1604065" cy="1054100"/>
          </a:xfrm>
          <a:prstGeom prst="roundRect">
            <a:avLst>
              <a:gd name="adj" fmla="val 12000"/>
            </a:avLst>
          </a:prstGeom>
          <a:solidFill>
            <a:srgbClr val="E2E2E2"/>
          </a:solidFill>
          <a:ln w="12603">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7288" tIns="34373" rIns="57288" bIns="34373" rtlCol="0" anchor="ctr">
            <a:noAutofit/>
          </a:bodyPr>
          <a:lstStyle/>
          <a:p>
            <a:pPr algn="ctr"/>
            <a:r>
              <a:rPr lang="en-IN" sz="1200" b="1">
                <a:solidFill>
                  <a:srgbClr val="1A1A1A"/>
                </a:solidFill>
                <a:latin typeface="Calibri" panose="020F0502020204030204" pitchFamily="34" charset="0"/>
              </a:rPr>
              <a:t>7  Finding classifier</a:t>
            </a:r>
          </a:p>
          <a:p>
            <a:pPr algn="ctr"/>
            <a:r>
              <a:rPr lang="en-IN" sz="1050">
                <a:solidFill>
                  <a:srgbClr val="5A5A5A"/>
                </a:solidFill>
                <a:latin typeface="Calibri" panose="020F0502020204030204" pitchFamily="34" charset="0"/>
              </a:rPr>
              <a:t>ResNet-50, 4 classes, argmax</a:t>
            </a:r>
          </a:p>
        </p:txBody>
      </p:sp>
      <p:sp>
        <p:nvSpPr>
          <p:cNvPr id="18" name="Rectangle: Rounded Corners 17">
            <a:extLst>
              <a:ext uri="{FF2B5EF4-FFF2-40B4-BE49-F238E27FC236}">
                <a16:creationId xmlns:a16="http://schemas.microsoft.com/office/drawing/2014/main" id="{144B168D-CE2D-4396-D3D7-3F4A06609F61}"/>
              </a:ext>
            </a:extLst>
          </p:cNvPr>
          <p:cNvSpPr/>
          <p:nvPr/>
        </p:nvSpPr>
        <p:spPr>
          <a:xfrm>
            <a:off x="8089624" y="3580986"/>
            <a:ext cx="1604065" cy="1054100"/>
          </a:xfrm>
          <a:prstGeom prst="roundRect">
            <a:avLst>
              <a:gd name="adj" fmla="val 12000"/>
            </a:avLst>
          </a:prstGeom>
          <a:solidFill>
            <a:srgbClr val="FFFFFF"/>
          </a:solidFill>
          <a:ln w="12603">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7288" tIns="34373" rIns="57288" bIns="34373" rtlCol="0" anchor="ctr">
            <a:noAutofit/>
          </a:bodyPr>
          <a:lstStyle/>
          <a:p>
            <a:pPr algn="ctr"/>
            <a:r>
              <a:rPr lang="en-US" sz="1200" b="1">
                <a:solidFill>
                  <a:srgbClr val="1A1A1A"/>
                </a:solidFill>
                <a:latin typeface="Calibri" panose="020F0502020204030204" pitchFamily="34" charset="0"/>
              </a:rPr>
              <a:t>8  Uncertainty</a:t>
            </a:r>
          </a:p>
          <a:p>
            <a:pPr algn="ctr"/>
            <a:r>
              <a:rPr lang="en-US" sz="1050">
                <a:solidFill>
                  <a:srgbClr val="5A5A5A"/>
                </a:solidFill>
                <a:latin typeface="Calibri" panose="020F0502020204030204" pitchFamily="34" charset="0"/>
              </a:rPr>
              <a:t>flip-TTA disagreement, normalised entropy</a:t>
            </a:r>
            <a:endParaRPr lang="en-IN" sz="1050">
              <a:solidFill>
                <a:srgbClr val="5A5A5A"/>
              </a:solidFill>
              <a:latin typeface="Calibri" panose="020F0502020204030204" pitchFamily="34" charset="0"/>
            </a:endParaRPr>
          </a:p>
        </p:txBody>
      </p:sp>
      <p:sp>
        <p:nvSpPr>
          <p:cNvPr id="19" name="Rectangle: Rounded Corners 18">
            <a:extLst>
              <a:ext uri="{FF2B5EF4-FFF2-40B4-BE49-F238E27FC236}">
                <a16:creationId xmlns:a16="http://schemas.microsoft.com/office/drawing/2014/main" id="{64344277-24C3-EDA6-349F-8B16417889AE}"/>
              </a:ext>
            </a:extLst>
          </p:cNvPr>
          <p:cNvSpPr/>
          <p:nvPr/>
        </p:nvSpPr>
        <p:spPr>
          <a:xfrm>
            <a:off x="6233491" y="3580986"/>
            <a:ext cx="1604065" cy="1054100"/>
          </a:xfrm>
          <a:prstGeom prst="roundRect">
            <a:avLst>
              <a:gd name="adj" fmla="val 12000"/>
            </a:avLst>
          </a:prstGeom>
          <a:solidFill>
            <a:srgbClr val="FFFFFF"/>
          </a:solidFill>
          <a:ln w="12603">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7288" tIns="34373" rIns="57288" bIns="34373" rtlCol="0" anchor="ctr">
            <a:noAutofit/>
          </a:bodyPr>
          <a:lstStyle/>
          <a:p>
            <a:pPr algn="ctr"/>
            <a:r>
              <a:rPr lang="fr-FR" sz="1200" b="1">
                <a:solidFill>
                  <a:srgbClr val="1A1A1A"/>
                </a:solidFill>
                <a:latin typeface="Calibri" panose="020F0502020204030204" pitchFamily="34" charset="0"/>
              </a:rPr>
              <a:t>9  Flags &amp; abstention</a:t>
            </a:r>
          </a:p>
          <a:p>
            <a:pPr algn="ctr"/>
            <a:r>
              <a:rPr lang="fr-FR" sz="1050">
                <a:solidFill>
                  <a:srgbClr val="5A5A5A"/>
                </a:solidFill>
                <a:latin typeface="Calibri" panose="020F0502020204030204" pitchFamily="34" charset="0"/>
              </a:rPr>
              <a:t>entropy ≥ 0.397 → 'no reliable class'</a:t>
            </a:r>
            <a:endParaRPr lang="en-IN" sz="1050">
              <a:solidFill>
                <a:srgbClr val="5A5A5A"/>
              </a:solidFill>
              <a:latin typeface="Calibri" panose="020F0502020204030204" pitchFamily="34" charset="0"/>
            </a:endParaRPr>
          </a:p>
        </p:txBody>
      </p:sp>
      <p:sp>
        <p:nvSpPr>
          <p:cNvPr id="20" name="Rectangle: Rounded Corners 19">
            <a:extLst>
              <a:ext uri="{FF2B5EF4-FFF2-40B4-BE49-F238E27FC236}">
                <a16:creationId xmlns:a16="http://schemas.microsoft.com/office/drawing/2014/main" id="{406583E9-ECC1-4E7A-B258-FFBE18917D1A}"/>
              </a:ext>
            </a:extLst>
          </p:cNvPr>
          <p:cNvSpPr/>
          <p:nvPr/>
        </p:nvSpPr>
        <p:spPr>
          <a:xfrm>
            <a:off x="4377359" y="3580986"/>
            <a:ext cx="1604065" cy="1054100"/>
          </a:xfrm>
          <a:prstGeom prst="roundRect">
            <a:avLst>
              <a:gd name="adj" fmla="val 12000"/>
            </a:avLst>
          </a:prstGeom>
          <a:solidFill>
            <a:srgbClr val="FFFFFF"/>
          </a:solidFill>
          <a:ln w="12603">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7288" tIns="34373" rIns="57288" bIns="34373" rtlCol="0" anchor="ctr">
            <a:noAutofit/>
          </a:bodyPr>
          <a:lstStyle/>
          <a:p>
            <a:pPr algn="ctr"/>
            <a:r>
              <a:rPr lang="en-US" sz="1200" b="1">
                <a:solidFill>
                  <a:srgbClr val="1A1A1A"/>
                </a:solidFill>
                <a:latin typeface="Calibri" panose="020F0502020204030204" pitchFamily="34" charset="0"/>
              </a:rPr>
              <a:t>10  Draft report</a:t>
            </a:r>
          </a:p>
          <a:p>
            <a:pPr algn="ctr"/>
            <a:r>
              <a:rPr lang="en-US" sz="1050">
                <a:solidFill>
                  <a:srgbClr val="5A5A5A"/>
                </a:solidFill>
                <a:latin typeface="Calibri" panose="020F0502020204030204" pitchFamily="34" charset="0"/>
              </a:rPr>
              <a:t>evidence → template (EN/HI/MR) → validator</a:t>
            </a:r>
            <a:endParaRPr lang="en-IN" sz="1050">
              <a:solidFill>
                <a:srgbClr val="5A5A5A"/>
              </a:solidFill>
              <a:latin typeface="Calibri" panose="020F0502020204030204" pitchFamily="34" charset="0"/>
            </a:endParaRPr>
          </a:p>
        </p:txBody>
      </p:sp>
      <p:sp>
        <p:nvSpPr>
          <p:cNvPr id="21" name="Rectangle: Rounded Corners 20">
            <a:extLst>
              <a:ext uri="{FF2B5EF4-FFF2-40B4-BE49-F238E27FC236}">
                <a16:creationId xmlns:a16="http://schemas.microsoft.com/office/drawing/2014/main" id="{52376642-9D82-C4E7-49B1-3A1C4FAC27AD}"/>
              </a:ext>
            </a:extLst>
          </p:cNvPr>
          <p:cNvSpPr/>
          <p:nvPr/>
        </p:nvSpPr>
        <p:spPr>
          <a:xfrm>
            <a:off x="2521226" y="3580986"/>
            <a:ext cx="1604065" cy="1054100"/>
          </a:xfrm>
          <a:prstGeom prst="roundRect">
            <a:avLst>
              <a:gd name="adj" fmla="val 12000"/>
            </a:avLst>
          </a:prstGeom>
          <a:solidFill>
            <a:srgbClr val="FFFFFF"/>
          </a:solidFill>
          <a:ln w="12603">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7288" tIns="34373" rIns="57288" bIns="34373" rtlCol="0" anchor="ctr">
            <a:noAutofit/>
          </a:bodyPr>
          <a:lstStyle/>
          <a:p>
            <a:pPr algn="ctr"/>
            <a:r>
              <a:rPr lang="en-US" sz="1200" b="1">
                <a:solidFill>
                  <a:srgbClr val="1A1A1A"/>
                </a:solidFill>
                <a:latin typeface="Calibri" panose="020F0502020204030204" pitchFamily="34" charset="0"/>
              </a:rPr>
              <a:t>11  Human review</a:t>
            </a:r>
          </a:p>
          <a:p>
            <a:pPr algn="ctr"/>
            <a:r>
              <a:rPr lang="en-US" sz="1050">
                <a:solidFill>
                  <a:srgbClr val="5A5A5A"/>
                </a:solidFill>
                <a:latin typeface="Calibri" panose="020F0502020204030204" pitchFamily="34" charset="0"/>
              </a:rPr>
              <a:t>confirm / correct / reject</a:t>
            </a:r>
            <a:endParaRPr lang="en-IN" sz="1050">
              <a:solidFill>
                <a:srgbClr val="5A5A5A"/>
              </a:solidFill>
              <a:latin typeface="Calibri" panose="020F0502020204030204" pitchFamily="34" charset="0"/>
            </a:endParaRPr>
          </a:p>
        </p:txBody>
      </p:sp>
      <p:cxnSp>
        <p:nvCxnSpPr>
          <p:cNvPr id="22" name="Straight Arrow Connector 21">
            <a:extLst>
              <a:ext uri="{FF2B5EF4-FFF2-40B4-BE49-F238E27FC236}">
                <a16:creationId xmlns:a16="http://schemas.microsoft.com/office/drawing/2014/main" id="{CDB95EE0-221A-3BD9-C190-60E2F5BC702A}"/>
              </a:ext>
            </a:extLst>
          </p:cNvPr>
          <p:cNvCxnSpPr>
            <a:cxnSpLocks/>
            <a:stCxn id="11" idx="2"/>
            <a:endCxn id="17" idx="0"/>
          </p:cNvCxnSpPr>
          <p:nvPr/>
        </p:nvCxnSpPr>
        <p:spPr>
          <a:xfrm>
            <a:off x="10747789" y="2515428"/>
            <a:ext cx="0" cy="1065558"/>
          </a:xfrm>
          <a:prstGeom prst="straightConnector1">
            <a:avLst/>
          </a:prstGeom>
          <a:ln w="14322">
            <a:solidFill>
              <a:srgbClr val="404040"/>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12107834-EFBC-C353-2D89-B64CC2EE12C6}"/>
              </a:ext>
            </a:extLst>
          </p:cNvPr>
          <p:cNvCxnSpPr>
            <a:cxnSpLocks/>
            <a:stCxn id="17" idx="1"/>
            <a:endCxn id="18" idx="3"/>
          </p:cNvCxnSpPr>
          <p:nvPr/>
        </p:nvCxnSpPr>
        <p:spPr>
          <a:xfrm flipH="1">
            <a:off x="9693689" y="4108036"/>
            <a:ext cx="252067" cy="0"/>
          </a:xfrm>
          <a:prstGeom prst="straightConnector1">
            <a:avLst/>
          </a:prstGeom>
          <a:ln w="14322">
            <a:solidFill>
              <a:srgbClr val="404040"/>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938D8754-DF93-EF96-C8F5-0161C891B410}"/>
              </a:ext>
            </a:extLst>
          </p:cNvPr>
          <p:cNvCxnSpPr>
            <a:cxnSpLocks/>
            <a:stCxn id="18" idx="1"/>
            <a:endCxn id="19" idx="3"/>
          </p:cNvCxnSpPr>
          <p:nvPr/>
        </p:nvCxnSpPr>
        <p:spPr>
          <a:xfrm flipH="1">
            <a:off x="7837556" y="4108036"/>
            <a:ext cx="252068" cy="0"/>
          </a:xfrm>
          <a:prstGeom prst="straightConnector1">
            <a:avLst/>
          </a:prstGeom>
          <a:ln w="14322">
            <a:solidFill>
              <a:srgbClr val="404040"/>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B43AFC24-74FD-41C7-64D7-18256D1588F7}"/>
              </a:ext>
            </a:extLst>
          </p:cNvPr>
          <p:cNvCxnSpPr>
            <a:cxnSpLocks/>
            <a:stCxn id="19" idx="1"/>
            <a:endCxn id="20" idx="3"/>
          </p:cNvCxnSpPr>
          <p:nvPr/>
        </p:nvCxnSpPr>
        <p:spPr>
          <a:xfrm flipH="1">
            <a:off x="5981424" y="4108036"/>
            <a:ext cx="252067" cy="0"/>
          </a:xfrm>
          <a:prstGeom prst="straightConnector1">
            <a:avLst/>
          </a:prstGeom>
          <a:ln w="14322">
            <a:solidFill>
              <a:srgbClr val="404040"/>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7C8E1454-75A4-D353-853A-FB0DF03E9AF0}"/>
              </a:ext>
            </a:extLst>
          </p:cNvPr>
          <p:cNvCxnSpPr>
            <a:cxnSpLocks/>
            <a:stCxn id="20" idx="1"/>
            <a:endCxn id="21" idx="3"/>
          </p:cNvCxnSpPr>
          <p:nvPr/>
        </p:nvCxnSpPr>
        <p:spPr>
          <a:xfrm flipH="1">
            <a:off x="4125291" y="4108036"/>
            <a:ext cx="252068" cy="0"/>
          </a:xfrm>
          <a:prstGeom prst="straightConnector1">
            <a:avLst/>
          </a:prstGeom>
          <a:ln w="14322">
            <a:solidFill>
              <a:srgbClr val="404040"/>
            </a:solidFill>
            <a:tailEnd type="triangle" w="med" len="med"/>
          </a:ln>
        </p:spPr>
        <p:style>
          <a:lnRef idx="1">
            <a:schemeClr val="accent1"/>
          </a:lnRef>
          <a:fillRef idx="0">
            <a:schemeClr val="accent1"/>
          </a:fillRef>
          <a:effectRef idx="0">
            <a:schemeClr val="accent1"/>
          </a:effectRef>
          <a:fontRef idx="minor">
            <a:schemeClr val="tx1"/>
          </a:fontRef>
        </p:style>
      </p:cxnSp>
      <p:sp>
        <p:nvSpPr>
          <p:cNvPr id="27" name="Rectangle: Rounded Corners 26">
            <a:extLst>
              <a:ext uri="{FF2B5EF4-FFF2-40B4-BE49-F238E27FC236}">
                <a16:creationId xmlns:a16="http://schemas.microsoft.com/office/drawing/2014/main" id="{ED9077C5-53BF-C4BF-75B4-0478C494B7F1}"/>
              </a:ext>
            </a:extLst>
          </p:cNvPr>
          <p:cNvSpPr/>
          <p:nvPr/>
        </p:nvSpPr>
        <p:spPr>
          <a:xfrm>
            <a:off x="665093" y="3580986"/>
            <a:ext cx="1604066" cy="1054100"/>
          </a:xfrm>
          <a:prstGeom prst="roundRect">
            <a:avLst>
              <a:gd name="adj" fmla="val 12000"/>
            </a:avLst>
          </a:prstGeom>
          <a:solidFill>
            <a:srgbClr val="FFFFFF"/>
          </a:solidFill>
          <a:ln w="12603">
            <a:solidFill>
              <a:srgbClr val="404040"/>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57288" tIns="34373" rIns="57288" bIns="34373" rtlCol="0" anchor="ctr">
            <a:noAutofit/>
          </a:bodyPr>
          <a:lstStyle/>
          <a:p>
            <a:pPr algn="ctr"/>
            <a:r>
              <a:rPr lang="en-US" sz="1200" b="1">
                <a:solidFill>
                  <a:srgbClr val="1A1A1A"/>
                </a:solidFill>
                <a:latin typeface="Calibri" panose="020F0502020204030204" pitchFamily="34" charset="0"/>
              </a:rPr>
              <a:t>Per-region output</a:t>
            </a:r>
          </a:p>
          <a:p>
            <a:pPr algn="ctr"/>
            <a:r>
              <a:rPr lang="en-US" sz="1050">
                <a:solidFill>
                  <a:srgbClr val="5A5A5A"/>
                </a:solidFill>
                <a:latin typeface="Calibri" panose="020F0502020204030204" pitchFamily="34" charset="0"/>
              </a:rPr>
              <a:t>box, FDI number, outline, closest class + raw score, flags</a:t>
            </a:r>
            <a:endParaRPr lang="en-IN" sz="1050">
              <a:solidFill>
                <a:srgbClr val="5A5A5A"/>
              </a:solidFill>
              <a:latin typeface="Calibri" panose="020F0502020204030204" pitchFamily="34" charset="0"/>
            </a:endParaRPr>
          </a:p>
        </p:txBody>
      </p:sp>
      <p:cxnSp>
        <p:nvCxnSpPr>
          <p:cNvPr id="28" name="Straight Arrow Connector 27">
            <a:extLst>
              <a:ext uri="{FF2B5EF4-FFF2-40B4-BE49-F238E27FC236}">
                <a16:creationId xmlns:a16="http://schemas.microsoft.com/office/drawing/2014/main" id="{F582D3C9-5ACF-22A2-1377-9DEB71279E3D}"/>
              </a:ext>
            </a:extLst>
          </p:cNvPr>
          <p:cNvCxnSpPr>
            <a:cxnSpLocks/>
            <a:stCxn id="21" idx="1"/>
            <a:endCxn id="27" idx="3"/>
          </p:cNvCxnSpPr>
          <p:nvPr/>
        </p:nvCxnSpPr>
        <p:spPr>
          <a:xfrm flipH="1">
            <a:off x="2269159" y="4108036"/>
            <a:ext cx="252067" cy="0"/>
          </a:xfrm>
          <a:prstGeom prst="straightConnector1">
            <a:avLst/>
          </a:prstGeom>
          <a:ln w="14322">
            <a:solidFill>
              <a:srgbClr val="404040"/>
            </a:solidFill>
            <a:prstDash val="dash"/>
            <a:tailEnd type="triangle" w="med" len="med"/>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29B99413-4543-18CE-CAB2-09D04CFDDCCE}"/>
              </a:ext>
            </a:extLst>
          </p:cNvPr>
          <p:cNvSpPr txBox="1"/>
          <p:nvPr/>
        </p:nvSpPr>
        <p:spPr>
          <a:xfrm>
            <a:off x="665093" y="4955899"/>
            <a:ext cx="10861813" cy="1477328"/>
          </a:xfrm>
          <a:prstGeom prst="rect">
            <a:avLst/>
          </a:prstGeom>
          <a:noFill/>
        </p:spPr>
        <p:txBody>
          <a:bodyPr vert="horz" wrap="square" lIns="57288" tIns="34373" rIns="57288" bIns="34373" rtlCol="0" anchor="t">
            <a:noAutofit/>
          </a:bodyPr>
          <a:lstStyle/>
          <a:p>
            <a:r>
              <a:rPr lang="en-US" sz="1150">
                <a:solidFill>
                  <a:srgbClr val="5A5A5A"/>
                </a:solidFill>
                <a:latin typeface="Calibri" panose="020F0502020204030204" pitchFamily="34" charset="0"/>
              </a:rPr>
              <a:t>Order of operations as implemented in backend/services/pipeline.py. Thresholds: detection score 0.3 (boxes below 0.5 are flagged as weak detections); abstention when normalised entropy ≥ 0.3966, chosen by Youden's J on the calibration split; flip-instability flag when TTA disagreement ≥ 0.0762. The classifier has no healthy class, so every detected tooth receives its closest of four findings; the system therefore presents a candidate for review, never a diagnosis.</a:t>
            </a:r>
            <a:endParaRPr lang="en-IN" sz="1150">
              <a:solidFill>
                <a:srgbClr val="5A5A5A"/>
              </a:solidFill>
              <a:latin typeface="Calibri" panose="020F0502020204030204" pitchFamily="34" charset="0"/>
            </a:endParaRPr>
          </a:p>
        </p:txBody>
      </p:sp>
    </p:spTree>
    <p:extLst>
      <p:ext uri="{BB962C8B-B14F-4D97-AF65-F5344CB8AC3E}">
        <p14:creationId xmlns:p14="http://schemas.microsoft.com/office/powerpoint/2010/main" val="3004677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92B84DF-0083-223E-E30E-354CFE9599F7}"/>
              </a:ext>
            </a:extLst>
          </p:cNvPr>
          <p:cNvSpPr txBox="1"/>
          <p:nvPr/>
        </p:nvSpPr>
        <p:spPr>
          <a:xfrm>
            <a:off x="508000" y="279400"/>
            <a:ext cx="11176000" cy="369332"/>
          </a:xfrm>
          <a:prstGeom prst="rect">
            <a:avLst/>
          </a:prstGeom>
          <a:noFill/>
        </p:spPr>
        <p:txBody>
          <a:bodyPr vert="horz" wrap="square" lIns="63500" tIns="38100" rIns="63500" bIns="38100" rtlCol="0" anchor="ctr">
            <a:noAutofit/>
          </a:bodyPr>
          <a:lstStyle/>
          <a:p>
            <a:r>
              <a:rPr lang="en-IN" sz="2600" b="1">
                <a:solidFill>
                  <a:srgbClr val="1F3A5F"/>
                </a:solidFill>
                <a:latin typeface="Calibri" panose="020F0502020204030204" pitchFamily="34" charset="0"/>
              </a:rPr>
              <a:t>System architecture</a:t>
            </a:r>
          </a:p>
        </p:txBody>
      </p:sp>
      <p:sp>
        <p:nvSpPr>
          <p:cNvPr id="3" name="Rectangle 2">
            <a:extLst>
              <a:ext uri="{FF2B5EF4-FFF2-40B4-BE49-F238E27FC236}">
                <a16:creationId xmlns:a16="http://schemas.microsoft.com/office/drawing/2014/main" id="{9CB63C29-F18D-B698-8BDC-403270E7C1DB}"/>
              </a:ext>
            </a:extLst>
          </p:cNvPr>
          <p:cNvSpPr/>
          <p:nvPr/>
        </p:nvSpPr>
        <p:spPr>
          <a:xfrm>
            <a:off x="533400" y="939800"/>
            <a:ext cx="889000" cy="38100"/>
          </a:xfrm>
          <a:prstGeom prst="rect">
            <a:avLst/>
          </a:prstGeom>
          <a:solidFill>
            <a:srgbClr val="0F766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9E7F5F05-6755-E703-37AD-89917DCFE73B}"/>
              </a:ext>
            </a:extLst>
          </p:cNvPr>
          <p:cNvSpPr txBox="1"/>
          <p:nvPr/>
        </p:nvSpPr>
        <p:spPr>
          <a:xfrm>
            <a:off x="508000" y="6502400"/>
            <a:ext cx="8890000" cy="369332"/>
          </a:xfrm>
          <a:prstGeom prst="rect">
            <a:avLst/>
          </a:prstGeom>
          <a:noFill/>
        </p:spPr>
        <p:txBody>
          <a:bodyPr vert="horz" wrap="square" lIns="63500" tIns="38100" rIns="63500" bIns="38100" rtlCol="0" anchor="t">
            <a:noAutofit/>
          </a:bodyPr>
          <a:lstStyle/>
          <a:p>
            <a:r>
              <a:rPr lang="it-IT" sz="900">
                <a:solidFill>
                  <a:srgbClr val="55657A"/>
                </a:solidFill>
                <a:latin typeface="Calibri" panose="020F0502020204030204" pitchFamily="34" charset="0"/>
              </a:rPr>
              <a:t>DentaMind AI · B.Tech Capstone · PCCOE CSE (AI &amp; ML) 2026-27</a:t>
            </a:r>
            <a:endParaRPr lang="en-IN" sz="900">
              <a:solidFill>
                <a:srgbClr val="55657A"/>
              </a:solidFill>
              <a:latin typeface="Calibri" panose="020F0502020204030204" pitchFamily="34" charset="0"/>
            </a:endParaRPr>
          </a:p>
        </p:txBody>
      </p:sp>
      <p:sp>
        <p:nvSpPr>
          <p:cNvPr id="5" name="TextBox 4">
            <a:extLst>
              <a:ext uri="{FF2B5EF4-FFF2-40B4-BE49-F238E27FC236}">
                <a16:creationId xmlns:a16="http://schemas.microsoft.com/office/drawing/2014/main" id="{A1D76ACA-83E3-A833-348C-7D870A2F0DD2}"/>
              </a:ext>
            </a:extLst>
          </p:cNvPr>
          <p:cNvSpPr txBox="1"/>
          <p:nvPr/>
        </p:nvSpPr>
        <p:spPr>
          <a:xfrm>
            <a:off x="10414000" y="6502400"/>
            <a:ext cx="1270000" cy="369332"/>
          </a:xfrm>
          <a:prstGeom prst="rect">
            <a:avLst/>
          </a:prstGeom>
          <a:noFill/>
        </p:spPr>
        <p:txBody>
          <a:bodyPr vert="horz" wrap="square" lIns="63500" tIns="38100" rIns="63500" bIns="38100" rtlCol="0" anchor="t">
            <a:noAutofit/>
          </a:bodyPr>
          <a:lstStyle/>
          <a:p>
            <a:pPr algn="r"/>
            <a:r>
              <a:rPr lang="en-IN" sz="900">
                <a:solidFill>
                  <a:srgbClr val="55657A"/>
                </a:solidFill>
                <a:latin typeface="Calibri" panose="020F0502020204030204" pitchFamily="34" charset="0"/>
              </a:rPr>
              <a:t>10 / 22</a:t>
            </a:r>
          </a:p>
        </p:txBody>
      </p:sp>
      <p:sp>
        <p:nvSpPr>
          <p:cNvPr id="6" name="Rectangle 5">
            <a:extLst>
              <a:ext uri="{FF2B5EF4-FFF2-40B4-BE49-F238E27FC236}">
                <a16:creationId xmlns:a16="http://schemas.microsoft.com/office/drawing/2014/main" id="{2F0CA7FE-356D-3E3D-5891-282B5A52B573}"/>
              </a:ext>
            </a:extLst>
          </p:cNvPr>
          <p:cNvSpPr/>
          <p:nvPr/>
        </p:nvSpPr>
        <p:spPr>
          <a:xfrm>
            <a:off x="596348" y="1289464"/>
            <a:ext cx="1374913" cy="687457"/>
          </a:xfrm>
          <a:prstGeom prst="rect">
            <a:avLst/>
          </a:prstGeom>
          <a:noFill/>
          <a:ln w="12603" cap="flat" cmpd="sng" algn="ctr">
            <a:noFill/>
            <a:prstDash val="solid"/>
            <a:miter lim="800000"/>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03" cap="flat" cmpd="sng" algn="ctr">
                <a:solidFill>
                  <a:srgbClr val="404040"/>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7288" tIns="34373" rIns="57288" bIns="34373" rtlCol="0" anchor="ctr"/>
          <a:lstStyle/>
          <a:p>
            <a:r>
              <a:rPr lang="en-IN" sz="1200" b="1">
                <a:solidFill>
                  <a:srgbClr val="1A1A1A"/>
                </a:solidFill>
                <a:latin typeface="Calibri" panose="020F0502020204030204" pitchFamily="34" charset="0"/>
              </a:rPr>
              <a:t>Client (browser)</a:t>
            </a:r>
          </a:p>
        </p:txBody>
      </p:sp>
      <p:sp>
        <p:nvSpPr>
          <p:cNvPr id="7" name="Rectangle 6">
            <a:extLst>
              <a:ext uri="{FF2B5EF4-FFF2-40B4-BE49-F238E27FC236}">
                <a16:creationId xmlns:a16="http://schemas.microsoft.com/office/drawing/2014/main" id="{53EC666B-54AF-9567-1E91-B9B897A7CF8E}"/>
              </a:ext>
            </a:extLst>
          </p:cNvPr>
          <p:cNvSpPr/>
          <p:nvPr/>
        </p:nvSpPr>
        <p:spPr>
          <a:xfrm>
            <a:off x="596348" y="2240446"/>
            <a:ext cx="1374913" cy="687456"/>
          </a:xfrm>
          <a:prstGeom prst="rect">
            <a:avLst/>
          </a:prstGeom>
          <a:noFill/>
          <a:ln w="12603" cap="flat" cmpd="sng" algn="ctr">
            <a:noFill/>
            <a:prstDash val="solid"/>
            <a:miter lim="800000"/>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03" cap="flat" cmpd="sng" algn="ctr">
                <a:solidFill>
                  <a:srgbClr val="404040"/>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7288" tIns="34373" rIns="57288" bIns="34373" rtlCol="0" anchor="ctr"/>
          <a:lstStyle/>
          <a:p>
            <a:r>
              <a:rPr lang="en-IN" sz="1200" b="1">
                <a:solidFill>
                  <a:srgbClr val="1A1A1A"/>
                </a:solidFill>
                <a:latin typeface="Calibri" panose="020F0502020204030204" pitchFamily="34" charset="0"/>
              </a:rPr>
              <a:t>Transport &amp;</a:t>
            </a:r>
          </a:p>
          <a:p>
            <a:r>
              <a:rPr lang="en-IN" sz="1200" b="1">
                <a:solidFill>
                  <a:srgbClr val="1A1A1A"/>
                </a:solidFill>
                <a:latin typeface="Calibri" panose="020F0502020204030204" pitchFamily="34" charset="0"/>
              </a:rPr>
              <a:t>API gateway</a:t>
            </a:r>
          </a:p>
        </p:txBody>
      </p:sp>
      <p:sp>
        <p:nvSpPr>
          <p:cNvPr id="8" name="Rectangle 7">
            <a:extLst>
              <a:ext uri="{FF2B5EF4-FFF2-40B4-BE49-F238E27FC236}">
                <a16:creationId xmlns:a16="http://schemas.microsoft.com/office/drawing/2014/main" id="{890B51BF-1833-C45A-2E1B-0C77A849709F}"/>
              </a:ext>
            </a:extLst>
          </p:cNvPr>
          <p:cNvSpPr/>
          <p:nvPr/>
        </p:nvSpPr>
        <p:spPr>
          <a:xfrm>
            <a:off x="596348" y="3179970"/>
            <a:ext cx="1374913" cy="687456"/>
          </a:xfrm>
          <a:prstGeom prst="rect">
            <a:avLst/>
          </a:prstGeom>
          <a:noFill/>
          <a:ln w="12603" cap="flat" cmpd="sng" algn="ctr">
            <a:noFill/>
            <a:prstDash val="solid"/>
            <a:miter lim="800000"/>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03" cap="flat" cmpd="sng" algn="ctr">
                <a:solidFill>
                  <a:srgbClr val="404040"/>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7288" tIns="34373" rIns="57288" bIns="34373" rtlCol="0" anchor="ctr"/>
          <a:lstStyle/>
          <a:p>
            <a:r>
              <a:rPr lang="en-IN" sz="1200" b="1">
                <a:solidFill>
                  <a:srgbClr val="1A1A1A"/>
                </a:solidFill>
                <a:latin typeface="Calibri" panose="020F0502020204030204" pitchFamily="34" charset="0"/>
              </a:rPr>
              <a:t>Application</a:t>
            </a:r>
          </a:p>
          <a:p>
            <a:r>
              <a:rPr lang="en-IN" sz="1200" b="1">
                <a:solidFill>
                  <a:srgbClr val="1A1A1A"/>
                </a:solidFill>
                <a:latin typeface="Calibri" panose="020F0502020204030204" pitchFamily="34" charset="0"/>
              </a:rPr>
              <a:t>services</a:t>
            </a:r>
          </a:p>
        </p:txBody>
      </p:sp>
      <p:sp>
        <p:nvSpPr>
          <p:cNvPr id="9" name="Rectangle 8">
            <a:extLst>
              <a:ext uri="{FF2B5EF4-FFF2-40B4-BE49-F238E27FC236}">
                <a16:creationId xmlns:a16="http://schemas.microsoft.com/office/drawing/2014/main" id="{0E45853A-4080-74BA-8BD4-1A4C6F304996}"/>
              </a:ext>
            </a:extLst>
          </p:cNvPr>
          <p:cNvSpPr/>
          <p:nvPr/>
        </p:nvSpPr>
        <p:spPr>
          <a:xfrm>
            <a:off x="596348" y="4497594"/>
            <a:ext cx="1374913" cy="687457"/>
          </a:xfrm>
          <a:prstGeom prst="rect">
            <a:avLst/>
          </a:prstGeom>
          <a:noFill/>
          <a:ln w="12603" cap="flat" cmpd="sng" algn="ctr">
            <a:noFill/>
            <a:prstDash val="solid"/>
            <a:miter lim="800000"/>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03" cap="flat" cmpd="sng" algn="ctr">
                <a:solidFill>
                  <a:srgbClr val="404040"/>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57288" tIns="34373" rIns="57288" bIns="34373" rtlCol="0" anchor="ctr"/>
          <a:lstStyle/>
          <a:p>
            <a:r>
              <a:rPr lang="en-IN" sz="1200" b="1">
                <a:solidFill>
                  <a:srgbClr val="1A1A1A"/>
                </a:solidFill>
                <a:latin typeface="Calibri" panose="020F0502020204030204" pitchFamily="34" charset="0"/>
              </a:rPr>
              <a:t>ML core</a:t>
            </a:r>
          </a:p>
          <a:p>
            <a:r>
              <a:rPr lang="en-IN" sz="1200" b="1">
                <a:solidFill>
                  <a:srgbClr val="1A1A1A"/>
                </a:solidFill>
                <a:latin typeface="Calibri" panose="020F0502020204030204" pitchFamily="34" charset="0"/>
              </a:rPr>
              <a:t>(PyTorch)</a:t>
            </a:r>
          </a:p>
        </p:txBody>
      </p:sp>
      <p:sp>
        <p:nvSpPr>
          <p:cNvPr id="10" name="Rectangle: Rounded Corners 9">
            <a:extLst>
              <a:ext uri="{FF2B5EF4-FFF2-40B4-BE49-F238E27FC236}">
                <a16:creationId xmlns:a16="http://schemas.microsoft.com/office/drawing/2014/main" id="{317F3776-A816-1C66-C3AB-B4F500A7A2B7}"/>
              </a:ext>
            </a:extLst>
          </p:cNvPr>
          <p:cNvSpPr/>
          <p:nvPr/>
        </p:nvSpPr>
        <p:spPr>
          <a:xfrm>
            <a:off x="2085837" y="1289464"/>
            <a:ext cx="2062369" cy="687457"/>
          </a:xfrm>
          <a:prstGeom prst="roundRect">
            <a:avLst>
              <a:gd name="adj" fmla="val 12000"/>
            </a:avLst>
          </a:prstGeom>
          <a:solidFill>
            <a:srgbClr val="FFFFFF"/>
          </a:solidFill>
          <a:ln w="12603">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7288" tIns="34373" rIns="57288" bIns="34373" rtlCol="0" anchor="ctr">
            <a:noAutofit/>
          </a:bodyPr>
          <a:lstStyle/>
          <a:p>
            <a:pPr algn="ctr"/>
            <a:r>
              <a:rPr lang="en-US" sz="1200" b="1">
                <a:solidFill>
                  <a:srgbClr val="1A1A1A"/>
                </a:solidFill>
                <a:latin typeface="Calibri" panose="020F0502020204030204" pitchFamily="34" charset="0"/>
              </a:rPr>
              <a:t>X-ray Analysis page</a:t>
            </a:r>
          </a:p>
          <a:p>
            <a:pPr algn="ctr"/>
            <a:r>
              <a:rPr lang="en-US" sz="1050">
                <a:solidFill>
                  <a:srgbClr val="5A5A5A"/>
                </a:solidFill>
                <a:latin typeface="Calibri" panose="020F0502020204030204" pitchFamily="34" charset="0"/>
              </a:rPr>
              <a:t>upload or pick image, viewer, regions</a:t>
            </a:r>
            <a:endParaRPr lang="en-IN" sz="1050">
              <a:solidFill>
                <a:srgbClr val="5A5A5A"/>
              </a:solidFill>
              <a:latin typeface="Calibri" panose="020F0502020204030204" pitchFamily="34" charset="0"/>
            </a:endParaRPr>
          </a:p>
        </p:txBody>
      </p:sp>
      <p:sp>
        <p:nvSpPr>
          <p:cNvPr id="11" name="Rectangle: Rounded Corners 10">
            <a:extLst>
              <a:ext uri="{FF2B5EF4-FFF2-40B4-BE49-F238E27FC236}">
                <a16:creationId xmlns:a16="http://schemas.microsoft.com/office/drawing/2014/main" id="{F77D57E6-E8D3-E09F-E1A9-BE25276638B1}"/>
              </a:ext>
            </a:extLst>
          </p:cNvPr>
          <p:cNvSpPr/>
          <p:nvPr/>
        </p:nvSpPr>
        <p:spPr>
          <a:xfrm>
            <a:off x="4400274" y="1289464"/>
            <a:ext cx="2062370" cy="687457"/>
          </a:xfrm>
          <a:prstGeom prst="roundRect">
            <a:avLst>
              <a:gd name="adj" fmla="val 12000"/>
            </a:avLst>
          </a:prstGeom>
          <a:solidFill>
            <a:srgbClr val="FFFFFF"/>
          </a:solidFill>
          <a:ln w="12603">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7288" tIns="34373" rIns="57288" bIns="34373" rtlCol="0" anchor="ctr">
            <a:noAutofit/>
          </a:bodyPr>
          <a:lstStyle/>
          <a:p>
            <a:pPr algn="ctr"/>
            <a:r>
              <a:rPr lang="en-IN" sz="1200" b="1">
                <a:solidFill>
                  <a:srgbClr val="1A1A1A"/>
                </a:solidFill>
                <a:latin typeface="Calibri" panose="020F0502020204030204" pitchFamily="34" charset="0"/>
              </a:rPr>
              <a:t>Reports page</a:t>
            </a:r>
          </a:p>
          <a:p>
            <a:pPr algn="ctr"/>
            <a:r>
              <a:rPr lang="en-IN" sz="1050">
                <a:solidFill>
                  <a:srgbClr val="5A5A5A"/>
                </a:solidFill>
                <a:latin typeface="Calibri" panose="020F0502020204030204" pitchFamily="34" charset="0"/>
              </a:rPr>
              <a:t>draft report, EN / HI / MR</a:t>
            </a:r>
          </a:p>
        </p:txBody>
      </p:sp>
      <p:sp>
        <p:nvSpPr>
          <p:cNvPr id="12" name="Rectangle: Rounded Corners 11">
            <a:extLst>
              <a:ext uri="{FF2B5EF4-FFF2-40B4-BE49-F238E27FC236}">
                <a16:creationId xmlns:a16="http://schemas.microsoft.com/office/drawing/2014/main" id="{876F6DE1-925E-F789-4AB7-2BA9A41B2290}"/>
              </a:ext>
            </a:extLst>
          </p:cNvPr>
          <p:cNvSpPr/>
          <p:nvPr/>
        </p:nvSpPr>
        <p:spPr>
          <a:xfrm>
            <a:off x="6714711" y="1289464"/>
            <a:ext cx="2062370" cy="687457"/>
          </a:xfrm>
          <a:prstGeom prst="roundRect">
            <a:avLst>
              <a:gd name="adj" fmla="val 12000"/>
            </a:avLst>
          </a:prstGeom>
          <a:solidFill>
            <a:srgbClr val="FFFFFF"/>
          </a:solidFill>
          <a:ln w="12603">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7288" tIns="34373" rIns="57288" bIns="34373" rtlCol="0" anchor="ctr">
            <a:noAutofit/>
          </a:bodyPr>
          <a:lstStyle/>
          <a:p>
            <a:pPr algn="ctr"/>
            <a:r>
              <a:rPr lang="en-US" sz="1200" b="1">
                <a:solidFill>
                  <a:srgbClr val="1A1A1A"/>
                </a:solidFill>
                <a:latin typeface="Calibri" panose="020F0502020204030204" pitchFamily="34" charset="0"/>
              </a:rPr>
              <a:t>Review Findings page</a:t>
            </a:r>
          </a:p>
          <a:p>
            <a:pPr algn="ctr"/>
            <a:r>
              <a:rPr lang="en-US" sz="1050">
                <a:solidFill>
                  <a:srgbClr val="5A5A5A"/>
                </a:solidFill>
                <a:latin typeface="Calibri" panose="020F0502020204030204" pitchFamily="34" charset="0"/>
              </a:rPr>
              <a:t>decisions and approvals</a:t>
            </a:r>
            <a:endParaRPr lang="en-IN" sz="1050">
              <a:solidFill>
                <a:srgbClr val="5A5A5A"/>
              </a:solidFill>
              <a:latin typeface="Calibri" panose="020F0502020204030204" pitchFamily="34" charset="0"/>
            </a:endParaRPr>
          </a:p>
        </p:txBody>
      </p:sp>
      <p:sp>
        <p:nvSpPr>
          <p:cNvPr id="13" name="Rectangle: Rounded Corners 12">
            <a:extLst>
              <a:ext uri="{FF2B5EF4-FFF2-40B4-BE49-F238E27FC236}">
                <a16:creationId xmlns:a16="http://schemas.microsoft.com/office/drawing/2014/main" id="{730296BF-DA79-0CAB-E6CE-49B75222A18B}"/>
              </a:ext>
            </a:extLst>
          </p:cNvPr>
          <p:cNvSpPr/>
          <p:nvPr/>
        </p:nvSpPr>
        <p:spPr>
          <a:xfrm>
            <a:off x="2085837" y="2297734"/>
            <a:ext cx="6691244" cy="572880"/>
          </a:xfrm>
          <a:prstGeom prst="roundRect">
            <a:avLst>
              <a:gd name="adj" fmla="val 12000"/>
            </a:avLst>
          </a:prstGeom>
          <a:solidFill>
            <a:srgbClr val="FFFFFF"/>
          </a:solidFill>
          <a:ln w="12603">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7288" tIns="34373" rIns="57288" bIns="34373" rtlCol="0" anchor="ctr">
            <a:noAutofit/>
          </a:bodyPr>
          <a:lstStyle/>
          <a:p>
            <a:pPr algn="ctr"/>
            <a:r>
              <a:rPr lang="en-IN" sz="1200" b="1">
                <a:solidFill>
                  <a:srgbClr val="1A1A1A"/>
                </a:solidFill>
                <a:latin typeface="Calibri" panose="020F0502020204030204" pitchFamily="34" charset="0"/>
              </a:rPr>
              <a:t>React 18 + Vite proxy  →  FastAPI on 127.0.0.1:8000</a:t>
            </a:r>
          </a:p>
          <a:p>
            <a:pPr algn="ctr"/>
            <a:r>
              <a:rPr lang="en-IN" sz="1050">
                <a:solidFill>
                  <a:srgbClr val="5A5A5A"/>
                </a:solidFill>
                <a:latin typeface="Calibri" panose="020F0502020204030204" pitchFamily="34" charset="0"/>
              </a:rPr>
              <a:t>API token added server-side · token auth · rate limits · input validation</a:t>
            </a:r>
          </a:p>
        </p:txBody>
      </p:sp>
      <p:sp>
        <p:nvSpPr>
          <p:cNvPr id="14" name="Rectangle: Rounded Corners 13">
            <a:extLst>
              <a:ext uri="{FF2B5EF4-FFF2-40B4-BE49-F238E27FC236}">
                <a16:creationId xmlns:a16="http://schemas.microsoft.com/office/drawing/2014/main" id="{85CE741B-9D84-CB1B-4A1C-4B46A4B65729}"/>
              </a:ext>
            </a:extLst>
          </p:cNvPr>
          <p:cNvSpPr/>
          <p:nvPr/>
        </p:nvSpPr>
        <p:spPr>
          <a:xfrm>
            <a:off x="2085837" y="3179970"/>
            <a:ext cx="2062369" cy="687456"/>
          </a:xfrm>
          <a:prstGeom prst="roundRect">
            <a:avLst>
              <a:gd name="adj" fmla="val 12000"/>
            </a:avLst>
          </a:prstGeom>
          <a:solidFill>
            <a:srgbClr val="FFFFFF"/>
          </a:solidFill>
          <a:ln w="12603">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7288" tIns="34373" rIns="57288" bIns="34373" rtlCol="0" anchor="ctr">
            <a:noAutofit/>
          </a:bodyPr>
          <a:lstStyle/>
          <a:p>
            <a:pPr algn="ctr"/>
            <a:r>
              <a:rPr lang="en-US" sz="1200" b="1">
                <a:solidFill>
                  <a:srgbClr val="1A1A1A"/>
                </a:solidFill>
                <a:latin typeface="Calibri" panose="020F0502020204030204" pitchFamily="34" charset="0"/>
              </a:rPr>
              <a:t>Analysis pipeline service</a:t>
            </a:r>
          </a:p>
          <a:p>
            <a:pPr algn="ctr"/>
            <a:r>
              <a:rPr lang="en-US" sz="1050">
                <a:solidFill>
                  <a:srgbClr val="5A5A5A"/>
                </a:solidFill>
                <a:latin typeface="Calibri" panose="020F0502020204030204" pitchFamily="34" charset="0"/>
              </a:rPr>
              <a:t>runs the four models, flags</a:t>
            </a:r>
            <a:endParaRPr lang="en-IN" sz="1050">
              <a:solidFill>
                <a:srgbClr val="5A5A5A"/>
              </a:solidFill>
              <a:latin typeface="Calibri" panose="020F0502020204030204" pitchFamily="34" charset="0"/>
            </a:endParaRPr>
          </a:p>
        </p:txBody>
      </p:sp>
      <p:sp>
        <p:nvSpPr>
          <p:cNvPr id="15" name="Rectangle: Rounded Corners 14">
            <a:extLst>
              <a:ext uri="{FF2B5EF4-FFF2-40B4-BE49-F238E27FC236}">
                <a16:creationId xmlns:a16="http://schemas.microsoft.com/office/drawing/2014/main" id="{754D111F-EF03-EE73-17EB-230EC840BE2A}"/>
              </a:ext>
            </a:extLst>
          </p:cNvPr>
          <p:cNvSpPr/>
          <p:nvPr/>
        </p:nvSpPr>
        <p:spPr>
          <a:xfrm>
            <a:off x="4400274" y="3179970"/>
            <a:ext cx="2062370" cy="687456"/>
          </a:xfrm>
          <a:prstGeom prst="roundRect">
            <a:avLst>
              <a:gd name="adj" fmla="val 12000"/>
            </a:avLst>
          </a:prstGeom>
          <a:solidFill>
            <a:srgbClr val="FFFFFF"/>
          </a:solidFill>
          <a:ln w="12603">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7288" tIns="34373" rIns="57288" bIns="34373" rtlCol="0" anchor="ctr">
            <a:noAutofit/>
          </a:bodyPr>
          <a:lstStyle/>
          <a:p>
            <a:pPr algn="ctr"/>
            <a:r>
              <a:rPr lang="en-IN" sz="1200" b="1">
                <a:solidFill>
                  <a:srgbClr val="1A1A1A"/>
                </a:solidFill>
                <a:latin typeface="Calibri" panose="020F0502020204030204" pitchFamily="34" charset="0"/>
              </a:rPr>
              <a:t>Report service</a:t>
            </a:r>
          </a:p>
          <a:p>
            <a:pPr algn="ctr"/>
            <a:r>
              <a:rPr lang="en-IN" sz="1050">
                <a:solidFill>
                  <a:srgbClr val="5A5A5A"/>
                </a:solidFill>
                <a:latin typeface="Calibri" panose="020F0502020204030204" pitchFamily="34" charset="0"/>
              </a:rPr>
              <a:t>template draft + output validator</a:t>
            </a:r>
          </a:p>
        </p:txBody>
      </p:sp>
      <p:sp>
        <p:nvSpPr>
          <p:cNvPr id="16" name="Rectangle: Rounded Corners 15">
            <a:extLst>
              <a:ext uri="{FF2B5EF4-FFF2-40B4-BE49-F238E27FC236}">
                <a16:creationId xmlns:a16="http://schemas.microsoft.com/office/drawing/2014/main" id="{719D6917-3DCB-81CD-E1AD-9CA6815D56B2}"/>
              </a:ext>
            </a:extLst>
          </p:cNvPr>
          <p:cNvSpPr/>
          <p:nvPr/>
        </p:nvSpPr>
        <p:spPr>
          <a:xfrm>
            <a:off x="6714711" y="3179970"/>
            <a:ext cx="2062370" cy="687456"/>
          </a:xfrm>
          <a:prstGeom prst="roundRect">
            <a:avLst>
              <a:gd name="adj" fmla="val 12000"/>
            </a:avLst>
          </a:prstGeom>
          <a:solidFill>
            <a:srgbClr val="FFFFFF"/>
          </a:solidFill>
          <a:ln w="12603">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7288" tIns="34373" rIns="57288" bIns="34373" rtlCol="0" anchor="ctr">
            <a:noAutofit/>
          </a:bodyPr>
          <a:lstStyle/>
          <a:p>
            <a:pPr algn="ctr"/>
            <a:r>
              <a:rPr lang="en-US" sz="1200" b="1">
                <a:solidFill>
                  <a:srgbClr val="1A1A1A"/>
                </a:solidFill>
                <a:latin typeface="Calibri" panose="020F0502020204030204" pitchFamily="34" charset="0"/>
              </a:rPr>
              <a:t>Review &amp; registry services</a:t>
            </a:r>
          </a:p>
          <a:p>
            <a:pPr algn="ctr"/>
            <a:r>
              <a:rPr lang="en-US" sz="1050">
                <a:solidFill>
                  <a:srgbClr val="5A5A5A"/>
                </a:solidFill>
                <a:latin typeface="Calibri" panose="020F0502020204030204" pitchFamily="34" charset="0"/>
              </a:rPr>
              <a:t>revisions, promotion, ledger</a:t>
            </a:r>
            <a:endParaRPr lang="en-IN" sz="1050">
              <a:solidFill>
                <a:srgbClr val="5A5A5A"/>
              </a:solidFill>
              <a:latin typeface="Calibri" panose="020F0502020204030204" pitchFamily="34" charset="0"/>
            </a:endParaRPr>
          </a:p>
        </p:txBody>
      </p:sp>
      <p:sp>
        <p:nvSpPr>
          <p:cNvPr id="17" name="Rectangle 16">
            <a:extLst>
              <a:ext uri="{FF2B5EF4-FFF2-40B4-BE49-F238E27FC236}">
                <a16:creationId xmlns:a16="http://schemas.microsoft.com/office/drawing/2014/main" id="{5BD95E90-D721-287F-7BA5-06E70F2CF08C}"/>
              </a:ext>
            </a:extLst>
          </p:cNvPr>
          <p:cNvSpPr/>
          <p:nvPr/>
        </p:nvSpPr>
        <p:spPr>
          <a:xfrm>
            <a:off x="2085837" y="4119494"/>
            <a:ext cx="6691244" cy="1283252"/>
          </a:xfrm>
          <a:prstGeom prst="rect">
            <a:avLst/>
          </a:prstGeom>
          <a:noFill/>
          <a:ln w="10312" cap="flat" cmpd="sng" algn="ctr">
            <a:solidFill>
              <a:srgbClr val="969696"/>
            </a:solidFill>
            <a:prstDash val="dash"/>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lIns="68746" tIns="22915" rIns="57288" bIns="34373" rtlCol="0" anchor="t"/>
          <a:lstStyle/>
          <a:p>
            <a:r>
              <a:rPr lang="en-IN" sz="1050" b="1">
                <a:solidFill>
                  <a:srgbClr val="5A5A5A"/>
                </a:solidFill>
                <a:latin typeface="Calibri" panose="020F0502020204030204" pitchFamily="34" charset="0"/>
              </a:rPr>
              <a:t>dentexmodel package</a:t>
            </a:r>
          </a:p>
        </p:txBody>
      </p:sp>
      <p:sp>
        <p:nvSpPr>
          <p:cNvPr id="18" name="Rectangle: Rounded Corners 17">
            <a:extLst>
              <a:ext uri="{FF2B5EF4-FFF2-40B4-BE49-F238E27FC236}">
                <a16:creationId xmlns:a16="http://schemas.microsoft.com/office/drawing/2014/main" id="{C828391B-660B-9AFB-FD31-BDDD81FCE0E4}"/>
              </a:ext>
            </a:extLst>
          </p:cNvPr>
          <p:cNvSpPr/>
          <p:nvPr/>
        </p:nvSpPr>
        <p:spPr>
          <a:xfrm>
            <a:off x="2188955" y="4463222"/>
            <a:ext cx="1214507" cy="756202"/>
          </a:xfrm>
          <a:prstGeom prst="roundRect">
            <a:avLst>
              <a:gd name="adj" fmla="val 12000"/>
            </a:avLst>
          </a:prstGeom>
          <a:solidFill>
            <a:srgbClr val="E2E2E2"/>
          </a:solidFill>
          <a:ln w="12603">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7288" tIns="34373" rIns="57288" bIns="34373" rtlCol="0" anchor="ctr">
            <a:noAutofit/>
          </a:bodyPr>
          <a:lstStyle/>
          <a:p>
            <a:pPr algn="ctr"/>
            <a:r>
              <a:rPr lang="en-IN" sz="1150" b="1">
                <a:solidFill>
                  <a:srgbClr val="1A1A1A"/>
                </a:solidFill>
                <a:latin typeface="Calibri" panose="020F0502020204030204" pitchFamily="34" charset="0"/>
              </a:rPr>
              <a:t>Detection</a:t>
            </a:r>
          </a:p>
          <a:p>
            <a:pPr algn="ctr"/>
            <a:r>
              <a:rPr lang="en-IN" sz="950">
                <a:solidFill>
                  <a:srgbClr val="5A5A5A"/>
                </a:solidFill>
                <a:latin typeface="Calibri" panose="020F0502020204030204" pitchFamily="34" charset="0"/>
              </a:rPr>
              <a:t>Faster R-CNN</a:t>
            </a:r>
          </a:p>
        </p:txBody>
      </p:sp>
      <p:sp>
        <p:nvSpPr>
          <p:cNvPr id="19" name="Rectangle: Rounded Corners 18">
            <a:extLst>
              <a:ext uri="{FF2B5EF4-FFF2-40B4-BE49-F238E27FC236}">
                <a16:creationId xmlns:a16="http://schemas.microsoft.com/office/drawing/2014/main" id="{6CAE3484-06A9-8252-E136-3F363B100B4A}"/>
              </a:ext>
            </a:extLst>
          </p:cNvPr>
          <p:cNvSpPr/>
          <p:nvPr/>
        </p:nvSpPr>
        <p:spPr>
          <a:xfrm>
            <a:off x="3506581" y="4463222"/>
            <a:ext cx="1214506" cy="756202"/>
          </a:xfrm>
          <a:prstGeom prst="roundRect">
            <a:avLst>
              <a:gd name="adj" fmla="val 12000"/>
            </a:avLst>
          </a:prstGeom>
          <a:solidFill>
            <a:srgbClr val="E2E2E2"/>
          </a:solidFill>
          <a:ln w="12603">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7288" tIns="34373" rIns="57288" bIns="34373" rtlCol="0" anchor="ctr">
            <a:noAutofit/>
          </a:bodyPr>
          <a:lstStyle/>
          <a:p>
            <a:pPr algn="ctr"/>
            <a:r>
              <a:rPr lang="en-IN" sz="1150" b="1">
                <a:solidFill>
                  <a:srgbClr val="1A1A1A"/>
                </a:solidFill>
                <a:latin typeface="Calibri" panose="020F0502020204030204" pitchFamily="34" charset="0"/>
              </a:rPr>
              <a:t>Numbering</a:t>
            </a:r>
          </a:p>
          <a:p>
            <a:pPr algn="ctr"/>
            <a:r>
              <a:rPr lang="en-IN" sz="950">
                <a:solidFill>
                  <a:srgbClr val="5A5A5A"/>
                </a:solidFill>
                <a:latin typeface="Calibri" panose="020F0502020204030204" pitchFamily="34" charset="0"/>
              </a:rPr>
              <a:t>Faster R-CNN, 32 FDI</a:t>
            </a:r>
          </a:p>
        </p:txBody>
      </p:sp>
      <p:sp>
        <p:nvSpPr>
          <p:cNvPr id="20" name="Rectangle: Rounded Corners 19">
            <a:extLst>
              <a:ext uri="{FF2B5EF4-FFF2-40B4-BE49-F238E27FC236}">
                <a16:creationId xmlns:a16="http://schemas.microsoft.com/office/drawing/2014/main" id="{1A58414C-91CB-CCB0-87F9-5A8D256D2DD8}"/>
              </a:ext>
            </a:extLst>
          </p:cNvPr>
          <p:cNvSpPr/>
          <p:nvPr/>
        </p:nvSpPr>
        <p:spPr>
          <a:xfrm>
            <a:off x="4824206" y="4463222"/>
            <a:ext cx="1214506" cy="756202"/>
          </a:xfrm>
          <a:prstGeom prst="roundRect">
            <a:avLst>
              <a:gd name="adj" fmla="val 12000"/>
            </a:avLst>
          </a:prstGeom>
          <a:solidFill>
            <a:srgbClr val="E2E2E2"/>
          </a:solidFill>
          <a:ln w="12603">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7288" tIns="34373" rIns="57288" bIns="34373" rtlCol="0" anchor="ctr">
            <a:noAutofit/>
          </a:bodyPr>
          <a:lstStyle/>
          <a:p>
            <a:pPr algn="ctr"/>
            <a:r>
              <a:rPr lang="en-IN" sz="1150" b="1">
                <a:solidFill>
                  <a:srgbClr val="1A1A1A"/>
                </a:solidFill>
                <a:latin typeface="Calibri" panose="020F0502020204030204" pitchFamily="34" charset="0"/>
              </a:rPr>
              <a:t>Segmentation</a:t>
            </a:r>
          </a:p>
          <a:p>
            <a:pPr algn="ctr"/>
            <a:r>
              <a:rPr lang="en-IN" sz="950">
                <a:solidFill>
                  <a:srgbClr val="5A5A5A"/>
                </a:solidFill>
                <a:latin typeface="Calibri" panose="020F0502020204030204" pitchFamily="34" charset="0"/>
              </a:rPr>
              <a:t>Mask R-CNN</a:t>
            </a:r>
          </a:p>
        </p:txBody>
      </p:sp>
      <p:sp>
        <p:nvSpPr>
          <p:cNvPr id="21" name="Rectangle: Rounded Corners 20">
            <a:extLst>
              <a:ext uri="{FF2B5EF4-FFF2-40B4-BE49-F238E27FC236}">
                <a16:creationId xmlns:a16="http://schemas.microsoft.com/office/drawing/2014/main" id="{0E186325-C0F0-199C-6461-78E60AD94963}"/>
              </a:ext>
            </a:extLst>
          </p:cNvPr>
          <p:cNvSpPr/>
          <p:nvPr/>
        </p:nvSpPr>
        <p:spPr>
          <a:xfrm>
            <a:off x="6141831" y="4463222"/>
            <a:ext cx="1214506" cy="756202"/>
          </a:xfrm>
          <a:prstGeom prst="roundRect">
            <a:avLst>
              <a:gd name="adj" fmla="val 12000"/>
            </a:avLst>
          </a:prstGeom>
          <a:solidFill>
            <a:srgbClr val="E2E2E2"/>
          </a:solidFill>
          <a:ln w="12603">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7288" tIns="34373" rIns="57288" bIns="34373" rtlCol="0" anchor="ctr">
            <a:noAutofit/>
          </a:bodyPr>
          <a:lstStyle/>
          <a:p>
            <a:pPr algn="ctr"/>
            <a:r>
              <a:rPr lang="en-IN" sz="1150" b="1">
                <a:solidFill>
                  <a:srgbClr val="1A1A1A"/>
                </a:solidFill>
                <a:latin typeface="Calibri" panose="020F0502020204030204" pitchFamily="34" charset="0"/>
              </a:rPr>
              <a:t>Classifier</a:t>
            </a:r>
          </a:p>
          <a:p>
            <a:pPr algn="ctr"/>
            <a:r>
              <a:rPr lang="en-IN" sz="950">
                <a:solidFill>
                  <a:srgbClr val="5A5A5A"/>
                </a:solidFill>
                <a:latin typeface="Calibri" panose="020F0502020204030204" pitchFamily="34" charset="0"/>
              </a:rPr>
              <a:t>ResNet-50, 4 cls</a:t>
            </a:r>
          </a:p>
        </p:txBody>
      </p:sp>
      <p:sp>
        <p:nvSpPr>
          <p:cNvPr id="22" name="Rectangle: Rounded Corners 21">
            <a:extLst>
              <a:ext uri="{FF2B5EF4-FFF2-40B4-BE49-F238E27FC236}">
                <a16:creationId xmlns:a16="http://schemas.microsoft.com/office/drawing/2014/main" id="{F3E55142-D8FE-5123-1462-9A3C7B3BDB3D}"/>
              </a:ext>
            </a:extLst>
          </p:cNvPr>
          <p:cNvSpPr/>
          <p:nvPr/>
        </p:nvSpPr>
        <p:spPr>
          <a:xfrm>
            <a:off x="7459456" y="4463222"/>
            <a:ext cx="1214506" cy="756202"/>
          </a:xfrm>
          <a:prstGeom prst="roundRect">
            <a:avLst>
              <a:gd name="adj" fmla="val 12000"/>
            </a:avLst>
          </a:prstGeom>
          <a:solidFill>
            <a:srgbClr val="FFFFFF"/>
          </a:solidFill>
          <a:ln w="12603">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7288" tIns="34373" rIns="57288" bIns="34373" rtlCol="0" anchor="ctr">
            <a:noAutofit/>
          </a:bodyPr>
          <a:lstStyle/>
          <a:p>
            <a:pPr algn="ctr"/>
            <a:r>
              <a:rPr lang="en-IN" sz="1150" b="1">
                <a:solidFill>
                  <a:srgbClr val="1A1A1A"/>
                </a:solidFill>
                <a:latin typeface="Calibri" panose="020F0502020204030204" pitchFamily="34" charset="0"/>
              </a:rPr>
              <a:t>Uncertainty</a:t>
            </a:r>
          </a:p>
          <a:p>
            <a:pPr algn="ctr"/>
            <a:r>
              <a:rPr lang="en-IN" sz="950">
                <a:solidFill>
                  <a:srgbClr val="5A5A5A"/>
                </a:solidFill>
                <a:latin typeface="Calibri" panose="020F0502020204030204" pitchFamily="34" charset="0"/>
              </a:rPr>
              <a:t>flip-TTA, entropy</a:t>
            </a:r>
          </a:p>
        </p:txBody>
      </p:sp>
      <p:cxnSp>
        <p:nvCxnSpPr>
          <p:cNvPr id="23" name="Connector: Elbow 22">
            <a:extLst>
              <a:ext uri="{FF2B5EF4-FFF2-40B4-BE49-F238E27FC236}">
                <a16:creationId xmlns:a16="http://schemas.microsoft.com/office/drawing/2014/main" id="{4FE46DC6-3A83-A122-A712-D560CFAB54F8}"/>
              </a:ext>
            </a:extLst>
          </p:cNvPr>
          <p:cNvCxnSpPr>
            <a:cxnSpLocks/>
            <a:stCxn id="10" idx="2"/>
            <a:endCxn id="13" idx="0"/>
          </p:cNvCxnSpPr>
          <p:nvPr/>
        </p:nvCxnSpPr>
        <p:spPr>
          <a:xfrm rot="16200000" flipH="1">
            <a:off x="4113834" y="980108"/>
            <a:ext cx="320813" cy="2314437"/>
          </a:xfrm>
          <a:prstGeom prst="bentConnector3">
            <a:avLst>
              <a:gd name="adj1" fmla="val 50000"/>
            </a:avLst>
          </a:prstGeom>
          <a:ln w="14322">
            <a:solidFill>
              <a:srgbClr val="404040"/>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B160E106-D592-C0E8-4CE0-1B53BEFA62DD}"/>
              </a:ext>
            </a:extLst>
          </p:cNvPr>
          <p:cNvCxnSpPr>
            <a:cxnSpLocks/>
            <a:stCxn id="11" idx="2"/>
            <a:endCxn id="13" idx="0"/>
          </p:cNvCxnSpPr>
          <p:nvPr/>
        </p:nvCxnSpPr>
        <p:spPr>
          <a:xfrm>
            <a:off x="5431459" y="1976921"/>
            <a:ext cx="0" cy="320813"/>
          </a:xfrm>
          <a:prstGeom prst="straightConnector1">
            <a:avLst/>
          </a:prstGeom>
          <a:ln w="14322">
            <a:solidFill>
              <a:srgbClr val="404040"/>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AB6763F6-2D52-38E9-AEF6-FB718391E76F}"/>
              </a:ext>
            </a:extLst>
          </p:cNvPr>
          <p:cNvCxnSpPr>
            <a:cxnSpLocks/>
            <a:stCxn id="12" idx="2"/>
            <a:endCxn id="13" idx="0"/>
          </p:cNvCxnSpPr>
          <p:nvPr/>
        </p:nvCxnSpPr>
        <p:spPr>
          <a:xfrm rot="5400000">
            <a:off x="6428272" y="980109"/>
            <a:ext cx="320813" cy="2314437"/>
          </a:xfrm>
          <a:prstGeom prst="bentConnector3">
            <a:avLst>
              <a:gd name="adj1" fmla="val 50000"/>
            </a:avLst>
          </a:prstGeom>
          <a:ln w="14322">
            <a:solidFill>
              <a:srgbClr val="404040"/>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3021E317-68AA-35A1-4125-CD57AE90ACD6}"/>
              </a:ext>
            </a:extLst>
          </p:cNvPr>
          <p:cNvCxnSpPr>
            <a:cxnSpLocks/>
            <a:stCxn id="13" idx="2"/>
            <a:endCxn id="14" idx="0"/>
          </p:cNvCxnSpPr>
          <p:nvPr/>
        </p:nvCxnSpPr>
        <p:spPr>
          <a:xfrm rot="5400000">
            <a:off x="4119563" y="1868074"/>
            <a:ext cx="309356" cy="2314437"/>
          </a:xfrm>
          <a:prstGeom prst="bentConnector3">
            <a:avLst>
              <a:gd name="adj1" fmla="val 50000"/>
            </a:avLst>
          </a:prstGeom>
          <a:ln w="14322">
            <a:solidFill>
              <a:srgbClr val="404040"/>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DE7A1526-8360-4345-A5C1-C5266EEF82E2}"/>
              </a:ext>
            </a:extLst>
          </p:cNvPr>
          <p:cNvCxnSpPr>
            <a:cxnSpLocks/>
            <a:stCxn id="13" idx="2"/>
            <a:endCxn id="15" idx="0"/>
          </p:cNvCxnSpPr>
          <p:nvPr/>
        </p:nvCxnSpPr>
        <p:spPr>
          <a:xfrm>
            <a:off x="5431459" y="2870614"/>
            <a:ext cx="0" cy="309356"/>
          </a:xfrm>
          <a:prstGeom prst="straightConnector1">
            <a:avLst/>
          </a:prstGeom>
          <a:ln w="14322">
            <a:solidFill>
              <a:srgbClr val="404040"/>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Connector: Elbow 27">
            <a:extLst>
              <a:ext uri="{FF2B5EF4-FFF2-40B4-BE49-F238E27FC236}">
                <a16:creationId xmlns:a16="http://schemas.microsoft.com/office/drawing/2014/main" id="{9BCD8A33-CC12-F667-25E7-DEF8F1F3C090}"/>
              </a:ext>
            </a:extLst>
          </p:cNvPr>
          <p:cNvCxnSpPr>
            <a:cxnSpLocks/>
            <a:stCxn id="13" idx="2"/>
            <a:endCxn id="16" idx="0"/>
          </p:cNvCxnSpPr>
          <p:nvPr/>
        </p:nvCxnSpPr>
        <p:spPr>
          <a:xfrm rot="16200000" flipH="1">
            <a:off x="6433999" y="1868073"/>
            <a:ext cx="309356" cy="2314437"/>
          </a:xfrm>
          <a:prstGeom prst="bentConnector3">
            <a:avLst>
              <a:gd name="adj1" fmla="val 50000"/>
            </a:avLst>
          </a:prstGeom>
          <a:ln w="14322">
            <a:solidFill>
              <a:srgbClr val="404040"/>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29" name="Connector: Elbow 28">
            <a:extLst>
              <a:ext uri="{FF2B5EF4-FFF2-40B4-BE49-F238E27FC236}">
                <a16:creationId xmlns:a16="http://schemas.microsoft.com/office/drawing/2014/main" id="{2CD71A4E-41AF-0415-A2E1-FAFD1E2A7376}"/>
              </a:ext>
            </a:extLst>
          </p:cNvPr>
          <p:cNvCxnSpPr>
            <a:cxnSpLocks/>
            <a:stCxn id="14" idx="2"/>
            <a:endCxn id="17" idx="0"/>
          </p:cNvCxnSpPr>
          <p:nvPr/>
        </p:nvCxnSpPr>
        <p:spPr>
          <a:xfrm rot="16200000" flipH="1">
            <a:off x="4148206" y="2836241"/>
            <a:ext cx="252068" cy="2314437"/>
          </a:xfrm>
          <a:prstGeom prst="bentConnector3">
            <a:avLst>
              <a:gd name="adj1" fmla="val 50000"/>
            </a:avLst>
          </a:prstGeom>
          <a:ln w="14322">
            <a:solidFill>
              <a:srgbClr val="404040"/>
            </a:solidFill>
            <a:tailEnd type="triangle" w="med" len="med"/>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20A9A48E-AF0F-C713-6BDC-82839CA2C1BC}"/>
              </a:ext>
            </a:extLst>
          </p:cNvPr>
          <p:cNvSpPr/>
          <p:nvPr/>
        </p:nvSpPr>
        <p:spPr>
          <a:xfrm>
            <a:off x="9475994" y="1289464"/>
            <a:ext cx="2119658" cy="4124740"/>
          </a:xfrm>
          <a:prstGeom prst="rect">
            <a:avLst/>
          </a:prstGeom>
          <a:noFill/>
          <a:ln w="10312" cap="flat" cmpd="sng" algn="ctr">
            <a:solidFill>
              <a:srgbClr val="969696"/>
            </a:solidFill>
            <a:prstDash val="dash"/>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lIns="68746" tIns="22915" rIns="57288" bIns="34373" rtlCol="0" anchor="t"/>
          <a:lstStyle/>
          <a:p>
            <a:r>
              <a:rPr lang="en-IN" sz="1050" b="1">
                <a:solidFill>
                  <a:srgbClr val="5A5A5A"/>
                </a:solidFill>
                <a:latin typeface="Calibri" panose="020F0502020204030204" pitchFamily="34" charset="0"/>
              </a:rPr>
              <a:t>Storage (local disk)</a:t>
            </a:r>
          </a:p>
        </p:txBody>
      </p:sp>
      <p:sp>
        <p:nvSpPr>
          <p:cNvPr id="31" name="Flowchart: Magnetic Disk 30">
            <a:extLst>
              <a:ext uri="{FF2B5EF4-FFF2-40B4-BE49-F238E27FC236}">
                <a16:creationId xmlns:a16="http://schemas.microsoft.com/office/drawing/2014/main" id="{87716935-6784-7B3F-5C64-AB442BA9E535}"/>
              </a:ext>
            </a:extLst>
          </p:cNvPr>
          <p:cNvSpPr/>
          <p:nvPr/>
        </p:nvSpPr>
        <p:spPr>
          <a:xfrm>
            <a:off x="9647858" y="1633192"/>
            <a:ext cx="1775930" cy="710372"/>
          </a:xfrm>
          <a:prstGeom prst="flowChartMagneticDisk">
            <a:avLst/>
          </a:prstGeom>
          <a:solidFill>
            <a:srgbClr val="F5F5F5"/>
          </a:solidFill>
          <a:ln w="12603">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7288" tIns="34373" rIns="57288" bIns="34373" rtlCol="0" anchor="ctr">
            <a:noAutofit/>
          </a:bodyPr>
          <a:lstStyle/>
          <a:p>
            <a:pPr algn="ctr"/>
            <a:r>
              <a:rPr lang="en-IN" sz="1150" b="1">
                <a:solidFill>
                  <a:srgbClr val="1A1A1A"/>
                </a:solidFill>
                <a:latin typeface="Calibri" panose="020F0502020204030204" pitchFamily="34" charset="0"/>
              </a:rPr>
              <a:t>SQLite database</a:t>
            </a:r>
          </a:p>
          <a:p>
            <a:pPr algn="ctr"/>
            <a:r>
              <a:rPr lang="en-IN" sz="950">
                <a:solidFill>
                  <a:srgbClr val="5A5A5A"/>
                </a:solidFill>
                <a:latin typeface="Calibri" panose="020F0502020204030204" pitchFamily="34" charset="0"/>
              </a:rPr>
              <a:t>analyses, reports, reviews</a:t>
            </a:r>
          </a:p>
        </p:txBody>
      </p:sp>
      <p:sp>
        <p:nvSpPr>
          <p:cNvPr id="32" name="Flowchart: Magnetic Disk 31">
            <a:extLst>
              <a:ext uri="{FF2B5EF4-FFF2-40B4-BE49-F238E27FC236}">
                <a16:creationId xmlns:a16="http://schemas.microsoft.com/office/drawing/2014/main" id="{400434A0-04FD-DD3A-ED0C-7EBA2A0342DF}"/>
              </a:ext>
            </a:extLst>
          </p:cNvPr>
          <p:cNvSpPr/>
          <p:nvPr/>
        </p:nvSpPr>
        <p:spPr>
          <a:xfrm>
            <a:off x="9647858" y="2549801"/>
            <a:ext cx="1775930" cy="710372"/>
          </a:xfrm>
          <a:prstGeom prst="flowChartMagneticDisk">
            <a:avLst/>
          </a:prstGeom>
          <a:solidFill>
            <a:srgbClr val="F5F5F5"/>
          </a:solidFill>
          <a:ln w="12603">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7288" tIns="34373" rIns="57288" bIns="34373" rtlCol="0" anchor="ctr">
            <a:noAutofit/>
          </a:bodyPr>
          <a:lstStyle/>
          <a:p>
            <a:pPr algn="ctr"/>
            <a:r>
              <a:rPr lang="en-US" sz="1150" b="1">
                <a:solidFill>
                  <a:srgbClr val="1A1A1A"/>
                </a:solidFill>
                <a:latin typeface="Calibri" panose="020F0502020204030204" pitchFamily="34" charset="0"/>
              </a:rPr>
              <a:t>Checkpoints</a:t>
            </a:r>
          </a:p>
          <a:p>
            <a:pPr algn="ctr"/>
            <a:r>
              <a:rPr lang="en-US" sz="950">
                <a:solidFill>
                  <a:srgbClr val="5A5A5A"/>
                </a:solidFill>
                <a:latin typeface="Calibri" panose="020F0502020204030204" pitchFamily="34" charset="0"/>
              </a:rPr>
              <a:t>4 models + sidecars, SHA-256</a:t>
            </a:r>
            <a:endParaRPr lang="en-IN" sz="950">
              <a:solidFill>
                <a:srgbClr val="5A5A5A"/>
              </a:solidFill>
              <a:latin typeface="Calibri" panose="020F0502020204030204" pitchFamily="34" charset="0"/>
            </a:endParaRPr>
          </a:p>
        </p:txBody>
      </p:sp>
      <p:sp>
        <p:nvSpPr>
          <p:cNvPr id="33" name="Flowchart: Magnetic Disk 32">
            <a:extLst>
              <a:ext uri="{FF2B5EF4-FFF2-40B4-BE49-F238E27FC236}">
                <a16:creationId xmlns:a16="http://schemas.microsoft.com/office/drawing/2014/main" id="{E8EB6634-FA22-6868-CF5C-6659505A83AB}"/>
              </a:ext>
            </a:extLst>
          </p:cNvPr>
          <p:cNvSpPr/>
          <p:nvPr/>
        </p:nvSpPr>
        <p:spPr>
          <a:xfrm>
            <a:off x="9647858" y="3466410"/>
            <a:ext cx="1775930" cy="710371"/>
          </a:xfrm>
          <a:prstGeom prst="flowChartMagneticDisk">
            <a:avLst/>
          </a:prstGeom>
          <a:solidFill>
            <a:srgbClr val="F5F5F5"/>
          </a:solidFill>
          <a:ln w="12603">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7288" tIns="34373" rIns="57288" bIns="34373" rtlCol="0" anchor="ctr">
            <a:noAutofit/>
          </a:bodyPr>
          <a:lstStyle/>
          <a:p>
            <a:pPr algn="ctr"/>
            <a:r>
              <a:rPr lang="fr-FR" sz="1150" b="1">
                <a:solidFill>
                  <a:srgbClr val="1A1A1A"/>
                </a:solidFill>
                <a:latin typeface="Calibri" panose="020F0502020204030204" pitchFamily="34" charset="0"/>
              </a:rPr>
              <a:t>DENTEX images</a:t>
            </a:r>
          </a:p>
          <a:p>
            <a:pPr algn="ctr"/>
            <a:r>
              <a:rPr lang="fr-FR" sz="950">
                <a:solidFill>
                  <a:srgbClr val="5A5A5A"/>
                </a:solidFill>
                <a:latin typeface="Calibri" panose="020F0502020204030204" pitchFamily="34" charset="0"/>
              </a:rPr>
              <a:t>manifest + split file</a:t>
            </a:r>
            <a:endParaRPr lang="en-IN" sz="950">
              <a:solidFill>
                <a:srgbClr val="5A5A5A"/>
              </a:solidFill>
              <a:latin typeface="Calibri" panose="020F0502020204030204" pitchFamily="34" charset="0"/>
            </a:endParaRPr>
          </a:p>
        </p:txBody>
      </p:sp>
      <p:sp>
        <p:nvSpPr>
          <p:cNvPr id="34" name="Flowchart: Magnetic Disk 33">
            <a:extLst>
              <a:ext uri="{FF2B5EF4-FFF2-40B4-BE49-F238E27FC236}">
                <a16:creationId xmlns:a16="http://schemas.microsoft.com/office/drawing/2014/main" id="{5E1998D2-953C-F190-C5A2-0F82AE09400C}"/>
              </a:ext>
            </a:extLst>
          </p:cNvPr>
          <p:cNvSpPr/>
          <p:nvPr/>
        </p:nvSpPr>
        <p:spPr>
          <a:xfrm>
            <a:off x="9647858" y="4383019"/>
            <a:ext cx="1775930" cy="710371"/>
          </a:xfrm>
          <a:prstGeom prst="flowChartMagneticDisk">
            <a:avLst/>
          </a:prstGeom>
          <a:solidFill>
            <a:srgbClr val="F5F5F5"/>
          </a:solidFill>
          <a:ln w="12603">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7288" tIns="34373" rIns="57288" bIns="34373" rtlCol="0" anchor="ctr">
            <a:noAutofit/>
          </a:bodyPr>
          <a:lstStyle/>
          <a:p>
            <a:pPr algn="ctr"/>
            <a:r>
              <a:rPr lang="en-US" sz="1150" b="1">
                <a:solidFill>
                  <a:srgbClr val="1A1A1A"/>
                </a:solidFill>
                <a:latin typeface="Calibri" panose="020F0502020204030204" pitchFamily="34" charset="0"/>
              </a:rPr>
              <a:t>Evaluation reports</a:t>
            </a:r>
          </a:p>
          <a:p>
            <a:pPr algn="ctr"/>
            <a:r>
              <a:rPr lang="en-US" sz="950">
                <a:solidFill>
                  <a:srgbClr val="5A5A5A"/>
                </a:solidFill>
                <a:latin typeface="Calibri" panose="020F0502020204030204" pitchFamily="34" charset="0"/>
              </a:rPr>
              <a:t>JSON / MD + test ledger</a:t>
            </a:r>
            <a:endParaRPr lang="en-IN" sz="950">
              <a:solidFill>
                <a:srgbClr val="5A5A5A"/>
              </a:solidFill>
              <a:latin typeface="Calibri" panose="020F0502020204030204" pitchFamily="34" charset="0"/>
            </a:endParaRPr>
          </a:p>
        </p:txBody>
      </p:sp>
      <p:cxnSp>
        <p:nvCxnSpPr>
          <p:cNvPr id="35" name="Connector: Elbow 34">
            <a:extLst>
              <a:ext uri="{FF2B5EF4-FFF2-40B4-BE49-F238E27FC236}">
                <a16:creationId xmlns:a16="http://schemas.microsoft.com/office/drawing/2014/main" id="{0F79CBEE-5C74-FA92-5C14-30C491104B40}"/>
              </a:ext>
            </a:extLst>
          </p:cNvPr>
          <p:cNvCxnSpPr>
            <a:cxnSpLocks/>
            <a:stCxn id="16" idx="3"/>
            <a:endCxn id="31" idx="2"/>
          </p:cNvCxnSpPr>
          <p:nvPr/>
        </p:nvCxnSpPr>
        <p:spPr>
          <a:xfrm flipV="1">
            <a:off x="8777081" y="1988378"/>
            <a:ext cx="870777" cy="1535320"/>
          </a:xfrm>
          <a:prstGeom prst="bentConnector3">
            <a:avLst>
              <a:gd name="adj1" fmla="val 50000"/>
            </a:avLst>
          </a:prstGeom>
          <a:ln w="14322">
            <a:solidFill>
              <a:srgbClr val="404040"/>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Connector: Elbow 35">
            <a:extLst>
              <a:ext uri="{FF2B5EF4-FFF2-40B4-BE49-F238E27FC236}">
                <a16:creationId xmlns:a16="http://schemas.microsoft.com/office/drawing/2014/main" id="{34773000-F3F5-A468-4B30-EE60A9110C53}"/>
              </a:ext>
            </a:extLst>
          </p:cNvPr>
          <p:cNvCxnSpPr>
            <a:cxnSpLocks/>
            <a:stCxn id="17" idx="3"/>
            <a:endCxn id="32" idx="2"/>
          </p:cNvCxnSpPr>
          <p:nvPr/>
        </p:nvCxnSpPr>
        <p:spPr>
          <a:xfrm flipV="1">
            <a:off x="8777081" y="2904987"/>
            <a:ext cx="870777" cy="1856133"/>
          </a:xfrm>
          <a:prstGeom prst="bentConnector3">
            <a:avLst>
              <a:gd name="adj1" fmla="val 50000"/>
            </a:avLst>
          </a:prstGeom>
          <a:ln w="14322">
            <a:solidFill>
              <a:srgbClr val="404040"/>
            </a:solidFill>
            <a:tailEnd type="triangle" w="med" len="med"/>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C3410A72-1AF8-FC97-E863-35F34A989F78}"/>
              </a:ext>
            </a:extLst>
          </p:cNvPr>
          <p:cNvSpPr txBox="1"/>
          <p:nvPr/>
        </p:nvSpPr>
        <p:spPr>
          <a:xfrm>
            <a:off x="596348" y="5643356"/>
            <a:ext cx="10999305" cy="923330"/>
          </a:xfrm>
          <a:prstGeom prst="rect">
            <a:avLst/>
          </a:prstGeom>
          <a:noFill/>
        </p:spPr>
        <p:txBody>
          <a:bodyPr vert="horz" wrap="square" lIns="57288" tIns="34373" rIns="57288" bIns="34373" rtlCol="0" anchor="t">
            <a:noAutofit/>
          </a:bodyPr>
          <a:lstStyle/>
          <a:p>
            <a:r>
              <a:rPr lang="en-US" sz="1100">
                <a:solidFill>
                  <a:srgbClr val="5A5A5A"/>
                </a:solidFill>
                <a:latin typeface="Calibri" panose="020F0502020204030204" pitchFamily="34" charset="0"/>
              </a:rPr>
              <a:t>Grey boxes are trained networks; white boxes are ordinary code. Everything runs on one machine and the API listens only on the loopback address. An optional OpenAI-compatible LLM path for report wording exists in code but is not configured, so all drafts in this project come from the deterministic template.</a:t>
            </a:r>
            <a:endParaRPr lang="en-IN" sz="1100">
              <a:solidFill>
                <a:srgbClr val="5A5A5A"/>
              </a:solidFill>
              <a:latin typeface="Calibri" panose="020F0502020204030204" pitchFamily="34" charset="0"/>
            </a:endParaRPr>
          </a:p>
        </p:txBody>
      </p:sp>
    </p:spTree>
    <p:extLst>
      <p:ext uri="{BB962C8B-B14F-4D97-AF65-F5344CB8AC3E}">
        <p14:creationId xmlns:p14="http://schemas.microsoft.com/office/powerpoint/2010/main" val="24751361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782FE43-AE78-3B5F-266A-E821D103F04C}"/>
              </a:ext>
            </a:extLst>
          </p:cNvPr>
          <p:cNvSpPr txBox="1"/>
          <p:nvPr/>
        </p:nvSpPr>
        <p:spPr>
          <a:xfrm>
            <a:off x="508000" y="279400"/>
            <a:ext cx="11176000" cy="369332"/>
          </a:xfrm>
          <a:prstGeom prst="rect">
            <a:avLst/>
          </a:prstGeom>
          <a:noFill/>
        </p:spPr>
        <p:txBody>
          <a:bodyPr vert="horz" wrap="square" lIns="63500" tIns="38100" rIns="63500" bIns="38100" rtlCol="0" anchor="ctr">
            <a:noAutofit/>
          </a:bodyPr>
          <a:lstStyle/>
          <a:p>
            <a:r>
              <a:rPr lang="en-IN" sz="2600" b="1">
                <a:solidFill>
                  <a:srgbClr val="1F3A5F"/>
                </a:solidFill>
                <a:latin typeface="Calibri" panose="020F0502020204030204" pitchFamily="34" charset="0"/>
              </a:rPr>
              <a:t>Technology stack</a:t>
            </a:r>
          </a:p>
        </p:txBody>
      </p:sp>
      <p:sp>
        <p:nvSpPr>
          <p:cNvPr id="3" name="Rectangle 2">
            <a:extLst>
              <a:ext uri="{FF2B5EF4-FFF2-40B4-BE49-F238E27FC236}">
                <a16:creationId xmlns:a16="http://schemas.microsoft.com/office/drawing/2014/main" id="{2D488E8F-E905-11B3-6A4B-CEF9F6842B48}"/>
              </a:ext>
            </a:extLst>
          </p:cNvPr>
          <p:cNvSpPr/>
          <p:nvPr/>
        </p:nvSpPr>
        <p:spPr>
          <a:xfrm>
            <a:off x="533400" y="939800"/>
            <a:ext cx="889000" cy="38100"/>
          </a:xfrm>
          <a:prstGeom prst="rect">
            <a:avLst/>
          </a:prstGeom>
          <a:solidFill>
            <a:srgbClr val="0F766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738AFA86-E7A9-213E-F261-C49A1A37B730}"/>
              </a:ext>
            </a:extLst>
          </p:cNvPr>
          <p:cNvSpPr txBox="1"/>
          <p:nvPr/>
        </p:nvSpPr>
        <p:spPr>
          <a:xfrm>
            <a:off x="508000" y="6502400"/>
            <a:ext cx="8890000" cy="369332"/>
          </a:xfrm>
          <a:prstGeom prst="rect">
            <a:avLst/>
          </a:prstGeom>
          <a:noFill/>
        </p:spPr>
        <p:txBody>
          <a:bodyPr vert="horz" wrap="square" lIns="63500" tIns="38100" rIns="63500" bIns="38100" rtlCol="0" anchor="t">
            <a:noAutofit/>
          </a:bodyPr>
          <a:lstStyle/>
          <a:p>
            <a:r>
              <a:rPr lang="it-IT" sz="900">
                <a:solidFill>
                  <a:srgbClr val="55657A"/>
                </a:solidFill>
                <a:latin typeface="Calibri" panose="020F0502020204030204" pitchFamily="34" charset="0"/>
              </a:rPr>
              <a:t>DentaMind AI · B.Tech Capstone · PCCOE CSE (AI &amp; ML) 2026-27</a:t>
            </a:r>
            <a:endParaRPr lang="en-IN" sz="900">
              <a:solidFill>
                <a:srgbClr val="55657A"/>
              </a:solidFill>
              <a:latin typeface="Calibri" panose="020F0502020204030204" pitchFamily="34" charset="0"/>
            </a:endParaRPr>
          </a:p>
        </p:txBody>
      </p:sp>
      <p:sp>
        <p:nvSpPr>
          <p:cNvPr id="5" name="TextBox 4">
            <a:extLst>
              <a:ext uri="{FF2B5EF4-FFF2-40B4-BE49-F238E27FC236}">
                <a16:creationId xmlns:a16="http://schemas.microsoft.com/office/drawing/2014/main" id="{5F981C12-161F-B147-A12A-62AFF7A9E687}"/>
              </a:ext>
            </a:extLst>
          </p:cNvPr>
          <p:cNvSpPr txBox="1"/>
          <p:nvPr/>
        </p:nvSpPr>
        <p:spPr>
          <a:xfrm>
            <a:off x="10414000" y="6502400"/>
            <a:ext cx="1270000" cy="369332"/>
          </a:xfrm>
          <a:prstGeom prst="rect">
            <a:avLst/>
          </a:prstGeom>
          <a:noFill/>
        </p:spPr>
        <p:txBody>
          <a:bodyPr vert="horz" wrap="square" lIns="63500" tIns="38100" rIns="63500" bIns="38100" rtlCol="0" anchor="t">
            <a:noAutofit/>
          </a:bodyPr>
          <a:lstStyle/>
          <a:p>
            <a:pPr algn="r"/>
            <a:r>
              <a:rPr lang="en-IN" sz="900">
                <a:solidFill>
                  <a:srgbClr val="55657A"/>
                </a:solidFill>
                <a:latin typeface="Calibri" panose="020F0502020204030204" pitchFamily="34" charset="0"/>
              </a:rPr>
              <a:t>11 / 22</a:t>
            </a:r>
          </a:p>
        </p:txBody>
      </p:sp>
      <p:graphicFrame>
        <p:nvGraphicFramePr>
          <p:cNvPr id="6" name="Table 5">
            <a:extLst>
              <a:ext uri="{FF2B5EF4-FFF2-40B4-BE49-F238E27FC236}">
                <a16:creationId xmlns:a16="http://schemas.microsoft.com/office/drawing/2014/main" id="{801559B5-E04F-1C9C-1CA8-92F7D0E1F52E}"/>
              </a:ext>
            </a:extLst>
          </p:cNvPr>
          <p:cNvGraphicFramePr>
            <a:graphicFrameLocks noGrp="1"/>
          </p:cNvGraphicFramePr>
          <p:nvPr>
            <p:extLst>
              <p:ext uri="{D42A27DB-BD31-4B8C-83A1-F6EECF244321}">
                <p14:modId xmlns:p14="http://schemas.microsoft.com/office/powerpoint/2010/main" val="1256846583"/>
              </p:ext>
            </p:extLst>
          </p:nvPr>
        </p:nvGraphicFramePr>
        <p:xfrm>
          <a:off x="533400" y="1168400"/>
          <a:ext cx="11125200" cy="3454400"/>
        </p:xfrm>
        <a:graphic>
          <a:graphicData uri="http://schemas.openxmlformats.org/drawingml/2006/table">
            <a:tbl>
              <a:tblPr firstRow="1" bandRow="1">
                <a:tableStyleId>{5C22544A-7EE6-4342-B048-85BDC9FD1C3A}</a:tableStyleId>
              </a:tblPr>
              <a:tblGrid>
                <a:gridCol w="2002536">
                  <a:extLst>
                    <a:ext uri="{9D8B030D-6E8A-4147-A177-3AD203B41FA5}">
                      <a16:colId xmlns:a16="http://schemas.microsoft.com/office/drawing/2014/main" val="1200193411"/>
                    </a:ext>
                  </a:extLst>
                </a:gridCol>
                <a:gridCol w="3782568">
                  <a:extLst>
                    <a:ext uri="{9D8B030D-6E8A-4147-A177-3AD203B41FA5}">
                      <a16:colId xmlns:a16="http://schemas.microsoft.com/office/drawing/2014/main" val="2427013203"/>
                    </a:ext>
                  </a:extLst>
                </a:gridCol>
                <a:gridCol w="5340096">
                  <a:extLst>
                    <a:ext uri="{9D8B030D-6E8A-4147-A177-3AD203B41FA5}">
                      <a16:colId xmlns:a16="http://schemas.microsoft.com/office/drawing/2014/main" val="74962745"/>
                    </a:ext>
                  </a:extLst>
                </a:gridCol>
              </a:tblGrid>
              <a:tr h="431800">
                <a:tc>
                  <a:txBody>
                    <a:bodyPr/>
                    <a:lstStyle/>
                    <a:p>
                      <a:r>
                        <a:rPr lang="en-IN" sz="1500" b="1">
                          <a:solidFill>
                            <a:srgbClr val="FFFFFF"/>
                          </a:solidFill>
                          <a:latin typeface="Calibri" panose="020F0502020204030204" pitchFamily="34" charset="0"/>
                        </a:rPr>
                        <a:t>Layer</a:t>
                      </a:r>
                    </a:p>
                  </a:txBody>
                  <a:tcPr marL="76200" marR="76200" marT="38100" marB="38100">
                    <a:solidFill>
                      <a:srgbClr val="1F3A5F"/>
                    </a:solidFill>
                  </a:tcPr>
                </a:tc>
                <a:tc>
                  <a:txBody>
                    <a:bodyPr/>
                    <a:lstStyle/>
                    <a:p>
                      <a:r>
                        <a:rPr lang="en-IN" sz="1500" b="1">
                          <a:solidFill>
                            <a:srgbClr val="FFFFFF"/>
                          </a:solidFill>
                          <a:latin typeface="Calibri" panose="020F0502020204030204" pitchFamily="34" charset="0"/>
                        </a:rPr>
                        <a:t>Technology</a:t>
                      </a:r>
                    </a:p>
                  </a:txBody>
                  <a:tcPr marL="76200" marR="76200" marT="38100" marB="38100">
                    <a:solidFill>
                      <a:srgbClr val="1F3A5F"/>
                    </a:solidFill>
                  </a:tcPr>
                </a:tc>
                <a:tc>
                  <a:txBody>
                    <a:bodyPr/>
                    <a:lstStyle/>
                    <a:p>
                      <a:r>
                        <a:rPr lang="en-IN" sz="1500" b="1">
                          <a:solidFill>
                            <a:srgbClr val="FFFFFF"/>
                          </a:solidFill>
                          <a:latin typeface="Calibri" panose="020F0502020204030204" pitchFamily="34" charset="0"/>
                        </a:rPr>
                        <a:t>Role in DentaMind</a:t>
                      </a:r>
                    </a:p>
                  </a:txBody>
                  <a:tcPr marL="76200" marR="76200" marT="38100" marB="38100">
                    <a:solidFill>
                      <a:srgbClr val="1F3A5F"/>
                    </a:solidFill>
                  </a:tcPr>
                </a:tc>
                <a:extLst>
                  <a:ext uri="{0D108BD9-81ED-4DB2-BD59-A6C34878D82A}">
                    <a16:rowId xmlns:a16="http://schemas.microsoft.com/office/drawing/2014/main" val="2182621283"/>
                  </a:ext>
                </a:extLst>
              </a:tr>
              <a:tr h="431800">
                <a:tc>
                  <a:txBody>
                    <a:bodyPr/>
                    <a:lstStyle/>
                    <a:p>
                      <a:r>
                        <a:rPr lang="en-IN" sz="1500" b="1">
                          <a:solidFill>
                            <a:srgbClr val="1A1A1A"/>
                          </a:solidFill>
                          <a:latin typeface="Calibri" panose="020F0502020204030204" pitchFamily="34" charset="0"/>
                        </a:rPr>
                        <a:t>Models</a:t>
                      </a:r>
                    </a:p>
                  </a:txBody>
                  <a:tcPr marL="76200" marR="76200" marT="38100" marB="38100">
                    <a:solidFill>
                      <a:srgbClr val="FFFFFF"/>
                    </a:solidFill>
                  </a:tcPr>
                </a:tc>
                <a:tc>
                  <a:txBody>
                    <a:bodyPr/>
                    <a:lstStyle/>
                    <a:p>
                      <a:r>
                        <a:rPr lang="en-US" sz="1500" b="0">
                          <a:solidFill>
                            <a:srgbClr val="1A1A1A"/>
                          </a:solidFill>
                          <a:latin typeface="Calibri" panose="020F0502020204030204" pitchFamily="34" charset="0"/>
                        </a:rPr>
                        <a:t>PyTorch 2.6, torchvision 0.21 (CUDA 12.4)</a:t>
                      </a:r>
                      <a:endParaRPr lang="en-IN" sz="1500" b="0">
                        <a:solidFill>
                          <a:srgbClr val="1A1A1A"/>
                        </a:solidFill>
                        <a:latin typeface="Calibri" panose="020F0502020204030204" pitchFamily="34" charset="0"/>
                      </a:endParaRPr>
                    </a:p>
                  </a:txBody>
                  <a:tcPr marL="76200" marR="76200" marT="38100" marB="38100">
                    <a:solidFill>
                      <a:srgbClr val="FFFFFF"/>
                    </a:solidFill>
                  </a:tcPr>
                </a:tc>
                <a:tc>
                  <a:txBody>
                    <a:bodyPr/>
                    <a:lstStyle/>
                    <a:p>
                      <a:r>
                        <a:rPr lang="en-IN" sz="1500" b="0">
                          <a:solidFill>
                            <a:srgbClr val="1A1A1A"/>
                          </a:solidFill>
                          <a:latin typeface="Calibri" panose="020F0502020204030204" pitchFamily="34" charset="0"/>
                        </a:rPr>
                        <a:t>Faster R-CNN, Mask R-CNN, ResNet-50; training and inference</a:t>
                      </a:r>
                    </a:p>
                  </a:txBody>
                  <a:tcPr marL="76200" marR="76200" marT="38100" marB="38100">
                    <a:solidFill>
                      <a:srgbClr val="FFFFFF"/>
                    </a:solidFill>
                  </a:tcPr>
                </a:tc>
                <a:extLst>
                  <a:ext uri="{0D108BD9-81ED-4DB2-BD59-A6C34878D82A}">
                    <a16:rowId xmlns:a16="http://schemas.microsoft.com/office/drawing/2014/main" val="3559121323"/>
                  </a:ext>
                </a:extLst>
              </a:tr>
              <a:tr h="431800">
                <a:tc>
                  <a:txBody>
                    <a:bodyPr/>
                    <a:lstStyle/>
                    <a:p>
                      <a:r>
                        <a:rPr lang="en-IN" sz="1500" b="1">
                          <a:solidFill>
                            <a:srgbClr val="1A1A1A"/>
                          </a:solidFill>
                          <a:latin typeface="Calibri" panose="020F0502020204030204" pitchFamily="34" charset="0"/>
                        </a:rPr>
                        <a:t>Backend</a:t>
                      </a:r>
                    </a:p>
                  </a:txBody>
                  <a:tcPr marL="76200" marR="76200" marT="38100" marB="38100">
                    <a:solidFill>
                      <a:srgbClr val="F1F5F9"/>
                    </a:solidFill>
                  </a:tcPr>
                </a:tc>
                <a:tc>
                  <a:txBody>
                    <a:bodyPr/>
                    <a:lstStyle/>
                    <a:p>
                      <a:r>
                        <a:rPr lang="en-IN" sz="1500" b="0">
                          <a:solidFill>
                            <a:srgbClr val="1A1A1A"/>
                          </a:solidFill>
                          <a:latin typeface="Calibri" panose="020F0502020204030204" pitchFamily="34" charset="0"/>
                        </a:rPr>
                        <a:t>Python 3.13, FastAPI 0.143, Uvicorn</a:t>
                      </a:r>
                    </a:p>
                  </a:txBody>
                  <a:tcPr marL="76200" marR="76200" marT="38100" marB="38100">
                    <a:solidFill>
                      <a:srgbClr val="F1F5F9"/>
                    </a:solidFill>
                  </a:tcPr>
                </a:tc>
                <a:tc>
                  <a:txBody>
                    <a:bodyPr/>
                    <a:lstStyle/>
                    <a:p>
                      <a:r>
                        <a:rPr lang="en-US" sz="1500" b="0">
                          <a:solidFill>
                            <a:srgbClr val="1A1A1A"/>
                          </a:solidFill>
                          <a:latin typeface="Calibri" panose="020F0502020204030204" pitchFamily="34" charset="0"/>
                        </a:rPr>
                        <a:t>REST API, token auth, rate limits, pipeline and report services</a:t>
                      </a:r>
                      <a:endParaRPr lang="en-IN" sz="1500" b="0">
                        <a:solidFill>
                          <a:srgbClr val="1A1A1A"/>
                        </a:solidFill>
                        <a:latin typeface="Calibri" panose="020F0502020204030204" pitchFamily="34" charset="0"/>
                      </a:endParaRPr>
                    </a:p>
                  </a:txBody>
                  <a:tcPr marL="76200" marR="76200" marT="38100" marB="38100">
                    <a:solidFill>
                      <a:srgbClr val="F1F5F9"/>
                    </a:solidFill>
                  </a:tcPr>
                </a:tc>
                <a:extLst>
                  <a:ext uri="{0D108BD9-81ED-4DB2-BD59-A6C34878D82A}">
                    <a16:rowId xmlns:a16="http://schemas.microsoft.com/office/drawing/2014/main" val="3398712356"/>
                  </a:ext>
                </a:extLst>
              </a:tr>
              <a:tr h="431800">
                <a:tc>
                  <a:txBody>
                    <a:bodyPr/>
                    <a:lstStyle/>
                    <a:p>
                      <a:r>
                        <a:rPr lang="en-IN" sz="1500" b="1">
                          <a:solidFill>
                            <a:srgbClr val="1A1A1A"/>
                          </a:solidFill>
                          <a:latin typeface="Calibri" panose="020F0502020204030204" pitchFamily="34" charset="0"/>
                        </a:rPr>
                        <a:t>Data</a:t>
                      </a:r>
                    </a:p>
                  </a:txBody>
                  <a:tcPr marL="76200" marR="76200" marT="38100" marB="38100">
                    <a:solidFill>
                      <a:srgbClr val="FFFFFF"/>
                    </a:solidFill>
                  </a:tcPr>
                </a:tc>
                <a:tc>
                  <a:txBody>
                    <a:bodyPr/>
                    <a:lstStyle/>
                    <a:p>
                      <a:r>
                        <a:rPr lang="en-IN" sz="1500" b="0">
                          <a:solidFill>
                            <a:srgbClr val="1A1A1A"/>
                          </a:solidFill>
                          <a:latin typeface="Calibri" panose="020F0502020204030204" pitchFamily="34" charset="0"/>
                        </a:rPr>
                        <a:t>NumPy, Pillow, SQLite</a:t>
                      </a:r>
                    </a:p>
                  </a:txBody>
                  <a:tcPr marL="76200" marR="76200" marT="38100" marB="38100">
                    <a:solidFill>
                      <a:srgbClr val="FFFFFF"/>
                    </a:solidFill>
                  </a:tcPr>
                </a:tc>
                <a:tc>
                  <a:txBody>
                    <a:bodyPr/>
                    <a:lstStyle/>
                    <a:p>
                      <a:r>
                        <a:rPr lang="en-US" sz="1500" b="0">
                          <a:solidFill>
                            <a:srgbClr val="1A1A1A"/>
                          </a:solidFill>
                          <a:latin typeface="Calibri" panose="020F0502020204030204" pitchFamily="34" charset="0"/>
                        </a:rPr>
                        <a:t>Image loading, hashing, crops; analyses, reports and reviews</a:t>
                      </a:r>
                      <a:endParaRPr lang="en-IN" sz="1500" b="0">
                        <a:solidFill>
                          <a:srgbClr val="1A1A1A"/>
                        </a:solidFill>
                        <a:latin typeface="Calibri" panose="020F0502020204030204" pitchFamily="34" charset="0"/>
                      </a:endParaRPr>
                    </a:p>
                  </a:txBody>
                  <a:tcPr marL="76200" marR="76200" marT="38100" marB="38100">
                    <a:solidFill>
                      <a:srgbClr val="FFFFFF"/>
                    </a:solidFill>
                  </a:tcPr>
                </a:tc>
                <a:extLst>
                  <a:ext uri="{0D108BD9-81ED-4DB2-BD59-A6C34878D82A}">
                    <a16:rowId xmlns:a16="http://schemas.microsoft.com/office/drawing/2014/main" val="1718885244"/>
                  </a:ext>
                </a:extLst>
              </a:tr>
              <a:tr h="431800">
                <a:tc>
                  <a:txBody>
                    <a:bodyPr/>
                    <a:lstStyle/>
                    <a:p>
                      <a:r>
                        <a:rPr lang="en-IN" sz="1500" b="1">
                          <a:solidFill>
                            <a:srgbClr val="1A1A1A"/>
                          </a:solidFill>
                          <a:latin typeface="Calibri" panose="020F0502020204030204" pitchFamily="34" charset="0"/>
                        </a:rPr>
                        <a:t>Frontend</a:t>
                      </a:r>
                    </a:p>
                  </a:txBody>
                  <a:tcPr marL="76200" marR="76200" marT="38100" marB="38100">
                    <a:solidFill>
                      <a:srgbClr val="F1F5F9"/>
                    </a:solidFill>
                  </a:tcPr>
                </a:tc>
                <a:tc>
                  <a:txBody>
                    <a:bodyPr/>
                    <a:lstStyle/>
                    <a:p>
                      <a:r>
                        <a:rPr lang="en-IN" sz="1500" b="0">
                          <a:solidFill>
                            <a:srgbClr val="1A1A1A"/>
                          </a:solidFill>
                          <a:latin typeface="Calibri" panose="020F0502020204030204" pitchFamily="34" charset="0"/>
                        </a:rPr>
                        <a:t>React 18, Vite 5, Tailwind CSS, Recharts</a:t>
                      </a:r>
                    </a:p>
                  </a:txBody>
                  <a:tcPr marL="76200" marR="76200" marT="38100" marB="38100">
                    <a:solidFill>
                      <a:srgbClr val="F1F5F9"/>
                    </a:solidFill>
                  </a:tcPr>
                </a:tc>
                <a:tc>
                  <a:txBody>
                    <a:bodyPr/>
                    <a:lstStyle/>
                    <a:p>
                      <a:r>
                        <a:rPr lang="en-US" sz="1500" b="0">
                          <a:solidFill>
                            <a:srgbClr val="1A1A1A"/>
                          </a:solidFill>
                          <a:latin typeface="Calibri" panose="020F0502020204030204" pitchFamily="34" charset="0"/>
                        </a:rPr>
                        <a:t>Analysis viewer, reports, review queue, research pages</a:t>
                      </a:r>
                      <a:endParaRPr lang="en-IN" sz="1500" b="0">
                        <a:solidFill>
                          <a:srgbClr val="1A1A1A"/>
                        </a:solidFill>
                        <a:latin typeface="Calibri" panose="020F0502020204030204" pitchFamily="34" charset="0"/>
                      </a:endParaRPr>
                    </a:p>
                  </a:txBody>
                  <a:tcPr marL="76200" marR="76200" marT="38100" marB="38100">
                    <a:solidFill>
                      <a:srgbClr val="F1F5F9"/>
                    </a:solidFill>
                  </a:tcPr>
                </a:tc>
                <a:extLst>
                  <a:ext uri="{0D108BD9-81ED-4DB2-BD59-A6C34878D82A}">
                    <a16:rowId xmlns:a16="http://schemas.microsoft.com/office/drawing/2014/main" val="2532547967"/>
                  </a:ext>
                </a:extLst>
              </a:tr>
              <a:tr h="431800">
                <a:tc>
                  <a:txBody>
                    <a:bodyPr/>
                    <a:lstStyle/>
                    <a:p>
                      <a:r>
                        <a:rPr lang="en-IN" sz="1500" b="1">
                          <a:solidFill>
                            <a:srgbClr val="1A1A1A"/>
                          </a:solidFill>
                          <a:latin typeface="Calibri" panose="020F0502020204030204" pitchFamily="34" charset="0"/>
                        </a:rPr>
                        <a:t>Reports</a:t>
                      </a:r>
                    </a:p>
                  </a:txBody>
                  <a:tcPr marL="76200" marR="76200" marT="38100" marB="38100">
                    <a:solidFill>
                      <a:srgbClr val="FFFFFF"/>
                    </a:solidFill>
                  </a:tcPr>
                </a:tc>
                <a:tc>
                  <a:txBody>
                    <a:bodyPr/>
                    <a:lstStyle/>
                    <a:p>
                      <a:r>
                        <a:rPr lang="en-IN" sz="1500" b="0">
                          <a:solidFill>
                            <a:srgbClr val="1A1A1A"/>
                          </a:solidFill>
                          <a:latin typeface="Calibri" panose="020F0502020204030204" pitchFamily="34" charset="0"/>
                        </a:rPr>
                        <a:t>Template engine (EN / HI / MR) + validator</a:t>
                      </a:r>
                    </a:p>
                  </a:txBody>
                  <a:tcPr marL="76200" marR="76200" marT="38100" marB="38100">
                    <a:solidFill>
                      <a:srgbClr val="FFFFFF"/>
                    </a:solidFill>
                  </a:tcPr>
                </a:tc>
                <a:tc>
                  <a:txBody>
                    <a:bodyPr/>
                    <a:lstStyle/>
                    <a:p>
                      <a:r>
                        <a:rPr lang="en-US" sz="1500" b="0">
                          <a:solidFill>
                            <a:srgbClr val="1A1A1A"/>
                          </a:solidFill>
                          <a:latin typeface="Calibri" panose="020F0502020204030204" pitchFamily="34" charset="0"/>
                        </a:rPr>
                        <a:t>Evidence-grounded drafts; optional LLM path not configured</a:t>
                      </a:r>
                      <a:endParaRPr lang="en-IN" sz="1500" b="0">
                        <a:solidFill>
                          <a:srgbClr val="1A1A1A"/>
                        </a:solidFill>
                        <a:latin typeface="Calibri" panose="020F0502020204030204" pitchFamily="34" charset="0"/>
                      </a:endParaRPr>
                    </a:p>
                  </a:txBody>
                  <a:tcPr marL="76200" marR="76200" marT="38100" marB="38100">
                    <a:solidFill>
                      <a:srgbClr val="FFFFFF"/>
                    </a:solidFill>
                  </a:tcPr>
                </a:tc>
                <a:extLst>
                  <a:ext uri="{0D108BD9-81ED-4DB2-BD59-A6C34878D82A}">
                    <a16:rowId xmlns:a16="http://schemas.microsoft.com/office/drawing/2014/main" val="875532658"/>
                  </a:ext>
                </a:extLst>
              </a:tr>
              <a:tr h="431800">
                <a:tc>
                  <a:txBody>
                    <a:bodyPr/>
                    <a:lstStyle/>
                    <a:p>
                      <a:r>
                        <a:rPr lang="en-IN" sz="1500" b="1">
                          <a:solidFill>
                            <a:srgbClr val="1A1A1A"/>
                          </a:solidFill>
                          <a:latin typeface="Calibri" panose="020F0502020204030204" pitchFamily="34" charset="0"/>
                        </a:rPr>
                        <a:t>Quality</a:t>
                      </a:r>
                    </a:p>
                  </a:txBody>
                  <a:tcPr marL="76200" marR="76200" marT="38100" marB="38100">
                    <a:solidFill>
                      <a:srgbClr val="F1F5F9"/>
                    </a:solidFill>
                  </a:tcPr>
                </a:tc>
                <a:tc>
                  <a:txBody>
                    <a:bodyPr/>
                    <a:lstStyle/>
                    <a:p>
                      <a:r>
                        <a:rPr lang="en-US" sz="1500" b="0">
                          <a:solidFill>
                            <a:srgbClr val="1A1A1A"/>
                          </a:solidFill>
                          <a:latin typeface="Calibri" panose="020F0502020204030204" pitchFamily="34" charset="0"/>
                        </a:rPr>
                        <a:t>pytest (233 tests), scripts for leakage and ledger</a:t>
                      </a:r>
                      <a:endParaRPr lang="en-IN" sz="1500" b="0">
                        <a:solidFill>
                          <a:srgbClr val="1A1A1A"/>
                        </a:solidFill>
                        <a:latin typeface="Calibri" panose="020F0502020204030204" pitchFamily="34" charset="0"/>
                      </a:endParaRPr>
                    </a:p>
                  </a:txBody>
                  <a:tcPr marL="76200" marR="76200" marT="38100" marB="38100">
                    <a:solidFill>
                      <a:srgbClr val="F1F5F9"/>
                    </a:solidFill>
                  </a:tcPr>
                </a:tc>
                <a:tc>
                  <a:txBody>
                    <a:bodyPr/>
                    <a:lstStyle/>
                    <a:p>
                      <a:r>
                        <a:rPr lang="en-US" sz="1500" b="0">
                          <a:solidFill>
                            <a:srgbClr val="1A1A1A"/>
                          </a:solidFill>
                          <a:latin typeface="Calibri" panose="020F0502020204030204" pitchFamily="34" charset="0"/>
                        </a:rPr>
                        <a:t>Regression tests, integrity checks, reproducible evaluation</a:t>
                      </a:r>
                      <a:endParaRPr lang="en-IN" sz="1500" b="0">
                        <a:solidFill>
                          <a:srgbClr val="1A1A1A"/>
                        </a:solidFill>
                        <a:latin typeface="Calibri" panose="020F0502020204030204" pitchFamily="34" charset="0"/>
                      </a:endParaRPr>
                    </a:p>
                  </a:txBody>
                  <a:tcPr marL="76200" marR="76200" marT="38100" marB="38100">
                    <a:solidFill>
                      <a:srgbClr val="F1F5F9"/>
                    </a:solidFill>
                  </a:tcPr>
                </a:tc>
                <a:extLst>
                  <a:ext uri="{0D108BD9-81ED-4DB2-BD59-A6C34878D82A}">
                    <a16:rowId xmlns:a16="http://schemas.microsoft.com/office/drawing/2014/main" val="3880339438"/>
                  </a:ext>
                </a:extLst>
              </a:tr>
              <a:tr h="431800">
                <a:tc>
                  <a:txBody>
                    <a:bodyPr/>
                    <a:lstStyle/>
                    <a:p>
                      <a:r>
                        <a:rPr lang="en-IN" sz="1500" b="1">
                          <a:solidFill>
                            <a:srgbClr val="1A1A1A"/>
                          </a:solidFill>
                          <a:latin typeface="Calibri" panose="020F0502020204030204" pitchFamily="34" charset="0"/>
                        </a:rPr>
                        <a:t>Hardware</a:t>
                      </a:r>
                    </a:p>
                  </a:txBody>
                  <a:tcPr marL="76200" marR="76200" marT="38100" marB="38100">
                    <a:solidFill>
                      <a:srgbClr val="FFFFFF"/>
                    </a:solidFill>
                  </a:tcPr>
                </a:tc>
                <a:tc>
                  <a:txBody>
                    <a:bodyPr/>
                    <a:lstStyle/>
                    <a:p>
                      <a:r>
                        <a:rPr lang="en-IN" sz="1500" b="0">
                          <a:solidFill>
                            <a:srgbClr val="1A1A1A"/>
                          </a:solidFill>
                          <a:latin typeface="Calibri" panose="020F0502020204030204" pitchFamily="34" charset="0"/>
                        </a:rPr>
                        <a:t>NVIDIA RTX 3050 Laptop GPU, 4 GB</a:t>
                      </a:r>
                    </a:p>
                  </a:txBody>
                  <a:tcPr marL="76200" marR="76200" marT="38100" marB="38100">
                    <a:solidFill>
                      <a:srgbClr val="FFFFFF"/>
                    </a:solidFill>
                  </a:tcPr>
                </a:tc>
                <a:tc>
                  <a:txBody>
                    <a:bodyPr/>
                    <a:lstStyle/>
                    <a:p>
                      <a:r>
                        <a:rPr lang="en-US" sz="1500" b="0">
                          <a:solidFill>
                            <a:srgbClr val="1A1A1A"/>
                          </a:solidFill>
                          <a:latin typeface="Calibri" panose="020F0502020204030204" pitchFamily="34" charset="0"/>
                        </a:rPr>
                        <a:t>All training, evaluation and inference</a:t>
                      </a:r>
                      <a:endParaRPr lang="en-IN" sz="1500" b="0">
                        <a:solidFill>
                          <a:srgbClr val="1A1A1A"/>
                        </a:solidFill>
                        <a:latin typeface="Calibri" panose="020F0502020204030204" pitchFamily="34" charset="0"/>
                      </a:endParaRPr>
                    </a:p>
                  </a:txBody>
                  <a:tcPr marL="76200" marR="76200" marT="38100" marB="38100">
                    <a:solidFill>
                      <a:srgbClr val="FFFFFF"/>
                    </a:solidFill>
                  </a:tcPr>
                </a:tc>
                <a:extLst>
                  <a:ext uri="{0D108BD9-81ED-4DB2-BD59-A6C34878D82A}">
                    <a16:rowId xmlns:a16="http://schemas.microsoft.com/office/drawing/2014/main" val="497723723"/>
                  </a:ext>
                </a:extLst>
              </a:tr>
            </a:tbl>
          </a:graphicData>
        </a:graphic>
      </p:graphicFrame>
    </p:spTree>
    <p:extLst>
      <p:ext uri="{BB962C8B-B14F-4D97-AF65-F5344CB8AC3E}">
        <p14:creationId xmlns:p14="http://schemas.microsoft.com/office/powerpoint/2010/main" val="10643566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4046752-8987-BB5F-65D3-135121C49B16}"/>
              </a:ext>
            </a:extLst>
          </p:cNvPr>
          <p:cNvSpPr txBox="1"/>
          <p:nvPr/>
        </p:nvSpPr>
        <p:spPr>
          <a:xfrm>
            <a:off x="508000" y="279400"/>
            <a:ext cx="11176000" cy="369332"/>
          </a:xfrm>
          <a:prstGeom prst="rect">
            <a:avLst/>
          </a:prstGeom>
          <a:noFill/>
        </p:spPr>
        <p:txBody>
          <a:bodyPr vert="horz" wrap="square" lIns="63500" tIns="38100" rIns="63500" bIns="38100" rtlCol="0" anchor="ctr">
            <a:noAutofit/>
          </a:bodyPr>
          <a:lstStyle/>
          <a:p>
            <a:r>
              <a:rPr lang="en-IN" sz="2600" b="1">
                <a:solidFill>
                  <a:srgbClr val="1F3A5F"/>
                </a:solidFill>
                <a:latin typeface="Calibri" panose="020F0502020204030204" pitchFamily="34" charset="0"/>
              </a:rPr>
              <a:t>Implementation: trained models</a:t>
            </a:r>
          </a:p>
        </p:txBody>
      </p:sp>
      <p:sp>
        <p:nvSpPr>
          <p:cNvPr id="3" name="Rectangle 2">
            <a:extLst>
              <a:ext uri="{FF2B5EF4-FFF2-40B4-BE49-F238E27FC236}">
                <a16:creationId xmlns:a16="http://schemas.microsoft.com/office/drawing/2014/main" id="{A05F8415-1C66-7AC9-353F-43AADA972983}"/>
              </a:ext>
            </a:extLst>
          </p:cNvPr>
          <p:cNvSpPr/>
          <p:nvPr/>
        </p:nvSpPr>
        <p:spPr>
          <a:xfrm>
            <a:off x="533400" y="939800"/>
            <a:ext cx="889000" cy="38100"/>
          </a:xfrm>
          <a:prstGeom prst="rect">
            <a:avLst/>
          </a:prstGeom>
          <a:solidFill>
            <a:srgbClr val="0F766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DF56B0B6-5614-085A-9AF5-F9F3F42EDC53}"/>
              </a:ext>
            </a:extLst>
          </p:cNvPr>
          <p:cNvSpPr txBox="1"/>
          <p:nvPr/>
        </p:nvSpPr>
        <p:spPr>
          <a:xfrm>
            <a:off x="508000" y="6502400"/>
            <a:ext cx="8890000" cy="369332"/>
          </a:xfrm>
          <a:prstGeom prst="rect">
            <a:avLst/>
          </a:prstGeom>
          <a:noFill/>
        </p:spPr>
        <p:txBody>
          <a:bodyPr vert="horz" wrap="square" lIns="63500" tIns="38100" rIns="63500" bIns="38100" rtlCol="0" anchor="t">
            <a:noAutofit/>
          </a:bodyPr>
          <a:lstStyle/>
          <a:p>
            <a:r>
              <a:rPr lang="it-IT" sz="900">
                <a:solidFill>
                  <a:srgbClr val="55657A"/>
                </a:solidFill>
                <a:latin typeface="Calibri" panose="020F0502020204030204" pitchFamily="34" charset="0"/>
              </a:rPr>
              <a:t>DentaMind AI · B.Tech Capstone · PCCOE CSE (AI &amp; ML) 2026-27</a:t>
            </a:r>
            <a:endParaRPr lang="en-IN" sz="900">
              <a:solidFill>
                <a:srgbClr val="55657A"/>
              </a:solidFill>
              <a:latin typeface="Calibri" panose="020F0502020204030204" pitchFamily="34" charset="0"/>
            </a:endParaRPr>
          </a:p>
        </p:txBody>
      </p:sp>
      <p:sp>
        <p:nvSpPr>
          <p:cNvPr id="5" name="TextBox 4">
            <a:extLst>
              <a:ext uri="{FF2B5EF4-FFF2-40B4-BE49-F238E27FC236}">
                <a16:creationId xmlns:a16="http://schemas.microsoft.com/office/drawing/2014/main" id="{DD189112-984B-C8D7-BEDC-CC34F180AACA}"/>
              </a:ext>
            </a:extLst>
          </p:cNvPr>
          <p:cNvSpPr txBox="1"/>
          <p:nvPr/>
        </p:nvSpPr>
        <p:spPr>
          <a:xfrm>
            <a:off x="10414000" y="6502400"/>
            <a:ext cx="1270000" cy="369332"/>
          </a:xfrm>
          <a:prstGeom prst="rect">
            <a:avLst/>
          </a:prstGeom>
          <a:noFill/>
        </p:spPr>
        <p:txBody>
          <a:bodyPr vert="horz" wrap="square" lIns="63500" tIns="38100" rIns="63500" bIns="38100" rtlCol="0" anchor="t">
            <a:noAutofit/>
          </a:bodyPr>
          <a:lstStyle/>
          <a:p>
            <a:pPr algn="r"/>
            <a:r>
              <a:rPr lang="en-IN" sz="900">
                <a:solidFill>
                  <a:srgbClr val="55657A"/>
                </a:solidFill>
                <a:latin typeface="Calibri" panose="020F0502020204030204" pitchFamily="34" charset="0"/>
              </a:rPr>
              <a:t>12 / 22</a:t>
            </a:r>
          </a:p>
        </p:txBody>
      </p:sp>
      <p:graphicFrame>
        <p:nvGraphicFramePr>
          <p:cNvPr id="6" name="Table 5">
            <a:extLst>
              <a:ext uri="{FF2B5EF4-FFF2-40B4-BE49-F238E27FC236}">
                <a16:creationId xmlns:a16="http://schemas.microsoft.com/office/drawing/2014/main" id="{A3A26D53-1206-6655-8363-D6A60A9B0976}"/>
              </a:ext>
            </a:extLst>
          </p:cNvPr>
          <p:cNvGraphicFramePr>
            <a:graphicFrameLocks noGrp="1"/>
          </p:cNvGraphicFramePr>
          <p:nvPr>
            <p:extLst>
              <p:ext uri="{D42A27DB-BD31-4B8C-83A1-F6EECF244321}">
                <p14:modId xmlns:p14="http://schemas.microsoft.com/office/powerpoint/2010/main" val="1683173395"/>
              </p:ext>
            </p:extLst>
          </p:nvPr>
        </p:nvGraphicFramePr>
        <p:xfrm>
          <a:off x="533400" y="1168400"/>
          <a:ext cx="11125200" cy="1778000"/>
        </p:xfrm>
        <a:graphic>
          <a:graphicData uri="http://schemas.openxmlformats.org/drawingml/2006/table">
            <a:tbl>
              <a:tblPr firstRow="1" bandRow="1">
                <a:tableStyleId>{5C22544A-7EE6-4342-B048-85BDC9FD1C3A}</a:tableStyleId>
              </a:tblPr>
              <a:tblGrid>
                <a:gridCol w="2225040">
                  <a:extLst>
                    <a:ext uri="{9D8B030D-6E8A-4147-A177-3AD203B41FA5}">
                      <a16:colId xmlns:a16="http://schemas.microsoft.com/office/drawing/2014/main" val="3223024463"/>
                    </a:ext>
                  </a:extLst>
                </a:gridCol>
                <a:gridCol w="3003804">
                  <a:extLst>
                    <a:ext uri="{9D8B030D-6E8A-4147-A177-3AD203B41FA5}">
                      <a16:colId xmlns:a16="http://schemas.microsoft.com/office/drawing/2014/main" val="2318803011"/>
                    </a:ext>
                  </a:extLst>
                </a:gridCol>
                <a:gridCol w="3115056">
                  <a:extLst>
                    <a:ext uri="{9D8B030D-6E8A-4147-A177-3AD203B41FA5}">
                      <a16:colId xmlns:a16="http://schemas.microsoft.com/office/drawing/2014/main" val="1456064207"/>
                    </a:ext>
                  </a:extLst>
                </a:gridCol>
                <a:gridCol w="2781300">
                  <a:extLst>
                    <a:ext uri="{9D8B030D-6E8A-4147-A177-3AD203B41FA5}">
                      <a16:colId xmlns:a16="http://schemas.microsoft.com/office/drawing/2014/main" val="4171352499"/>
                    </a:ext>
                  </a:extLst>
                </a:gridCol>
              </a:tblGrid>
              <a:tr h="355600">
                <a:tc>
                  <a:txBody>
                    <a:bodyPr/>
                    <a:lstStyle/>
                    <a:p>
                      <a:r>
                        <a:rPr lang="en-IN" sz="1300" b="1">
                          <a:solidFill>
                            <a:srgbClr val="FFFFFF"/>
                          </a:solidFill>
                          <a:latin typeface="Calibri" panose="020F0502020204030204" pitchFamily="34" charset="0"/>
                        </a:rPr>
                        <a:t>Model</a:t>
                      </a:r>
                    </a:p>
                  </a:txBody>
                  <a:tcPr marL="76200" marR="76200" marT="38100" marB="38100">
                    <a:solidFill>
                      <a:srgbClr val="1F3A5F"/>
                    </a:solidFill>
                  </a:tcPr>
                </a:tc>
                <a:tc>
                  <a:txBody>
                    <a:bodyPr/>
                    <a:lstStyle/>
                    <a:p>
                      <a:r>
                        <a:rPr lang="en-IN" sz="1300" b="1">
                          <a:solidFill>
                            <a:srgbClr val="FFFFFF"/>
                          </a:solidFill>
                          <a:latin typeface="Calibri" panose="020F0502020204030204" pitchFamily="34" charset="0"/>
                        </a:rPr>
                        <a:t>Architecture</a:t>
                      </a:r>
                    </a:p>
                  </a:txBody>
                  <a:tcPr marL="76200" marR="76200" marT="38100" marB="38100">
                    <a:solidFill>
                      <a:srgbClr val="1F3A5F"/>
                    </a:solidFill>
                  </a:tcPr>
                </a:tc>
                <a:tc>
                  <a:txBody>
                    <a:bodyPr/>
                    <a:lstStyle/>
                    <a:p>
                      <a:r>
                        <a:rPr lang="en-IN" sz="1300" b="1">
                          <a:solidFill>
                            <a:srgbClr val="FFFFFF"/>
                          </a:solidFill>
                          <a:latin typeface="Calibri" panose="020F0502020204030204" pitchFamily="34" charset="0"/>
                        </a:rPr>
                        <a:t>Training data</a:t>
                      </a:r>
                    </a:p>
                  </a:txBody>
                  <a:tcPr marL="76200" marR="76200" marT="38100" marB="38100">
                    <a:solidFill>
                      <a:srgbClr val="1F3A5F"/>
                    </a:solidFill>
                  </a:tcPr>
                </a:tc>
                <a:tc>
                  <a:txBody>
                    <a:bodyPr/>
                    <a:lstStyle/>
                    <a:p>
                      <a:r>
                        <a:rPr lang="en-IN" sz="1300" b="1">
                          <a:solidFill>
                            <a:srgbClr val="FFFFFF"/>
                          </a:solidFill>
                          <a:latin typeface="Calibri" panose="020F0502020204030204" pitchFamily="34" charset="0"/>
                        </a:rPr>
                        <a:t>Schedule</a:t>
                      </a:r>
                    </a:p>
                  </a:txBody>
                  <a:tcPr marL="76200" marR="76200" marT="38100" marB="38100">
                    <a:solidFill>
                      <a:srgbClr val="1F3A5F"/>
                    </a:solidFill>
                  </a:tcPr>
                </a:tc>
                <a:extLst>
                  <a:ext uri="{0D108BD9-81ED-4DB2-BD59-A6C34878D82A}">
                    <a16:rowId xmlns:a16="http://schemas.microsoft.com/office/drawing/2014/main" val="3016583917"/>
                  </a:ext>
                </a:extLst>
              </a:tr>
              <a:tr h="355600">
                <a:tc>
                  <a:txBody>
                    <a:bodyPr/>
                    <a:lstStyle/>
                    <a:p>
                      <a:r>
                        <a:rPr lang="en-IN" sz="1300" b="1">
                          <a:solidFill>
                            <a:srgbClr val="1A1A1A"/>
                          </a:solidFill>
                          <a:latin typeface="Calibri" panose="020F0502020204030204" pitchFamily="34" charset="0"/>
                        </a:rPr>
                        <a:t>Tooth detection</a:t>
                      </a:r>
                    </a:p>
                  </a:txBody>
                  <a:tcPr marL="76200" marR="76200" marT="38100" marB="38100">
                    <a:solidFill>
                      <a:srgbClr val="FFFFFF"/>
                    </a:solidFill>
                  </a:tcPr>
                </a:tc>
                <a:tc>
                  <a:txBody>
                    <a:bodyPr/>
                    <a:lstStyle/>
                    <a:p>
                      <a:r>
                        <a:rPr lang="en-IN" sz="1300" b="0">
                          <a:solidFill>
                            <a:srgbClr val="1A1A1A"/>
                          </a:solidFill>
                          <a:latin typeface="Calibri" panose="020F0502020204030204" pitchFamily="34" charset="0"/>
                        </a:rPr>
                        <a:t>Faster R-CNN R50-FPN, COCO-pretrained, 1 class</a:t>
                      </a:r>
                    </a:p>
                  </a:txBody>
                  <a:tcPr marL="76200" marR="76200" marT="38100" marB="38100">
                    <a:solidFill>
                      <a:srgbClr val="FFFFFF"/>
                    </a:solidFill>
                  </a:tcPr>
                </a:tc>
                <a:tc>
                  <a:txBody>
                    <a:bodyPr/>
                    <a:lstStyle/>
                    <a:p>
                      <a:r>
                        <a:rPr lang="en-IN" sz="1300" b="0">
                          <a:solidFill>
                            <a:srgbClr val="1A1A1A"/>
                          </a:solidFill>
                          <a:latin typeface="Calibri" panose="020F0502020204030204" pitchFamily="34" charset="0"/>
                        </a:rPr>
                        <a:t>440 train radiographs (enumeration set)</a:t>
                      </a:r>
                    </a:p>
                  </a:txBody>
                  <a:tcPr marL="76200" marR="76200" marT="38100" marB="38100">
                    <a:solidFill>
                      <a:srgbClr val="FFFFFF"/>
                    </a:solidFill>
                  </a:tcPr>
                </a:tc>
                <a:tc>
                  <a:txBody>
                    <a:bodyPr/>
                    <a:lstStyle/>
                    <a:p>
                      <a:r>
                        <a:rPr lang="en-US" sz="1300" b="0">
                          <a:solidFill>
                            <a:srgbClr val="1A1A1A"/>
                          </a:solidFill>
                          <a:latin typeface="Calibri" panose="020F0502020204030204" pitchFamily="34" charset="0"/>
                        </a:rPr>
                        <a:t>12 epochs, batch 2, AdamW 1e-4, best epoch 9</a:t>
                      </a:r>
                      <a:endParaRPr lang="en-IN" sz="1300" b="0">
                        <a:solidFill>
                          <a:srgbClr val="1A1A1A"/>
                        </a:solidFill>
                        <a:latin typeface="Calibri" panose="020F0502020204030204" pitchFamily="34" charset="0"/>
                      </a:endParaRPr>
                    </a:p>
                  </a:txBody>
                  <a:tcPr marL="76200" marR="76200" marT="38100" marB="38100">
                    <a:solidFill>
                      <a:srgbClr val="FFFFFF"/>
                    </a:solidFill>
                  </a:tcPr>
                </a:tc>
                <a:extLst>
                  <a:ext uri="{0D108BD9-81ED-4DB2-BD59-A6C34878D82A}">
                    <a16:rowId xmlns:a16="http://schemas.microsoft.com/office/drawing/2014/main" val="3835426177"/>
                  </a:ext>
                </a:extLst>
              </a:tr>
              <a:tr h="355600">
                <a:tc>
                  <a:txBody>
                    <a:bodyPr/>
                    <a:lstStyle/>
                    <a:p>
                      <a:r>
                        <a:rPr lang="en-IN" sz="1300" b="1">
                          <a:solidFill>
                            <a:srgbClr val="1A1A1A"/>
                          </a:solidFill>
                          <a:latin typeface="Calibri" panose="020F0502020204030204" pitchFamily="34" charset="0"/>
                        </a:rPr>
                        <a:t>FDI numbering</a:t>
                      </a:r>
                    </a:p>
                  </a:txBody>
                  <a:tcPr marL="76200" marR="76200" marT="38100" marB="38100">
                    <a:solidFill>
                      <a:srgbClr val="F1F5F9"/>
                    </a:solidFill>
                  </a:tcPr>
                </a:tc>
                <a:tc>
                  <a:txBody>
                    <a:bodyPr/>
                    <a:lstStyle/>
                    <a:p>
                      <a:r>
                        <a:rPr lang="pt-BR" sz="1300" b="0">
                          <a:solidFill>
                            <a:srgbClr val="1A1A1A"/>
                          </a:solidFill>
                          <a:latin typeface="Calibri" panose="020F0502020204030204" pitchFamily="34" charset="0"/>
                        </a:rPr>
                        <a:t>Faster R-CNN R50-FPN, 32 FDI classes</a:t>
                      </a:r>
                      <a:endParaRPr lang="en-IN" sz="1300" b="0">
                        <a:solidFill>
                          <a:srgbClr val="1A1A1A"/>
                        </a:solidFill>
                        <a:latin typeface="Calibri" panose="020F0502020204030204" pitchFamily="34" charset="0"/>
                      </a:endParaRPr>
                    </a:p>
                  </a:txBody>
                  <a:tcPr marL="76200" marR="76200" marT="38100" marB="38100">
                    <a:solidFill>
                      <a:srgbClr val="F1F5F9"/>
                    </a:solidFill>
                  </a:tcPr>
                </a:tc>
                <a:tc>
                  <a:txBody>
                    <a:bodyPr/>
                    <a:lstStyle/>
                    <a:p>
                      <a:r>
                        <a:rPr lang="en-IN" sz="1300" b="0">
                          <a:solidFill>
                            <a:srgbClr val="1A1A1A"/>
                          </a:solidFill>
                          <a:latin typeface="Calibri" panose="020F0502020204030204" pitchFamily="34" charset="0"/>
                        </a:rPr>
                        <a:t>440 train radiographs</a:t>
                      </a:r>
                    </a:p>
                  </a:txBody>
                  <a:tcPr marL="76200" marR="76200" marT="38100" marB="38100">
                    <a:solidFill>
                      <a:srgbClr val="F1F5F9"/>
                    </a:solidFill>
                  </a:tcPr>
                </a:tc>
                <a:tc>
                  <a:txBody>
                    <a:bodyPr/>
                    <a:lstStyle/>
                    <a:p>
                      <a:r>
                        <a:rPr lang="en-US" sz="1300" b="0">
                          <a:solidFill>
                            <a:srgbClr val="1A1A1A"/>
                          </a:solidFill>
                          <a:latin typeface="Calibri" panose="020F0502020204030204" pitchFamily="34" charset="0"/>
                        </a:rPr>
                        <a:t>16 epochs, batch 2, AdamW 1e-4</a:t>
                      </a:r>
                      <a:endParaRPr lang="en-IN" sz="1300" b="0">
                        <a:solidFill>
                          <a:srgbClr val="1A1A1A"/>
                        </a:solidFill>
                        <a:latin typeface="Calibri" panose="020F0502020204030204" pitchFamily="34" charset="0"/>
                      </a:endParaRPr>
                    </a:p>
                  </a:txBody>
                  <a:tcPr marL="76200" marR="76200" marT="38100" marB="38100">
                    <a:solidFill>
                      <a:srgbClr val="F1F5F9"/>
                    </a:solidFill>
                  </a:tcPr>
                </a:tc>
                <a:extLst>
                  <a:ext uri="{0D108BD9-81ED-4DB2-BD59-A6C34878D82A}">
                    <a16:rowId xmlns:a16="http://schemas.microsoft.com/office/drawing/2014/main" val="1526405064"/>
                  </a:ext>
                </a:extLst>
              </a:tr>
              <a:tr h="355600">
                <a:tc>
                  <a:txBody>
                    <a:bodyPr/>
                    <a:lstStyle/>
                    <a:p>
                      <a:r>
                        <a:rPr lang="en-IN" sz="1300" b="1">
                          <a:solidFill>
                            <a:srgbClr val="1A1A1A"/>
                          </a:solidFill>
                          <a:latin typeface="Calibri" panose="020F0502020204030204" pitchFamily="34" charset="0"/>
                        </a:rPr>
                        <a:t>Tooth segmentation</a:t>
                      </a:r>
                    </a:p>
                  </a:txBody>
                  <a:tcPr marL="76200" marR="76200" marT="38100" marB="38100">
                    <a:solidFill>
                      <a:srgbClr val="FFFFFF"/>
                    </a:solidFill>
                  </a:tcPr>
                </a:tc>
                <a:tc>
                  <a:txBody>
                    <a:bodyPr/>
                    <a:lstStyle/>
                    <a:p>
                      <a:r>
                        <a:rPr lang="sv-SE" sz="1300" b="0">
                          <a:solidFill>
                            <a:srgbClr val="1A1A1A"/>
                          </a:solidFill>
                          <a:latin typeface="Calibri" panose="020F0502020204030204" pitchFamily="34" charset="0"/>
                        </a:rPr>
                        <a:t>Mask R-CNN R50-FPN, polygon masks</a:t>
                      </a:r>
                      <a:endParaRPr lang="en-IN" sz="1300" b="0">
                        <a:solidFill>
                          <a:srgbClr val="1A1A1A"/>
                        </a:solidFill>
                        <a:latin typeface="Calibri" panose="020F0502020204030204" pitchFamily="34" charset="0"/>
                      </a:endParaRPr>
                    </a:p>
                  </a:txBody>
                  <a:tcPr marL="76200" marR="76200" marT="38100" marB="38100">
                    <a:solidFill>
                      <a:srgbClr val="FFFFFF"/>
                    </a:solidFill>
                  </a:tcPr>
                </a:tc>
                <a:tc>
                  <a:txBody>
                    <a:bodyPr/>
                    <a:lstStyle/>
                    <a:p>
                      <a:r>
                        <a:rPr lang="en-IN" sz="1300" b="0">
                          <a:solidFill>
                            <a:srgbClr val="1A1A1A"/>
                          </a:solidFill>
                          <a:latin typeface="Calibri" panose="020F0502020204030204" pitchFamily="34" charset="0"/>
                        </a:rPr>
                        <a:t>440 train radiographs</a:t>
                      </a:r>
                    </a:p>
                  </a:txBody>
                  <a:tcPr marL="76200" marR="76200" marT="38100" marB="38100">
                    <a:solidFill>
                      <a:srgbClr val="FFFFFF"/>
                    </a:solidFill>
                  </a:tcPr>
                </a:tc>
                <a:tc>
                  <a:txBody>
                    <a:bodyPr/>
                    <a:lstStyle/>
                    <a:p>
                      <a:r>
                        <a:rPr lang="en-US" sz="1300" b="0">
                          <a:solidFill>
                            <a:srgbClr val="1A1A1A"/>
                          </a:solidFill>
                          <a:latin typeface="Calibri" panose="020F0502020204030204" pitchFamily="34" charset="0"/>
                        </a:rPr>
                        <a:t>8 epochs, batch 1, AdamW 1e-4</a:t>
                      </a:r>
                      <a:endParaRPr lang="en-IN" sz="1300" b="0">
                        <a:solidFill>
                          <a:srgbClr val="1A1A1A"/>
                        </a:solidFill>
                        <a:latin typeface="Calibri" panose="020F0502020204030204" pitchFamily="34" charset="0"/>
                      </a:endParaRPr>
                    </a:p>
                  </a:txBody>
                  <a:tcPr marL="76200" marR="76200" marT="38100" marB="38100">
                    <a:solidFill>
                      <a:srgbClr val="FFFFFF"/>
                    </a:solidFill>
                  </a:tcPr>
                </a:tc>
                <a:extLst>
                  <a:ext uri="{0D108BD9-81ED-4DB2-BD59-A6C34878D82A}">
                    <a16:rowId xmlns:a16="http://schemas.microsoft.com/office/drawing/2014/main" val="1266695039"/>
                  </a:ext>
                </a:extLst>
              </a:tr>
              <a:tr h="355600">
                <a:tc>
                  <a:txBody>
                    <a:bodyPr/>
                    <a:lstStyle/>
                    <a:p>
                      <a:r>
                        <a:rPr lang="en-IN" sz="1300" b="1">
                          <a:solidFill>
                            <a:srgbClr val="1A1A1A"/>
                          </a:solidFill>
                          <a:latin typeface="Calibri" panose="020F0502020204030204" pitchFamily="34" charset="0"/>
                        </a:rPr>
                        <a:t>Finding classifier</a:t>
                      </a:r>
                    </a:p>
                  </a:txBody>
                  <a:tcPr marL="76200" marR="76200" marT="38100" marB="38100">
                    <a:solidFill>
                      <a:srgbClr val="F1F5F9"/>
                    </a:solidFill>
                  </a:tcPr>
                </a:tc>
                <a:tc>
                  <a:txBody>
                    <a:bodyPr/>
                    <a:lstStyle/>
                    <a:p>
                      <a:r>
                        <a:rPr lang="en-IN" sz="1300" b="0">
                          <a:solidFill>
                            <a:srgbClr val="1A1A1A"/>
                          </a:solidFill>
                          <a:latin typeface="Calibri" panose="020F0502020204030204" pitchFamily="34" charset="0"/>
                        </a:rPr>
                        <a:t>ResNet-50, ImageNet-pretrained, 224 px crops</a:t>
                      </a:r>
                    </a:p>
                  </a:txBody>
                  <a:tcPr marL="76200" marR="76200" marT="38100" marB="38100">
                    <a:solidFill>
                      <a:srgbClr val="F1F5F9"/>
                    </a:solidFill>
                  </a:tcPr>
                </a:tc>
                <a:tc>
                  <a:txBody>
                    <a:bodyPr/>
                    <a:lstStyle/>
                    <a:p>
                      <a:r>
                        <a:rPr lang="en-US" sz="1300" b="0">
                          <a:solidFill>
                            <a:srgbClr val="1A1A1A"/>
                          </a:solidFill>
                          <a:latin typeface="Calibri" panose="020F0502020204030204" pitchFamily="34" charset="0"/>
                        </a:rPr>
                        <a:t>2,520 crops from 476 radiographs</a:t>
                      </a:r>
                      <a:endParaRPr lang="en-IN" sz="1300" b="0">
                        <a:solidFill>
                          <a:srgbClr val="1A1A1A"/>
                        </a:solidFill>
                        <a:latin typeface="Calibri" panose="020F0502020204030204" pitchFamily="34" charset="0"/>
                      </a:endParaRPr>
                    </a:p>
                  </a:txBody>
                  <a:tcPr marL="76200" marR="76200" marT="38100" marB="38100">
                    <a:solidFill>
                      <a:srgbClr val="F1F5F9"/>
                    </a:solidFill>
                  </a:tcPr>
                </a:tc>
                <a:tc>
                  <a:txBody>
                    <a:bodyPr/>
                    <a:lstStyle/>
                    <a:p>
                      <a:r>
                        <a:rPr lang="en-US" sz="1300" b="0">
                          <a:solidFill>
                            <a:srgbClr val="1A1A1A"/>
                          </a:solidFill>
                          <a:latin typeface="Calibri" panose="020F0502020204030204" pitchFamily="34" charset="0"/>
                        </a:rPr>
                        <a:t>15 epochs, batch 32, AdamW 3e-4, class weights</a:t>
                      </a:r>
                      <a:endParaRPr lang="en-IN" sz="1300" b="0">
                        <a:solidFill>
                          <a:srgbClr val="1A1A1A"/>
                        </a:solidFill>
                        <a:latin typeface="Calibri" panose="020F0502020204030204" pitchFamily="34" charset="0"/>
                      </a:endParaRPr>
                    </a:p>
                  </a:txBody>
                  <a:tcPr marL="76200" marR="76200" marT="38100" marB="38100">
                    <a:solidFill>
                      <a:srgbClr val="F1F5F9"/>
                    </a:solidFill>
                  </a:tcPr>
                </a:tc>
                <a:extLst>
                  <a:ext uri="{0D108BD9-81ED-4DB2-BD59-A6C34878D82A}">
                    <a16:rowId xmlns:a16="http://schemas.microsoft.com/office/drawing/2014/main" val="800386947"/>
                  </a:ext>
                </a:extLst>
              </a:tr>
            </a:tbl>
          </a:graphicData>
        </a:graphic>
      </p:graphicFrame>
      <p:sp>
        <p:nvSpPr>
          <p:cNvPr id="7" name="TextBox 6">
            <a:extLst>
              <a:ext uri="{FF2B5EF4-FFF2-40B4-BE49-F238E27FC236}">
                <a16:creationId xmlns:a16="http://schemas.microsoft.com/office/drawing/2014/main" id="{1B7B14D4-FA50-17EA-5B14-CF0AEDADC23A}"/>
              </a:ext>
            </a:extLst>
          </p:cNvPr>
          <p:cNvSpPr txBox="1"/>
          <p:nvPr/>
        </p:nvSpPr>
        <p:spPr>
          <a:xfrm>
            <a:off x="533400" y="3357880"/>
            <a:ext cx="11125200" cy="369332"/>
          </a:xfrm>
          <a:prstGeom prst="rect">
            <a:avLst/>
          </a:prstGeom>
          <a:noFill/>
        </p:spPr>
        <p:txBody>
          <a:bodyPr vert="horz" wrap="square" rtlCol="0" anchor="t">
            <a:noAutofit/>
          </a:bodyPr>
          <a:lstStyle/>
          <a:p>
            <a:pPr marL="508000" indent="-228600">
              <a:spcAft>
                <a:spcPts val="600"/>
              </a:spcAft>
              <a:buFont typeface="+mj-lt"/>
              <a:buChar char="•"/>
            </a:pPr>
            <a:r>
              <a:rPr lang="en-US" sz="1500">
                <a:solidFill>
                  <a:srgbClr val="1A1A1A"/>
                </a:solidFill>
                <a:latin typeface="Calibri" panose="020F0502020204030204" pitchFamily="34" charset="0"/>
              </a:rPr>
              <a:t>Every checkpoint has a JSON sidecar (classes, data counts, history) and a SHA-256 hash; new checkpoints also get a training manifest</a:t>
            </a:r>
          </a:p>
          <a:p>
            <a:pPr marL="508000" indent="-228600">
              <a:spcAft>
                <a:spcPts val="600"/>
              </a:spcAft>
              <a:buFont typeface="+mj-lt"/>
              <a:buChar char="•"/>
            </a:pPr>
            <a:r>
              <a:rPr lang="en-US" sz="1500">
                <a:solidFill>
                  <a:srgbClr val="1A1A1A"/>
                </a:solidFill>
                <a:latin typeface="Calibri" panose="020F0502020204030204" pitchFamily="34" charset="0"/>
              </a:rPr>
              <a:t>Selection always used the validation split (best epoch by mAP or macro-F1); the test split was never used for selection</a:t>
            </a:r>
          </a:p>
          <a:p>
            <a:pPr marL="508000" indent="-228600">
              <a:spcAft>
                <a:spcPts val="600"/>
              </a:spcAft>
              <a:buFont typeface="+mj-lt"/>
              <a:buChar char="•"/>
            </a:pPr>
            <a:r>
              <a:rPr lang="en-US" sz="1500">
                <a:solidFill>
                  <a:srgbClr val="1A1A1A"/>
                </a:solidFill>
                <a:latin typeface="Calibri" panose="020F0502020204030204" pitchFamily="34" charset="0"/>
              </a:rPr>
              <a:t>Reports are drafted from structured evidence and checked by a validator before they are shown</a:t>
            </a:r>
            <a:endParaRPr lang="en-IN" sz="1500">
              <a:solidFill>
                <a:srgbClr val="1A1A1A"/>
              </a:solidFill>
              <a:latin typeface="Calibri" panose="020F0502020204030204" pitchFamily="34" charset="0"/>
            </a:endParaRPr>
          </a:p>
        </p:txBody>
      </p:sp>
    </p:spTree>
    <p:extLst>
      <p:ext uri="{BB962C8B-B14F-4D97-AF65-F5344CB8AC3E}">
        <p14:creationId xmlns:p14="http://schemas.microsoft.com/office/powerpoint/2010/main" val="22096953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2D485FB-1F17-2E0F-ECFE-F43BA302D585}"/>
              </a:ext>
            </a:extLst>
          </p:cNvPr>
          <p:cNvSpPr txBox="1"/>
          <p:nvPr/>
        </p:nvSpPr>
        <p:spPr>
          <a:xfrm>
            <a:off x="508000" y="279400"/>
            <a:ext cx="11176000" cy="369332"/>
          </a:xfrm>
          <a:prstGeom prst="rect">
            <a:avLst/>
          </a:prstGeom>
          <a:noFill/>
        </p:spPr>
        <p:txBody>
          <a:bodyPr vert="horz" wrap="square" lIns="63500" tIns="38100" rIns="63500" bIns="38100" rtlCol="0" anchor="ctr">
            <a:noAutofit/>
          </a:bodyPr>
          <a:lstStyle/>
          <a:p>
            <a:r>
              <a:rPr lang="en-IN" sz="2600" b="1">
                <a:solidFill>
                  <a:srgbClr val="1F3A5F"/>
                </a:solidFill>
                <a:latin typeface="Calibri" panose="020F0502020204030204" pitchFamily="34" charset="0"/>
              </a:rPr>
              <a:t>Training and evaluation workflow</a:t>
            </a:r>
          </a:p>
        </p:txBody>
      </p:sp>
      <p:sp>
        <p:nvSpPr>
          <p:cNvPr id="3" name="Rectangle 2">
            <a:extLst>
              <a:ext uri="{FF2B5EF4-FFF2-40B4-BE49-F238E27FC236}">
                <a16:creationId xmlns:a16="http://schemas.microsoft.com/office/drawing/2014/main" id="{C330062B-BF6A-8E03-4405-8A524F17DB62}"/>
              </a:ext>
            </a:extLst>
          </p:cNvPr>
          <p:cNvSpPr/>
          <p:nvPr/>
        </p:nvSpPr>
        <p:spPr>
          <a:xfrm>
            <a:off x="533400" y="939800"/>
            <a:ext cx="889000" cy="38100"/>
          </a:xfrm>
          <a:prstGeom prst="rect">
            <a:avLst/>
          </a:prstGeom>
          <a:solidFill>
            <a:srgbClr val="0F766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CB931178-3110-21B9-D8FE-86FBFF562FCE}"/>
              </a:ext>
            </a:extLst>
          </p:cNvPr>
          <p:cNvSpPr txBox="1"/>
          <p:nvPr/>
        </p:nvSpPr>
        <p:spPr>
          <a:xfrm>
            <a:off x="508000" y="6502400"/>
            <a:ext cx="8890000" cy="369332"/>
          </a:xfrm>
          <a:prstGeom prst="rect">
            <a:avLst/>
          </a:prstGeom>
          <a:noFill/>
        </p:spPr>
        <p:txBody>
          <a:bodyPr vert="horz" wrap="square" lIns="63500" tIns="38100" rIns="63500" bIns="38100" rtlCol="0" anchor="t">
            <a:noAutofit/>
          </a:bodyPr>
          <a:lstStyle/>
          <a:p>
            <a:r>
              <a:rPr lang="it-IT" sz="900">
                <a:solidFill>
                  <a:srgbClr val="55657A"/>
                </a:solidFill>
                <a:latin typeface="Calibri" panose="020F0502020204030204" pitchFamily="34" charset="0"/>
              </a:rPr>
              <a:t>DentaMind AI · B.Tech Capstone · PCCOE CSE (AI &amp; ML) 2026-27</a:t>
            </a:r>
            <a:endParaRPr lang="en-IN" sz="900">
              <a:solidFill>
                <a:srgbClr val="55657A"/>
              </a:solidFill>
              <a:latin typeface="Calibri" panose="020F0502020204030204" pitchFamily="34" charset="0"/>
            </a:endParaRPr>
          </a:p>
        </p:txBody>
      </p:sp>
      <p:sp>
        <p:nvSpPr>
          <p:cNvPr id="5" name="TextBox 4">
            <a:extLst>
              <a:ext uri="{FF2B5EF4-FFF2-40B4-BE49-F238E27FC236}">
                <a16:creationId xmlns:a16="http://schemas.microsoft.com/office/drawing/2014/main" id="{41AFF321-10D1-1C9B-B984-40BB55A41BB8}"/>
              </a:ext>
            </a:extLst>
          </p:cNvPr>
          <p:cNvSpPr txBox="1"/>
          <p:nvPr/>
        </p:nvSpPr>
        <p:spPr>
          <a:xfrm>
            <a:off x="10414000" y="6502400"/>
            <a:ext cx="1270000" cy="369332"/>
          </a:xfrm>
          <a:prstGeom prst="rect">
            <a:avLst/>
          </a:prstGeom>
          <a:noFill/>
        </p:spPr>
        <p:txBody>
          <a:bodyPr vert="horz" wrap="square" lIns="63500" tIns="38100" rIns="63500" bIns="38100" rtlCol="0" anchor="t">
            <a:noAutofit/>
          </a:bodyPr>
          <a:lstStyle/>
          <a:p>
            <a:pPr algn="r"/>
            <a:r>
              <a:rPr lang="en-IN" sz="900">
                <a:solidFill>
                  <a:srgbClr val="55657A"/>
                </a:solidFill>
                <a:latin typeface="Calibri" panose="020F0502020204030204" pitchFamily="34" charset="0"/>
              </a:rPr>
              <a:t>13 / 22</a:t>
            </a:r>
          </a:p>
        </p:txBody>
      </p:sp>
      <p:sp>
        <p:nvSpPr>
          <p:cNvPr id="6" name="Flowchart: Magnetic Disk 5">
            <a:extLst>
              <a:ext uri="{FF2B5EF4-FFF2-40B4-BE49-F238E27FC236}">
                <a16:creationId xmlns:a16="http://schemas.microsoft.com/office/drawing/2014/main" id="{3AA97368-ACAD-2A2D-CF91-A02EE21D894B}"/>
              </a:ext>
            </a:extLst>
          </p:cNvPr>
          <p:cNvSpPr/>
          <p:nvPr/>
        </p:nvSpPr>
        <p:spPr>
          <a:xfrm>
            <a:off x="710924" y="1232176"/>
            <a:ext cx="2337352" cy="802033"/>
          </a:xfrm>
          <a:prstGeom prst="flowChartMagneticDisk">
            <a:avLst/>
          </a:prstGeom>
          <a:solidFill>
            <a:srgbClr val="F5F5F5"/>
          </a:solidFill>
          <a:ln w="12603">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7288" tIns="34373" rIns="57288" bIns="34373" rtlCol="0" anchor="ctr">
            <a:noAutofit/>
          </a:bodyPr>
          <a:lstStyle/>
          <a:p>
            <a:pPr algn="ctr"/>
            <a:r>
              <a:rPr lang="en-IN" sz="1200" b="1">
                <a:solidFill>
                  <a:srgbClr val="1A1A1A"/>
                </a:solidFill>
                <a:latin typeface="Calibri" panose="020F0502020204030204" pitchFamily="34" charset="0"/>
              </a:rPr>
              <a:t>DENTEX archives</a:t>
            </a:r>
          </a:p>
          <a:p>
            <a:pPr algn="ctr"/>
            <a:r>
              <a:rPr lang="en-IN" sz="1050">
                <a:solidFill>
                  <a:srgbClr val="5A5A5A"/>
                </a:solidFill>
                <a:latin typeface="Calibri" panose="020F0502020204030204" pitchFamily="34" charset="0"/>
              </a:rPr>
              <a:t>3,653 PNG files in 5 folders</a:t>
            </a:r>
          </a:p>
        </p:txBody>
      </p:sp>
      <p:sp>
        <p:nvSpPr>
          <p:cNvPr id="7" name="Rectangle: Rounded Corners 6">
            <a:extLst>
              <a:ext uri="{FF2B5EF4-FFF2-40B4-BE49-F238E27FC236}">
                <a16:creationId xmlns:a16="http://schemas.microsoft.com/office/drawing/2014/main" id="{C6F125B3-0DE0-1B1D-DD76-4EFCF7E966EF}"/>
              </a:ext>
            </a:extLst>
          </p:cNvPr>
          <p:cNvSpPr/>
          <p:nvPr/>
        </p:nvSpPr>
        <p:spPr>
          <a:xfrm>
            <a:off x="3506581" y="1232176"/>
            <a:ext cx="2337351" cy="802033"/>
          </a:xfrm>
          <a:prstGeom prst="roundRect">
            <a:avLst>
              <a:gd name="adj" fmla="val 12000"/>
            </a:avLst>
          </a:prstGeom>
          <a:solidFill>
            <a:srgbClr val="FFFFFF"/>
          </a:solidFill>
          <a:ln w="12603">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7288" tIns="34373" rIns="57288" bIns="34373" rtlCol="0" anchor="ctr">
            <a:noAutofit/>
          </a:bodyPr>
          <a:lstStyle/>
          <a:p>
            <a:pPr algn="ctr"/>
            <a:r>
              <a:rPr lang="en-IN" sz="1200" b="1">
                <a:solidFill>
                  <a:srgbClr val="1A1A1A"/>
                </a:solidFill>
                <a:latin typeface="Calibri" panose="020F0502020204030204" pitchFamily="34" charset="0"/>
              </a:rPr>
              <a:t>Dataset audit</a:t>
            </a:r>
          </a:p>
          <a:p>
            <a:pPr algn="ctr"/>
            <a:r>
              <a:rPr lang="en-IN" sz="1050">
                <a:solidFill>
                  <a:srgbClr val="5A5A5A"/>
                </a:solidFill>
                <a:latin typeface="Calibri" panose="020F0502020204030204" pitchFamily="34" charset="0"/>
              </a:rPr>
              <a:t>pixel hashing → 2,716 unique films</a:t>
            </a:r>
          </a:p>
        </p:txBody>
      </p:sp>
      <p:sp>
        <p:nvSpPr>
          <p:cNvPr id="8" name="Rectangle: Rounded Corners 7">
            <a:extLst>
              <a:ext uri="{FF2B5EF4-FFF2-40B4-BE49-F238E27FC236}">
                <a16:creationId xmlns:a16="http://schemas.microsoft.com/office/drawing/2014/main" id="{7662900F-487F-8989-C745-01C4F1F56327}"/>
              </a:ext>
            </a:extLst>
          </p:cNvPr>
          <p:cNvSpPr/>
          <p:nvPr/>
        </p:nvSpPr>
        <p:spPr>
          <a:xfrm>
            <a:off x="6302237" y="1232176"/>
            <a:ext cx="2337352" cy="802033"/>
          </a:xfrm>
          <a:prstGeom prst="roundRect">
            <a:avLst>
              <a:gd name="adj" fmla="val 12000"/>
            </a:avLst>
          </a:prstGeom>
          <a:solidFill>
            <a:srgbClr val="FFFFFF"/>
          </a:solidFill>
          <a:ln w="12603">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7288" tIns="34373" rIns="57288" bIns="34373" rtlCol="0" anchor="ctr">
            <a:noAutofit/>
          </a:bodyPr>
          <a:lstStyle/>
          <a:p>
            <a:pPr algn="ctr"/>
            <a:r>
              <a:rPr lang="en-US" sz="1200" b="1">
                <a:solidFill>
                  <a:srgbClr val="1A1A1A"/>
                </a:solidFill>
                <a:latin typeface="Calibri" panose="020F0502020204030204" pitchFamily="34" charset="0"/>
              </a:rPr>
              <a:t>Duplicate-aware split</a:t>
            </a:r>
          </a:p>
          <a:p>
            <a:pPr algn="ctr"/>
            <a:r>
              <a:rPr lang="en-US" sz="1050">
                <a:solidFill>
                  <a:srgbClr val="5A5A5A"/>
                </a:solidFill>
                <a:latin typeface="Calibri" panose="020F0502020204030204" pitchFamily="34" charset="0"/>
              </a:rPr>
              <a:t>1,133 annotated radiographs</a:t>
            </a:r>
            <a:endParaRPr lang="en-IN" sz="1050">
              <a:solidFill>
                <a:srgbClr val="5A5A5A"/>
              </a:solidFill>
              <a:latin typeface="Calibri" panose="020F0502020204030204" pitchFamily="34" charset="0"/>
            </a:endParaRPr>
          </a:p>
        </p:txBody>
      </p:sp>
      <p:sp>
        <p:nvSpPr>
          <p:cNvPr id="9" name="Rectangle: Rounded Corners 8">
            <a:extLst>
              <a:ext uri="{FF2B5EF4-FFF2-40B4-BE49-F238E27FC236}">
                <a16:creationId xmlns:a16="http://schemas.microsoft.com/office/drawing/2014/main" id="{7472C052-157C-9F3E-BBAE-9689321B6EF7}"/>
              </a:ext>
            </a:extLst>
          </p:cNvPr>
          <p:cNvSpPr/>
          <p:nvPr/>
        </p:nvSpPr>
        <p:spPr>
          <a:xfrm>
            <a:off x="9097894" y="1232176"/>
            <a:ext cx="2337351" cy="802033"/>
          </a:xfrm>
          <a:prstGeom prst="roundRect">
            <a:avLst>
              <a:gd name="adj" fmla="val 12000"/>
            </a:avLst>
          </a:prstGeom>
          <a:solidFill>
            <a:srgbClr val="FFFFFF"/>
          </a:solidFill>
          <a:ln w="12603">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7288" tIns="34373" rIns="57288" bIns="34373" rtlCol="0" anchor="ctr">
            <a:noAutofit/>
          </a:bodyPr>
          <a:lstStyle/>
          <a:p>
            <a:pPr algn="ctr"/>
            <a:r>
              <a:rPr lang="en-US" sz="1200" b="1">
                <a:solidFill>
                  <a:srgbClr val="1A1A1A"/>
                </a:solidFill>
                <a:latin typeface="Calibri" panose="020F0502020204030204" pitchFamily="34" charset="0"/>
              </a:rPr>
              <a:t>Leakage check</a:t>
            </a:r>
          </a:p>
          <a:p>
            <a:pPr algn="ctr"/>
            <a:r>
              <a:rPr lang="en-US" sz="1050">
                <a:solidFill>
                  <a:srgbClr val="5A5A5A"/>
                </a:solidFill>
                <a:latin typeface="Calibri" panose="020F0502020204030204" pitchFamily="34" charset="0"/>
              </a:rPr>
              <a:t>18 checks: 17 pass, 1 warning</a:t>
            </a:r>
            <a:endParaRPr lang="en-IN" sz="1050">
              <a:solidFill>
                <a:srgbClr val="5A5A5A"/>
              </a:solidFill>
              <a:latin typeface="Calibri" panose="020F0502020204030204" pitchFamily="34" charset="0"/>
            </a:endParaRPr>
          </a:p>
        </p:txBody>
      </p:sp>
      <p:cxnSp>
        <p:nvCxnSpPr>
          <p:cNvPr id="10" name="Straight Arrow Connector 9">
            <a:extLst>
              <a:ext uri="{FF2B5EF4-FFF2-40B4-BE49-F238E27FC236}">
                <a16:creationId xmlns:a16="http://schemas.microsoft.com/office/drawing/2014/main" id="{0A7C96F8-1097-12B1-C75E-6A75042A274F}"/>
              </a:ext>
            </a:extLst>
          </p:cNvPr>
          <p:cNvCxnSpPr>
            <a:cxnSpLocks/>
            <a:stCxn id="6" idx="4"/>
            <a:endCxn id="7" idx="1"/>
          </p:cNvCxnSpPr>
          <p:nvPr/>
        </p:nvCxnSpPr>
        <p:spPr>
          <a:xfrm>
            <a:off x="3048276" y="1633193"/>
            <a:ext cx="458305" cy="0"/>
          </a:xfrm>
          <a:prstGeom prst="straightConnector1">
            <a:avLst/>
          </a:prstGeom>
          <a:ln w="14322">
            <a:solidFill>
              <a:srgbClr val="404040"/>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7EFD7E06-938F-E421-F0D2-5BF78EFCA09E}"/>
              </a:ext>
            </a:extLst>
          </p:cNvPr>
          <p:cNvCxnSpPr>
            <a:cxnSpLocks/>
            <a:stCxn id="7" idx="3"/>
            <a:endCxn id="8" idx="1"/>
          </p:cNvCxnSpPr>
          <p:nvPr/>
        </p:nvCxnSpPr>
        <p:spPr>
          <a:xfrm>
            <a:off x="5843932" y="1633193"/>
            <a:ext cx="458305" cy="0"/>
          </a:xfrm>
          <a:prstGeom prst="straightConnector1">
            <a:avLst/>
          </a:prstGeom>
          <a:ln w="14322">
            <a:solidFill>
              <a:srgbClr val="404040"/>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8A4CB90-9552-EEA8-0EF2-81F6A859424E}"/>
              </a:ext>
            </a:extLst>
          </p:cNvPr>
          <p:cNvCxnSpPr>
            <a:cxnSpLocks/>
            <a:stCxn id="8" idx="3"/>
            <a:endCxn id="9" idx="1"/>
          </p:cNvCxnSpPr>
          <p:nvPr/>
        </p:nvCxnSpPr>
        <p:spPr>
          <a:xfrm>
            <a:off x="8639589" y="1633193"/>
            <a:ext cx="458305" cy="0"/>
          </a:xfrm>
          <a:prstGeom prst="straightConnector1">
            <a:avLst/>
          </a:prstGeom>
          <a:ln w="14322">
            <a:solidFill>
              <a:srgbClr val="404040"/>
            </a:solidFill>
            <a:tailEnd type="triangle" w="med" len="med"/>
          </a:ln>
        </p:spPr>
        <p:style>
          <a:lnRef idx="1">
            <a:schemeClr val="accent1"/>
          </a:lnRef>
          <a:fillRef idx="0">
            <a:schemeClr val="accent1"/>
          </a:fillRef>
          <a:effectRef idx="0">
            <a:schemeClr val="accent1"/>
          </a:effectRef>
          <a:fontRef idx="minor">
            <a:schemeClr val="tx1"/>
          </a:fontRef>
        </p:style>
      </p:cxnSp>
      <p:sp>
        <p:nvSpPr>
          <p:cNvPr id="13" name="Flowchart: Magnetic Disk 12">
            <a:extLst>
              <a:ext uri="{FF2B5EF4-FFF2-40B4-BE49-F238E27FC236}">
                <a16:creationId xmlns:a16="http://schemas.microsoft.com/office/drawing/2014/main" id="{A1E820CC-FD6E-0F59-DB27-8DDDFA31FD41}"/>
              </a:ext>
            </a:extLst>
          </p:cNvPr>
          <p:cNvSpPr/>
          <p:nvPr/>
        </p:nvSpPr>
        <p:spPr>
          <a:xfrm>
            <a:off x="710924" y="2607089"/>
            <a:ext cx="2291522" cy="641626"/>
          </a:xfrm>
          <a:prstGeom prst="flowChartMagneticDisk">
            <a:avLst/>
          </a:prstGeom>
          <a:solidFill>
            <a:srgbClr val="F5F5F5"/>
          </a:solidFill>
          <a:ln w="12603">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7288" tIns="34373" rIns="57288" bIns="34373" rtlCol="0" anchor="ctr">
            <a:noAutofit/>
          </a:bodyPr>
          <a:lstStyle/>
          <a:p>
            <a:pPr algn="ctr"/>
            <a:r>
              <a:rPr lang="en-IN" sz="1200" b="1">
                <a:solidFill>
                  <a:srgbClr val="1A1A1A"/>
                </a:solidFill>
                <a:latin typeface="Calibri" panose="020F0502020204030204" pitchFamily="34" charset="0"/>
              </a:rPr>
              <a:t>Train split</a:t>
            </a:r>
          </a:p>
          <a:p>
            <a:pPr algn="ctr"/>
            <a:r>
              <a:rPr lang="en-IN" sz="1050">
                <a:solidFill>
                  <a:srgbClr val="5A5A5A"/>
                </a:solidFill>
                <a:latin typeface="Calibri" panose="020F0502020204030204" pitchFamily="34" charset="0"/>
              </a:rPr>
              <a:t>794 radiographs</a:t>
            </a:r>
          </a:p>
        </p:txBody>
      </p:sp>
      <p:sp>
        <p:nvSpPr>
          <p:cNvPr id="14" name="Flowchart: Magnetic Disk 13">
            <a:extLst>
              <a:ext uri="{FF2B5EF4-FFF2-40B4-BE49-F238E27FC236}">
                <a16:creationId xmlns:a16="http://schemas.microsoft.com/office/drawing/2014/main" id="{26FFA020-F8D3-B25F-1A70-8D2D7C48B5FC}"/>
              </a:ext>
            </a:extLst>
          </p:cNvPr>
          <p:cNvSpPr/>
          <p:nvPr/>
        </p:nvSpPr>
        <p:spPr>
          <a:xfrm>
            <a:off x="3575326" y="2607089"/>
            <a:ext cx="2291522" cy="641626"/>
          </a:xfrm>
          <a:prstGeom prst="flowChartMagneticDisk">
            <a:avLst/>
          </a:prstGeom>
          <a:solidFill>
            <a:srgbClr val="F5F5F5"/>
          </a:solidFill>
          <a:ln w="12603">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7288" tIns="34373" rIns="57288" bIns="34373" rtlCol="0" anchor="ctr">
            <a:noAutofit/>
          </a:bodyPr>
          <a:lstStyle/>
          <a:p>
            <a:pPr algn="ctr"/>
            <a:r>
              <a:rPr lang="en-IN" sz="1200" b="1">
                <a:solidFill>
                  <a:srgbClr val="1A1A1A"/>
                </a:solidFill>
                <a:latin typeface="Calibri" panose="020F0502020204030204" pitchFamily="34" charset="0"/>
              </a:rPr>
              <a:t>Validation split</a:t>
            </a:r>
          </a:p>
          <a:p>
            <a:pPr algn="ctr"/>
            <a:r>
              <a:rPr lang="en-IN" sz="1050">
                <a:solidFill>
                  <a:srgbClr val="5A5A5A"/>
                </a:solidFill>
                <a:latin typeface="Calibri" panose="020F0502020204030204" pitchFamily="34" charset="0"/>
              </a:rPr>
              <a:t>113 radiographs</a:t>
            </a:r>
          </a:p>
        </p:txBody>
      </p:sp>
      <p:sp>
        <p:nvSpPr>
          <p:cNvPr id="15" name="Flowchart: Magnetic Disk 14">
            <a:extLst>
              <a:ext uri="{FF2B5EF4-FFF2-40B4-BE49-F238E27FC236}">
                <a16:creationId xmlns:a16="http://schemas.microsoft.com/office/drawing/2014/main" id="{6DB638DF-773D-1F96-1724-2BBFB1602FDE}"/>
              </a:ext>
            </a:extLst>
          </p:cNvPr>
          <p:cNvSpPr/>
          <p:nvPr/>
        </p:nvSpPr>
        <p:spPr>
          <a:xfrm>
            <a:off x="6439728" y="2607089"/>
            <a:ext cx="2291522" cy="641626"/>
          </a:xfrm>
          <a:prstGeom prst="flowChartMagneticDisk">
            <a:avLst/>
          </a:prstGeom>
          <a:solidFill>
            <a:srgbClr val="F5F5F5"/>
          </a:solidFill>
          <a:ln w="12603">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7288" tIns="34373" rIns="57288" bIns="34373" rtlCol="0" anchor="ctr">
            <a:noAutofit/>
          </a:bodyPr>
          <a:lstStyle/>
          <a:p>
            <a:pPr algn="ctr"/>
            <a:r>
              <a:rPr lang="en-IN" sz="1200" b="1">
                <a:solidFill>
                  <a:srgbClr val="1A1A1A"/>
                </a:solidFill>
                <a:latin typeface="Calibri" panose="020F0502020204030204" pitchFamily="34" charset="0"/>
              </a:rPr>
              <a:t>Calibration split</a:t>
            </a:r>
          </a:p>
          <a:p>
            <a:pPr algn="ctr"/>
            <a:r>
              <a:rPr lang="en-IN" sz="1050">
                <a:solidFill>
                  <a:srgbClr val="5A5A5A"/>
                </a:solidFill>
                <a:latin typeface="Calibri" panose="020F0502020204030204" pitchFamily="34" charset="0"/>
              </a:rPr>
              <a:t>113 radiographs</a:t>
            </a:r>
          </a:p>
        </p:txBody>
      </p:sp>
      <p:sp>
        <p:nvSpPr>
          <p:cNvPr id="16" name="Flowchart: Magnetic Disk 15">
            <a:extLst>
              <a:ext uri="{FF2B5EF4-FFF2-40B4-BE49-F238E27FC236}">
                <a16:creationId xmlns:a16="http://schemas.microsoft.com/office/drawing/2014/main" id="{D0909C1F-D3EE-630C-6A9C-5F6528225A78}"/>
              </a:ext>
            </a:extLst>
          </p:cNvPr>
          <p:cNvSpPr/>
          <p:nvPr/>
        </p:nvSpPr>
        <p:spPr>
          <a:xfrm>
            <a:off x="9304131" y="2607089"/>
            <a:ext cx="2291521" cy="641626"/>
          </a:xfrm>
          <a:prstGeom prst="flowChartMagneticDisk">
            <a:avLst/>
          </a:prstGeom>
          <a:solidFill>
            <a:srgbClr val="F5F5F5"/>
          </a:solidFill>
          <a:ln w="12603">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7288" tIns="34373" rIns="57288" bIns="34373" rtlCol="0" anchor="ctr">
            <a:noAutofit/>
          </a:bodyPr>
          <a:lstStyle/>
          <a:p>
            <a:pPr algn="ctr"/>
            <a:r>
              <a:rPr lang="en-US" sz="1200" b="1">
                <a:solidFill>
                  <a:srgbClr val="1A1A1A"/>
                </a:solidFill>
                <a:latin typeface="Calibri" panose="020F0502020204030204" pitchFamily="34" charset="0"/>
              </a:rPr>
              <a:t>Test split</a:t>
            </a:r>
          </a:p>
          <a:p>
            <a:pPr algn="ctr"/>
            <a:r>
              <a:rPr lang="en-US" sz="1050">
                <a:solidFill>
                  <a:srgbClr val="5A5A5A"/>
                </a:solidFill>
                <a:latin typeface="Calibri" panose="020F0502020204030204" pitchFamily="34" charset="0"/>
              </a:rPr>
              <a:t>113 radiographs, ledger-gated</a:t>
            </a:r>
            <a:endParaRPr lang="en-IN" sz="1050">
              <a:solidFill>
                <a:srgbClr val="5A5A5A"/>
              </a:solidFill>
              <a:latin typeface="Calibri" panose="020F0502020204030204" pitchFamily="34" charset="0"/>
            </a:endParaRPr>
          </a:p>
        </p:txBody>
      </p:sp>
      <p:cxnSp>
        <p:nvCxnSpPr>
          <p:cNvPr id="17" name="Connector: Elbow 16">
            <a:extLst>
              <a:ext uri="{FF2B5EF4-FFF2-40B4-BE49-F238E27FC236}">
                <a16:creationId xmlns:a16="http://schemas.microsoft.com/office/drawing/2014/main" id="{F36B9CE4-7065-6534-3D92-6AB0E3DE9058}"/>
              </a:ext>
            </a:extLst>
          </p:cNvPr>
          <p:cNvCxnSpPr>
            <a:cxnSpLocks/>
            <a:stCxn id="9" idx="2"/>
            <a:endCxn id="13" idx="1"/>
          </p:cNvCxnSpPr>
          <p:nvPr/>
        </p:nvCxnSpPr>
        <p:spPr>
          <a:xfrm rot="5400000">
            <a:off x="5775188" y="-1884293"/>
            <a:ext cx="572880" cy="8409885"/>
          </a:xfrm>
          <a:prstGeom prst="bentConnector3">
            <a:avLst>
              <a:gd name="adj1" fmla="val 50000"/>
            </a:avLst>
          </a:prstGeom>
          <a:ln w="14322">
            <a:solidFill>
              <a:srgbClr val="404040"/>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Connector: Elbow 17">
            <a:extLst>
              <a:ext uri="{FF2B5EF4-FFF2-40B4-BE49-F238E27FC236}">
                <a16:creationId xmlns:a16="http://schemas.microsoft.com/office/drawing/2014/main" id="{1F56E088-1066-B256-5819-F26DACA43294}"/>
              </a:ext>
            </a:extLst>
          </p:cNvPr>
          <p:cNvCxnSpPr>
            <a:cxnSpLocks/>
            <a:stCxn id="9" idx="2"/>
            <a:endCxn id="14" idx="1"/>
          </p:cNvCxnSpPr>
          <p:nvPr/>
        </p:nvCxnSpPr>
        <p:spPr>
          <a:xfrm rot="5400000">
            <a:off x="7207389" y="-452092"/>
            <a:ext cx="572880" cy="5545483"/>
          </a:xfrm>
          <a:prstGeom prst="bentConnector3">
            <a:avLst>
              <a:gd name="adj1" fmla="val 50000"/>
            </a:avLst>
          </a:prstGeom>
          <a:ln w="14322">
            <a:solidFill>
              <a:srgbClr val="404040"/>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Connector: Elbow 18">
            <a:extLst>
              <a:ext uri="{FF2B5EF4-FFF2-40B4-BE49-F238E27FC236}">
                <a16:creationId xmlns:a16="http://schemas.microsoft.com/office/drawing/2014/main" id="{006532FF-3FA5-AE6A-E9F0-E8483FC48886}"/>
              </a:ext>
            </a:extLst>
          </p:cNvPr>
          <p:cNvCxnSpPr>
            <a:cxnSpLocks/>
            <a:stCxn id="9" idx="2"/>
            <a:endCxn id="15" idx="1"/>
          </p:cNvCxnSpPr>
          <p:nvPr/>
        </p:nvCxnSpPr>
        <p:spPr>
          <a:xfrm rot="5400000">
            <a:off x="8639590" y="980109"/>
            <a:ext cx="572880" cy="2681081"/>
          </a:xfrm>
          <a:prstGeom prst="bentConnector3">
            <a:avLst>
              <a:gd name="adj1" fmla="val 50000"/>
            </a:avLst>
          </a:prstGeom>
          <a:ln w="14322">
            <a:solidFill>
              <a:srgbClr val="404040"/>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AF088563-E3CB-6841-185E-E69D0ABAF0FA}"/>
              </a:ext>
            </a:extLst>
          </p:cNvPr>
          <p:cNvCxnSpPr>
            <a:cxnSpLocks/>
            <a:stCxn id="9" idx="2"/>
            <a:endCxn id="16" idx="1"/>
          </p:cNvCxnSpPr>
          <p:nvPr/>
        </p:nvCxnSpPr>
        <p:spPr>
          <a:xfrm rot="16200000" flipH="1">
            <a:off x="10071791" y="2228988"/>
            <a:ext cx="572880" cy="183322"/>
          </a:xfrm>
          <a:prstGeom prst="bentConnector3">
            <a:avLst>
              <a:gd name="adj1" fmla="val 50000"/>
            </a:avLst>
          </a:prstGeom>
          <a:ln w="14322">
            <a:solidFill>
              <a:srgbClr val="404040"/>
            </a:solidFill>
            <a:tailEnd type="triangle" w="med" len="med"/>
          </a:ln>
        </p:spPr>
        <p:style>
          <a:lnRef idx="1">
            <a:schemeClr val="accent1"/>
          </a:lnRef>
          <a:fillRef idx="0">
            <a:schemeClr val="accent1"/>
          </a:fillRef>
          <a:effectRef idx="0">
            <a:schemeClr val="accent1"/>
          </a:effectRef>
          <a:fontRef idx="minor">
            <a:schemeClr val="tx1"/>
          </a:fontRef>
        </p:style>
      </p:cxnSp>
      <p:sp>
        <p:nvSpPr>
          <p:cNvPr id="21" name="Rectangle: Rounded Corners 20">
            <a:extLst>
              <a:ext uri="{FF2B5EF4-FFF2-40B4-BE49-F238E27FC236}">
                <a16:creationId xmlns:a16="http://schemas.microsoft.com/office/drawing/2014/main" id="{1489E124-65B0-B87F-77A9-DD2FA118BDD4}"/>
              </a:ext>
            </a:extLst>
          </p:cNvPr>
          <p:cNvSpPr/>
          <p:nvPr/>
        </p:nvSpPr>
        <p:spPr>
          <a:xfrm>
            <a:off x="710924" y="3867426"/>
            <a:ext cx="2291522" cy="916609"/>
          </a:xfrm>
          <a:prstGeom prst="roundRect">
            <a:avLst>
              <a:gd name="adj" fmla="val 12000"/>
            </a:avLst>
          </a:prstGeom>
          <a:solidFill>
            <a:srgbClr val="E2E2E2"/>
          </a:solidFill>
          <a:ln w="12603">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7288" tIns="34373" rIns="57288" bIns="34373" rtlCol="0" anchor="ctr">
            <a:noAutofit/>
          </a:bodyPr>
          <a:lstStyle/>
          <a:p>
            <a:pPr algn="ctr"/>
            <a:r>
              <a:rPr lang="en-US" sz="1150" b="1">
                <a:solidFill>
                  <a:srgbClr val="1A1A1A"/>
                </a:solidFill>
                <a:latin typeface="Calibri" panose="020F0502020204030204" pitchFamily="34" charset="0"/>
              </a:rPr>
              <a:t>Training</a:t>
            </a:r>
          </a:p>
          <a:p>
            <a:pPr algn="ctr"/>
            <a:r>
              <a:rPr lang="en-US" sz="950">
                <a:solidFill>
                  <a:srgbClr val="5A5A5A"/>
                </a:solidFill>
                <a:latin typeface="Calibri" panose="020F0502020204030204" pitchFamily="34" charset="0"/>
              </a:rPr>
              <a:t>AdamW, cosine LR, AMP; manifest with data + code hashes</a:t>
            </a:r>
            <a:endParaRPr lang="en-IN" sz="950">
              <a:solidFill>
                <a:srgbClr val="5A5A5A"/>
              </a:solidFill>
              <a:latin typeface="Calibri" panose="020F0502020204030204" pitchFamily="34" charset="0"/>
            </a:endParaRPr>
          </a:p>
        </p:txBody>
      </p:sp>
      <p:sp>
        <p:nvSpPr>
          <p:cNvPr id="22" name="Rectangle: Rounded Corners 21">
            <a:extLst>
              <a:ext uri="{FF2B5EF4-FFF2-40B4-BE49-F238E27FC236}">
                <a16:creationId xmlns:a16="http://schemas.microsoft.com/office/drawing/2014/main" id="{C9D8BA08-A88C-7505-5419-8CD21F4452EE}"/>
              </a:ext>
            </a:extLst>
          </p:cNvPr>
          <p:cNvSpPr/>
          <p:nvPr/>
        </p:nvSpPr>
        <p:spPr>
          <a:xfrm>
            <a:off x="3575326" y="3867426"/>
            <a:ext cx="2291522" cy="916609"/>
          </a:xfrm>
          <a:prstGeom prst="roundRect">
            <a:avLst>
              <a:gd name="adj" fmla="val 12000"/>
            </a:avLst>
          </a:prstGeom>
          <a:solidFill>
            <a:srgbClr val="FFFFFF"/>
          </a:solidFill>
          <a:ln w="12603">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7288" tIns="34373" rIns="57288" bIns="34373" rtlCol="0" anchor="ctr">
            <a:noAutofit/>
          </a:bodyPr>
          <a:lstStyle/>
          <a:p>
            <a:pPr algn="ctr"/>
            <a:r>
              <a:rPr lang="en-US" sz="1150" b="1">
                <a:solidFill>
                  <a:srgbClr val="1A1A1A"/>
                </a:solidFill>
                <a:latin typeface="Calibri" panose="020F0502020204030204" pitchFamily="34" charset="0"/>
              </a:rPr>
              <a:t>Selection &amp; comparison</a:t>
            </a:r>
          </a:p>
          <a:p>
            <a:pPr algn="ctr"/>
            <a:r>
              <a:rPr lang="en-US" sz="950">
                <a:solidFill>
                  <a:srgbClr val="5A5A5A"/>
                </a:solidFill>
                <a:latin typeface="Calibri" panose="020F0502020204030204" pitchFamily="34" charset="0"/>
              </a:rPr>
              <a:t>best epoch; 5-seed runs; pre-registered rule</a:t>
            </a:r>
            <a:endParaRPr lang="en-IN" sz="950">
              <a:solidFill>
                <a:srgbClr val="5A5A5A"/>
              </a:solidFill>
              <a:latin typeface="Calibri" panose="020F0502020204030204" pitchFamily="34" charset="0"/>
            </a:endParaRPr>
          </a:p>
        </p:txBody>
      </p:sp>
      <p:sp>
        <p:nvSpPr>
          <p:cNvPr id="23" name="Rectangle: Rounded Corners 22">
            <a:extLst>
              <a:ext uri="{FF2B5EF4-FFF2-40B4-BE49-F238E27FC236}">
                <a16:creationId xmlns:a16="http://schemas.microsoft.com/office/drawing/2014/main" id="{B3A09D81-CFEE-577E-C0B2-A01EFD2DCEE2}"/>
              </a:ext>
            </a:extLst>
          </p:cNvPr>
          <p:cNvSpPr/>
          <p:nvPr/>
        </p:nvSpPr>
        <p:spPr>
          <a:xfrm>
            <a:off x="6439728" y="3867426"/>
            <a:ext cx="2291522" cy="916609"/>
          </a:xfrm>
          <a:prstGeom prst="roundRect">
            <a:avLst>
              <a:gd name="adj" fmla="val 12000"/>
            </a:avLst>
          </a:prstGeom>
          <a:solidFill>
            <a:srgbClr val="FFFFFF"/>
          </a:solidFill>
          <a:ln w="12603">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7288" tIns="34373" rIns="57288" bIns="34373" rtlCol="0" anchor="ctr">
            <a:noAutofit/>
          </a:bodyPr>
          <a:lstStyle/>
          <a:p>
            <a:pPr algn="ctr"/>
            <a:r>
              <a:rPr lang="en-US" sz="1150" b="1">
                <a:solidFill>
                  <a:srgbClr val="1A1A1A"/>
                </a:solidFill>
                <a:latin typeface="Calibri" panose="020F0502020204030204" pitchFamily="34" charset="0"/>
              </a:rPr>
              <a:t>Uncertainty thresholds</a:t>
            </a:r>
          </a:p>
          <a:p>
            <a:pPr algn="ctr"/>
            <a:r>
              <a:rPr lang="en-US" sz="950">
                <a:solidFill>
                  <a:srgbClr val="5A5A5A"/>
                </a:solidFill>
                <a:latin typeface="Calibri" panose="020F0502020204030204" pitchFamily="34" charset="0"/>
              </a:rPr>
              <a:t>Youden's J; temperature fit (not applied)</a:t>
            </a:r>
            <a:endParaRPr lang="en-IN" sz="950">
              <a:solidFill>
                <a:srgbClr val="5A5A5A"/>
              </a:solidFill>
              <a:latin typeface="Calibri" panose="020F0502020204030204" pitchFamily="34" charset="0"/>
            </a:endParaRPr>
          </a:p>
        </p:txBody>
      </p:sp>
      <p:sp>
        <p:nvSpPr>
          <p:cNvPr id="24" name="Rectangle: Rounded Corners 23">
            <a:extLst>
              <a:ext uri="{FF2B5EF4-FFF2-40B4-BE49-F238E27FC236}">
                <a16:creationId xmlns:a16="http://schemas.microsoft.com/office/drawing/2014/main" id="{CA07BA74-2D27-57A9-ABD8-6A19CBCD196B}"/>
              </a:ext>
            </a:extLst>
          </p:cNvPr>
          <p:cNvSpPr/>
          <p:nvPr/>
        </p:nvSpPr>
        <p:spPr>
          <a:xfrm>
            <a:off x="9304131" y="3867426"/>
            <a:ext cx="2291521" cy="916609"/>
          </a:xfrm>
          <a:prstGeom prst="roundRect">
            <a:avLst>
              <a:gd name="adj" fmla="val 12000"/>
            </a:avLst>
          </a:prstGeom>
          <a:solidFill>
            <a:srgbClr val="FFFFFF"/>
          </a:solidFill>
          <a:ln w="12603">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7288" tIns="34373" rIns="57288" bIns="34373" rtlCol="0" anchor="ctr">
            <a:noAutofit/>
          </a:bodyPr>
          <a:lstStyle/>
          <a:p>
            <a:pPr algn="ctr"/>
            <a:r>
              <a:rPr lang="en-US" sz="1150" b="1">
                <a:solidFill>
                  <a:srgbClr val="1A1A1A"/>
                </a:solidFill>
                <a:latin typeface="Calibri" panose="020F0502020204030204" pitchFamily="34" charset="0"/>
              </a:rPr>
              <a:t>Historical test report</a:t>
            </a:r>
          </a:p>
          <a:p>
            <a:pPr algn="ctr"/>
            <a:r>
              <a:rPr lang="en-US" sz="950">
                <a:solidFill>
                  <a:srgbClr val="5A5A5A"/>
                </a:solidFill>
                <a:latin typeface="Calibri" panose="020F0502020204030204" pitchFamily="34" charset="0"/>
              </a:rPr>
              <a:t>once per checkpoint, hash-chained ledger</a:t>
            </a:r>
            <a:endParaRPr lang="en-IN" sz="950">
              <a:solidFill>
                <a:srgbClr val="5A5A5A"/>
              </a:solidFill>
              <a:latin typeface="Calibri" panose="020F0502020204030204" pitchFamily="34" charset="0"/>
            </a:endParaRPr>
          </a:p>
        </p:txBody>
      </p:sp>
      <p:cxnSp>
        <p:nvCxnSpPr>
          <p:cNvPr id="25" name="Straight Arrow Connector 24">
            <a:extLst>
              <a:ext uri="{FF2B5EF4-FFF2-40B4-BE49-F238E27FC236}">
                <a16:creationId xmlns:a16="http://schemas.microsoft.com/office/drawing/2014/main" id="{8FC69389-C209-9839-7839-FCB30EE138BE}"/>
              </a:ext>
            </a:extLst>
          </p:cNvPr>
          <p:cNvCxnSpPr>
            <a:cxnSpLocks/>
            <a:stCxn id="13" idx="3"/>
            <a:endCxn id="21" idx="0"/>
          </p:cNvCxnSpPr>
          <p:nvPr/>
        </p:nvCxnSpPr>
        <p:spPr>
          <a:xfrm>
            <a:off x="1856685" y="3248715"/>
            <a:ext cx="0" cy="618711"/>
          </a:xfrm>
          <a:prstGeom prst="straightConnector1">
            <a:avLst/>
          </a:prstGeom>
          <a:ln w="14322">
            <a:solidFill>
              <a:srgbClr val="404040"/>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7AB4DE5D-E771-094E-0368-260BE3103CEF}"/>
              </a:ext>
            </a:extLst>
          </p:cNvPr>
          <p:cNvCxnSpPr>
            <a:cxnSpLocks/>
            <a:stCxn id="14" idx="3"/>
            <a:endCxn id="22" idx="0"/>
          </p:cNvCxnSpPr>
          <p:nvPr/>
        </p:nvCxnSpPr>
        <p:spPr>
          <a:xfrm>
            <a:off x="4721087" y="3248715"/>
            <a:ext cx="0" cy="618711"/>
          </a:xfrm>
          <a:prstGeom prst="straightConnector1">
            <a:avLst/>
          </a:prstGeom>
          <a:ln w="14322">
            <a:solidFill>
              <a:srgbClr val="404040"/>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F7774A46-BE78-AAE2-00AF-8A8A716BC692}"/>
              </a:ext>
            </a:extLst>
          </p:cNvPr>
          <p:cNvCxnSpPr>
            <a:cxnSpLocks/>
            <a:stCxn id="15" idx="3"/>
            <a:endCxn id="23" idx="0"/>
          </p:cNvCxnSpPr>
          <p:nvPr/>
        </p:nvCxnSpPr>
        <p:spPr>
          <a:xfrm>
            <a:off x="7585489" y="3248715"/>
            <a:ext cx="0" cy="618711"/>
          </a:xfrm>
          <a:prstGeom prst="straightConnector1">
            <a:avLst/>
          </a:prstGeom>
          <a:ln w="14322">
            <a:solidFill>
              <a:srgbClr val="404040"/>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DB0E75E2-1E53-62DA-A626-13EEF9DC877A}"/>
              </a:ext>
            </a:extLst>
          </p:cNvPr>
          <p:cNvCxnSpPr>
            <a:cxnSpLocks/>
            <a:stCxn id="16" idx="3"/>
            <a:endCxn id="24" idx="0"/>
          </p:cNvCxnSpPr>
          <p:nvPr/>
        </p:nvCxnSpPr>
        <p:spPr>
          <a:xfrm>
            <a:off x="10449892" y="3248715"/>
            <a:ext cx="0" cy="618711"/>
          </a:xfrm>
          <a:prstGeom prst="straightConnector1">
            <a:avLst/>
          </a:prstGeom>
          <a:ln w="14322">
            <a:solidFill>
              <a:srgbClr val="404040"/>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FEBB7D5E-9B47-4C48-56DB-5B08F0AE0215}"/>
              </a:ext>
            </a:extLst>
          </p:cNvPr>
          <p:cNvCxnSpPr>
            <a:cxnSpLocks/>
            <a:stCxn id="21" idx="3"/>
            <a:endCxn id="22" idx="1"/>
          </p:cNvCxnSpPr>
          <p:nvPr/>
        </p:nvCxnSpPr>
        <p:spPr>
          <a:xfrm>
            <a:off x="3002446" y="4325731"/>
            <a:ext cx="572880" cy="0"/>
          </a:xfrm>
          <a:prstGeom prst="straightConnector1">
            <a:avLst/>
          </a:prstGeom>
          <a:ln w="14322">
            <a:solidFill>
              <a:srgbClr val="404040"/>
            </a:solidFill>
            <a:tailEnd type="triangle" w="med" len="med"/>
          </a:ln>
        </p:spPr>
        <p:style>
          <a:lnRef idx="1">
            <a:schemeClr val="accent1"/>
          </a:lnRef>
          <a:fillRef idx="0">
            <a:schemeClr val="accent1"/>
          </a:fillRef>
          <a:effectRef idx="0">
            <a:schemeClr val="accent1"/>
          </a:effectRef>
          <a:fontRef idx="minor">
            <a:schemeClr val="tx1"/>
          </a:fontRef>
        </p:style>
      </p:cxnSp>
      <p:sp>
        <p:nvSpPr>
          <p:cNvPr id="30" name="Rectangle: Rounded Corners 29">
            <a:extLst>
              <a:ext uri="{FF2B5EF4-FFF2-40B4-BE49-F238E27FC236}">
                <a16:creationId xmlns:a16="http://schemas.microsoft.com/office/drawing/2014/main" id="{D22A7BD4-9FB4-5DD6-ECB4-6518FAD79C60}"/>
              </a:ext>
            </a:extLst>
          </p:cNvPr>
          <p:cNvSpPr/>
          <p:nvPr/>
        </p:nvSpPr>
        <p:spPr>
          <a:xfrm>
            <a:off x="3575326" y="5242339"/>
            <a:ext cx="5155924" cy="733287"/>
          </a:xfrm>
          <a:prstGeom prst="roundRect">
            <a:avLst>
              <a:gd name="adj" fmla="val 12000"/>
            </a:avLst>
          </a:prstGeom>
          <a:solidFill>
            <a:srgbClr val="FFFFFF"/>
          </a:solidFill>
          <a:ln w="12603">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7288" tIns="34373" rIns="57288" bIns="34373" rtlCol="0" anchor="ctr">
            <a:noAutofit/>
          </a:bodyPr>
          <a:lstStyle/>
          <a:p>
            <a:pPr algn="ctr"/>
            <a:r>
              <a:rPr lang="en-US" sz="1200" b="1">
                <a:solidFill>
                  <a:srgbClr val="1A1A1A"/>
                </a:solidFill>
                <a:latin typeface="Calibri" panose="020F0502020204030204" pitchFamily="34" charset="0"/>
              </a:rPr>
              <a:t>Promotion gate (human decision)</a:t>
            </a:r>
          </a:p>
          <a:p>
            <a:pPr algn="ctr"/>
            <a:r>
              <a:rPr lang="en-US" sz="1050">
                <a:solidFill>
                  <a:srgbClr val="5A5A5A"/>
                </a:solidFill>
                <a:latin typeface="Calibri" panose="020F0502020204030204" pitchFamily="34" charset="0"/>
              </a:rPr>
              <a:t>needs a validation report + written justification; recorded with rollback</a:t>
            </a:r>
            <a:endParaRPr lang="en-IN" sz="1050">
              <a:solidFill>
                <a:srgbClr val="5A5A5A"/>
              </a:solidFill>
              <a:latin typeface="Calibri" panose="020F0502020204030204" pitchFamily="34" charset="0"/>
            </a:endParaRPr>
          </a:p>
        </p:txBody>
      </p:sp>
      <p:cxnSp>
        <p:nvCxnSpPr>
          <p:cNvPr id="31" name="Connector: Elbow 30">
            <a:extLst>
              <a:ext uri="{FF2B5EF4-FFF2-40B4-BE49-F238E27FC236}">
                <a16:creationId xmlns:a16="http://schemas.microsoft.com/office/drawing/2014/main" id="{757C454B-CC71-C6F8-9E45-AC2CBAAB2CDB}"/>
              </a:ext>
            </a:extLst>
          </p:cNvPr>
          <p:cNvCxnSpPr>
            <a:cxnSpLocks/>
            <a:stCxn id="22" idx="2"/>
            <a:endCxn id="30" idx="0"/>
          </p:cNvCxnSpPr>
          <p:nvPr/>
        </p:nvCxnSpPr>
        <p:spPr>
          <a:xfrm rot="16200000" flipH="1">
            <a:off x="5208035" y="4297086"/>
            <a:ext cx="458304" cy="1432201"/>
          </a:xfrm>
          <a:prstGeom prst="bentConnector3">
            <a:avLst>
              <a:gd name="adj1" fmla="val 50000"/>
            </a:avLst>
          </a:prstGeom>
          <a:ln w="14322">
            <a:solidFill>
              <a:srgbClr val="404040"/>
            </a:solidFill>
            <a:tailEnd type="triangle" w="med" len="med"/>
          </a:ln>
        </p:spPr>
        <p:style>
          <a:lnRef idx="1">
            <a:schemeClr val="accent1"/>
          </a:lnRef>
          <a:fillRef idx="0">
            <a:schemeClr val="accent1"/>
          </a:fillRef>
          <a:effectRef idx="0">
            <a:schemeClr val="accent1"/>
          </a:effectRef>
          <a:fontRef idx="minor">
            <a:schemeClr val="tx1"/>
          </a:fontRef>
        </p:style>
      </p:cxnSp>
      <p:sp>
        <p:nvSpPr>
          <p:cNvPr id="32" name="Rectangle: Rounded Corners 31">
            <a:extLst>
              <a:ext uri="{FF2B5EF4-FFF2-40B4-BE49-F238E27FC236}">
                <a16:creationId xmlns:a16="http://schemas.microsoft.com/office/drawing/2014/main" id="{C6D4895C-9B4C-7101-A6DD-F81F363D9247}"/>
              </a:ext>
            </a:extLst>
          </p:cNvPr>
          <p:cNvSpPr/>
          <p:nvPr/>
        </p:nvSpPr>
        <p:spPr>
          <a:xfrm>
            <a:off x="9304131" y="5242339"/>
            <a:ext cx="2291521" cy="733287"/>
          </a:xfrm>
          <a:prstGeom prst="roundRect">
            <a:avLst>
              <a:gd name="adj" fmla="val 12000"/>
            </a:avLst>
          </a:prstGeom>
          <a:solidFill>
            <a:srgbClr val="FFFFFF"/>
          </a:solidFill>
          <a:ln w="12603">
            <a:solidFill>
              <a:srgbClr val="404040"/>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57288" tIns="34373" rIns="57288" bIns="34373" rtlCol="0" anchor="ctr">
            <a:noAutofit/>
          </a:bodyPr>
          <a:lstStyle/>
          <a:p>
            <a:pPr algn="ctr"/>
            <a:r>
              <a:rPr lang="en-US" sz="1100">
                <a:solidFill>
                  <a:srgbClr val="1A1A1A"/>
                </a:solidFill>
                <a:latin typeface="Calibri" panose="020F0502020204030204" pitchFamily="34" charset="0"/>
              </a:rPr>
              <a:t>Never used for model selection, thresholds or promotion</a:t>
            </a:r>
            <a:endParaRPr lang="en-IN" sz="1100">
              <a:solidFill>
                <a:srgbClr val="1A1A1A"/>
              </a:solidFill>
              <a:latin typeface="Calibri" panose="020F0502020204030204" pitchFamily="34" charset="0"/>
            </a:endParaRPr>
          </a:p>
        </p:txBody>
      </p:sp>
      <p:cxnSp>
        <p:nvCxnSpPr>
          <p:cNvPr id="33" name="Straight Arrow Connector 32">
            <a:extLst>
              <a:ext uri="{FF2B5EF4-FFF2-40B4-BE49-F238E27FC236}">
                <a16:creationId xmlns:a16="http://schemas.microsoft.com/office/drawing/2014/main" id="{5174E7C8-A461-D18D-9EE1-A4CC28A0841B}"/>
              </a:ext>
            </a:extLst>
          </p:cNvPr>
          <p:cNvCxnSpPr>
            <a:cxnSpLocks/>
            <a:stCxn id="24" idx="2"/>
            <a:endCxn id="32" idx="0"/>
          </p:cNvCxnSpPr>
          <p:nvPr/>
        </p:nvCxnSpPr>
        <p:spPr>
          <a:xfrm>
            <a:off x="10449892" y="4784035"/>
            <a:ext cx="0" cy="458304"/>
          </a:xfrm>
          <a:prstGeom prst="straightConnector1">
            <a:avLst/>
          </a:prstGeom>
          <a:ln w="14322">
            <a:solidFill>
              <a:srgbClr val="404040"/>
            </a:solidFill>
            <a:prstDash val="dash"/>
            <a:tailEnd type="triangle" w="med" len="med"/>
          </a:ln>
        </p:spPr>
        <p:style>
          <a:lnRef idx="1">
            <a:schemeClr val="accent1"/>
          </a:lnRef>
          <a:fillRef idx="0">
            <a:schemeClr val="accent1"/>
          </a:fillRef>
          <a:effectRef idx="0">
            <a:schemeClr val="accent1"/>
          </a:effectRef>
          <a:fontRef idx="minor">
            <a:schemeClr val="tx1"/>
          </a:fontRef>
        </p:style>
      </p:cxnSp>
      <p:sp>
        <p:nvSpPr>
          <p:cNvPr id="34" name="Rectangle: Rounded Corners 33">
            <a:extLst>
              <a:ext uri="{FF2B5EF4-FFF2-40B4-BE49-F238E27FC236}">
                <a16:creationId xmlns:a16="http://schemas.microsoft.com/office/drawing/2014/main" id="{1024DA1C-933D-7A1D-A513-8E661D8BA5F4}"/>
              </a:ext>
            </a:extLst>
          </p:cNvPr>
          <p:cNvSpPr/>
          <p:nvPr/>
        </p:nvSpPr>
        <p:spPr>
          <a:xfrm>
            <a:off x="710924" y="5242339"/>
            <a:ext cx="2291522" cy="733287"/>
          </a:xfrm>
          <a:prstGeom prst="roundRect">
            <a:avLst>
              <a:gd name="adj" fmla="val 12000"/>
            </a:avLst>
          </a:prstGeom>
          <a:solidFill>
            <a:srgbClr val="FFFFFF"/>
          </a:solidFill>
          <a:ln w="12603">
            <a:solidFill>
              <a:srgbClr val="404040"/>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57288" tIns="34373" rIns="57288" bIns="34373" rtlCol="0" anchor="ctr">
            <a:noAutofit/>
          </a:bodyPr>
          <a:lstStyle/>
          <a:p>
            <a:pPr algn="ctr"/>
            <a:r>
              <a:rPr lang="en-US" sz="1100">
                <a:solidFill>
                  <a:srgbClr val="1A1A1A"/>
                </a:solidFill>
                <a:latin typeface="Calibri" panose="020F0502020204030204" pitchFamily="34" charset="0"/>
              </a:rPr>
              <a:t>All splits are assigned per unique radiograph, so duplicate files never cross splits.</a:t>
            </a:r>
            <a:endParaRPr lang="en-IN" sz="1100">
              <a:solidFill>
                <a:srgbClr val="1A1A1A"/>
              </a:solidFill>
              <a:latin typeface="Calibri" panose="020F0502020204030204" pitchFamily="34" charset="0"/>
            </a:endParaRPr>
          </a:p>
        </p:txBody>
      </p:sp>
    </p:spTree>
    <p:extLst>
      <p:ext uri="{BB962C8B-B14F-4D97-AF65-F5344CB8AC3E}">
        <p14:creationId xmlns:p14="http://schemas.microsoft.com/office/powerpoint/2010/main" val="24287114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158D70C-4714-5FCA-26A5-9CD1AE29E693}"/>
              </a:ext>
            </a:extLst>
          </p:cNvPr>
          <p:cNvSpPr txBox="1"/>
          <p:nvPr/>
        </p:nvSpPr>
        <p:spPr>
          <a:xfrm>
            <a:off x="508000" y="279400"/>
            <a:ext cx="11176000" cy="369332"/>
          </a:xfrm>
          <a:prstGeom prst="rect">
            <a:avLst/>
          </a:prstGeom>
          <a:noFill/>
        </p:spPr>
        <p:txBody>
          <a:bodyPr vert="horz" wrap="square" lIns="63500" tIns="38100" rIns="63500" bIns="38100" rtlCol="0" anchor="ctr">
            <a:noAutofit/>
          </a:bodyPr>
          <a:lstStyle/>
          <a:p>
            <a:r>
              <a:rPr lang="en-IN" sz="2600" b="1">
                <a:solidFill>
                  <a:srgbClr val="1F3A5F"/>
                </a:solidFill>
                <a:latin typeface="Calibri" panose="020F0502020204030204" pitchFamily="34" charset="0"/>
              </a:rPr>
              <a:t>Results: detection and segmentation</a:t>
            </a:r>
          </a:p>
        </p:txBody>
      </p:sp>
      <p:sp>
        <p:nvSpPr>
          <p:cNvPr id="3" name="Rectangle 2">
            <a:extLst>
              <a:ext uri="{FF2B5EF4-FFF2-40B4-BE49-F238E27FC236}">
                <a16:creationId xmlns:a16="http://schemas.microsoft.com/office/drawing/2014/main" id="{B0797FFF-3011-3098-BCB6-882617915EB1}"/>
              </a:ext>
            </a:extLst>
          </p:cNvPr>
          <p:cNvSpPr/>
          <p:nvPr/>
        </p:nvSpPr>
        <p:spPr>
          <a:xfrm>
            <a:off x="533400" y="939800"/>
            <a:ext cx="889000" cy="38100"/>
          </a:xfrm>
          <a:prstGeom prst="rect">
            <a:avLst/>
          </a:prstGeom>
          <a:solidFill>
            <a:srgbClr val="0F766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711A8F87-9490-F5AA-5502-9F9613090891}"/>
              </a:ext>
            </a:extLst>
          </p:cNvPr>
          <p:cNvSpPr txBox="1"/>
          <p:nvPr/>
        </p:nvSpPr>
        <p:spPr>
          <a:xfrm>
            <a:off x="508000" y="6502400"/>
            <a:ext cx="8890000" cy="369332"/>
          </a:xfrm>
          <a:prstGeom prst="rect">
            <a:avLst/>
          </a:prstGeom>
          <a:noFill/>
        </p:spPr>
        <p:txBody>
          <a:bodyPr vert="horz" wrap="square" lIns="63500" tIns="38100" rIns="63500" bIns="38100" rtlCol="0" anchor="t">
            <a:noAutofit/>
          </a:bodyPr>
          <a:lstStyle/>
          <a:p>
            <a:r>
              <a:rPr lang="it-IT" sz="900">
                <a:solidFill>
                  <a:srgbClr val="55657A"/>
                </a:solidFill>
                <a:latin typeface="Calibri" panose="020F0502020204030204" pitchFamily="34" charset="0"/>
              </a:rPr>
              <a:t>DentaMind AI · B.Tech Capstone · PCCOE CSE (AI &amp; ML) 2026-27</a:t>
            </a:r>
            <a:endParaRPr lang="en-IN" sz="900">
              <a:solidFill>
                <a:srgbClr val="55657A"/>
              </a:solidFill>
              <a:latin typeface="Calibri" panose="020F0502020204030204" pitchFamily="34" charset="0"/>
            </a:endParaRPr>
          </a:p>
        </p:txBody>
      </p:sp>
      <p:sp>
        <p:nvSpPr>
          <p:cNvPr id="5" name="TextBox 4">
            <a:extLst>
              <a:ext uri="{FF2B5EF4-FFF2-40B4-BE49-F238E27FC236}">
                <a16:creationId xmlns:a16="http://schemas.microsoft.com/office/drawing/2014/main" id="{7BBBE008-365D-C7C2-4D6A-892332E4D2BF}"/>
              </a:ext>
            </a:extLst>
          </p:cNvPr>
          <p:cNvSpPr txBox="1"/>
          <p:nvPr/>
        </p:nvSpPr>
        <p:spPr>
          <a:xfrm>
            <a:off x="10414000" y="6502400"/>
            <a:ext cx="1270000" cy="369332"/>
          </a:xfrm>
          <a:prstGeom prst="rect">
            <a:avLst/>
          </a:prstGeom>
          <a:noFill/>
        </p:spPr>
        <p:txBody>
          <a:bodyPr vert="horz" wrap="square" lIns="63500" tIns="38100" rIns="63500" bIns="38100" rtlCol="0" anchor="t">
            <a:noAutofit/>
          </a:bodyPr>
          <a:lstStyle/>
          <a:p>
            <a:pPr algn="r"/>
            <a:r>
              <a:rPr lang="en-IN" sz="900">
                <a:solidFill>
                  <a:srgbClr val="55657A"/>
                </a:solidFill>
                <a:latin typeface="Calibri" panose="020F0502020204030204" pitchFamily="34" charset="0"/>
              </a:rPr>
              <a:t>14 / 22</a:t>
            </a:r>
          </a:p>
        </p:txBody>
      </p:sp>
      <p:pic>
        <p:nvPicPr>
          <p:cNvPr id="7" name="Picture 6">
            <a:extLst>
              <a:ext uri="{FF2B5EF4-FFF2-40B4-BE49-F238E27FC236}">
                <a16:creationId xmlns:a16="http://schemas.microsoft.com/office/drawing/2014/main" id="{0A9DE794-A3AA-E7FC-C095-E6F3DC7A98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2403210"/>
            <a:ext cx="5562600" cy="2673880"/>
          </a:xfrm>
          <a:prstGeom prst="rect">
            <a:avLst/>
          </a:prstGeom>
        </p:spPr>
      </p:pic>
      <p:sp>
        <p:nvSpPr>
          <p:cNvPr id="8" name="TextBox 7">
            <a:extLst>
              <a:ext uri="{FF2B5EF4-FFF2-40B4-BE49-F238E27FC236}">
                <a16:creationId xmlns:a16="http://schemas.microsoft.com/office/drawing/2014/main" id="{CC253388-B719-CB79-E45D-1905355D0E74}"/>
              </a:ext>
            </a:extLst>
          </p:cNvPr>
          <p:cNvSpPr txBox="1"/>
          <p:nvPr/>
        </p:nvSpPr>
        <p:spPr>
          <a:xfrm>
            <a:off x="533400" y="1168400"/>
            <a:ext cx="5334000" cy="369332"/>
          </a:xfrm>
          <a:prstGeom prst="rect">
            <a:avLst/>
          </a:prstGeom>
          <a:noFill/>
        </p:spPr>
        <p:txBody>
          <a:bodyPr vert="horz" wrap="square" rtlCol="0" anchor="t">
            <a:noAutofit/>
          </a:bodyPr>
          <a:lstStyle/>
          <a:p>
            <a:pPr marL="508000" indent="-228600">
              <a:spcAft>
                <a:spcPts val="600"/>
              </a:spcAft>
              <a:buFont typeface="+mj-lt"/>
              <a:buChar char="•"/>
            </a:pPr>
            <a:r>
              <a:rPr lang="en-US" sz="1400" b="1">
                <a:solidFill>
                  <a:srgbClr val="1A1A1A"/>
                </a:solidFill>
                <a:latin typeface="Calibri" panose="020F0502020204030204" pitchFamily="34" charset="0"/>
              </a:rPr>
              <a:t>Detection, validation:</a:t>
            </a:r>
            <a:r>
              <a:rPr lang="en-US" sz="1400">
                <a:solidFill>
                  <a:srgbClr val="1A1A1A"/>
                </a:solidFill>
                <a:latin typeface="Calibri" panose="020F0502020204030204" pitchFamily="34" charset="0"/>
              </a:rPr>
              <a:t> precision 0.962, recall 0.984, AP50 0.978, mAP 0.560</a:t>
            </a:r>
          </a:p>
          <a:p>
            <a:pPr marL="508000" indent="-228600">
              <a:spcAft>
                <a:spcPts val="600"/>
              </a:spcAft>
              <a:buFont typeface="+mj-lt"/>
              <a:buChar char="•"/>
            </a:pPr>
            <a:r>
              <a:rPr lang="en-US" sz="1400" b="1">
                <a:solidFill>
                  <a:srgbClr val="1A1A1A"/>
                </a:solidFill>
                <a:latin typeface="Calibri" panose="020F0502020204030204" pitchFamily="34" charset="0"/>
              </a:rPr>
              <a:t>Detection, historical test:</a:t>
            </a:r>
            <a:r>
              <a:rPr lang="en-US" sz="1400">
                <a:solidFill>
                  <a:srgbClr val="1A1A1A"/>
                </a:solidFill>
                <a:latin typeface="Calibri" panose="020F0502020204030204" pitchFamily="34" charset="0"/>
              </a:rPr>
              <a:t> precision 0.960, recall 0.974, AP50 0.966, mAP 0.515</a:t>
            </a:r>
          </a:p>
          <a:p>
            <a:pPr marL="508000" indent="-228600">
              <a:spcAft>
                <a:spcPts val="600"/>
              </a:spcAft>
              <a:buFont typeface="+mj-lt"/>
              <a:buChar char="•"/>
            </a:pPr>
            <a:r>
              <a:rPr lang="en-US" sz="1400" b="1">
                <a:solidFill>
                  <a:srgbClr val="1A1A1A"/>
                </a:solidFill>
                <a:latin typeface="Calibri" panose="020F0502020204030204" pitchFamily="34" charset="0"/>
              </a:rPr>
              <a:t>Segmentation, historical test:</a:t>
            </a:r>
            <a:r>
              <a:rPr lang="en-US" sz="1400">
                <a:solidFill>
                  <a:srgbClr val="1A1A1A"/>
                </a:solidFill>
                <a:latin typeface="Calibri" panose="020F0502020204030204" pitchFamily="34" charset="0"/>
              </a:rPr>
              <a:t> mask AP50 0.974, mean Dice 0.873, mean IoU 0.780 (matched teeth)</a:t>
            </a:r>
          </a:p>
          <a:p>
            <a:pPr marL="508000" indent="-228600">
              <a:spcAft>
                <a:spcPts val="600"/>
              </a:spcAft>
              <a:buFont typeface="+mj-lt"/>
              <a:buChar char="•"/>
            </a:pPr>
            <a:r>
              <a:rPr lang="en-US" sz="1400" b="1">
                <a:solidFill>
                  <a:srgbClr val="1A1A1A"/>
                </a:solidFill>
                <a:latin typeface="Calibri" panose="020F0502020204030204" pitchFamily="34" charset="0"/>
              </a:rPr>
              <a:t>Numbering:</a:t>
            </a:r>
            <a:r>
              <a:rPr lang="en-US" sz="1400">
                <a:solidFill>
                  <a:srgbClr val="1A1A1A"/>
                </a:solidFill>
                <a:latin typeface="Calibri" panose="020F0502020204030204" pitchFamily="34" charset="0"/>
              </a:rPr>
              <a:t> exact FDI accuracy 93.6 % (validation) and 96.8 % (test) among matched teeth; quadrant accuracy 99.7 % / 99.9 %</a:t>
            </a:r>
          </a:p>
          <a:p>
            <a:pPr marL="800100" lvl="1" indent="-342900">
              <a:spcAft>
                <a:spcPts val="600"/>
              </a:spcAft>
              <a:buFont typeface="+mj-lt"/>
              <a:buChar char="–"/>
            </a:pPr>
            <a:r>
              <a:rPr lang="en-US" sz="1200" b="1">
                <a:solidFill>
                  <a:srgbClr val="334155"/>
                </a:solidFill>
                <a:latin typeface="Calibri" panose="020F0502020204030204" pitchFamily="34" charset="0"/>
              </a:rPr>
              <a:t>Operating point:</a:t>
            </a:r>
            <a:r>
              <a:rPr lang="en-US" sz="1200">
                <a:solidFill>
                  <a:srgbClr val="334155"/>
                </a:solidFill>
                <a:latin typeface="Calibri" panose="020F0502020204030204" pitchFamily="34" charset="0"/>
              </a:rPr>
              <a:t> score 0.3, IoU 0.5. mAP averages IoU 0.5 to 0.95, so it is lower: box placement is good but not pixel-tight</a:t>
            </a:r>
            <a:endParaRPr lang="en-IN" sz="1200">
              <a:solidFill>
                <a:srgbClr val="334155"/>
              </a:solidFill>
              <a:latin typeface="Calibri" panose="020F0502020204030204" pitchFamily="34" charset="0"/>
            </a:endParaRPr>
          </a:p>
        </p:txBody>
      </p:sp>
    </p:spTree>
    <p:extLst>
      <p:ext uri="{BB962C8B-B14F-4D97-AF65-F5344CB8AC3E}">
        <p14:creationId xmlns:p14="http://schemas.microsoft.com/office/powerpoint/2010/main" val="12242343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20D5D01-8356-6DA2-9F7A-36A2807145FC}"/>
              </a:ext>
            </a:extLst>
          </p:cNvPr>
          <p:cNvSpPr txBox="1"/>
          <p:nvPr/>
        </p:nvSpPr>
        <p:spPr>
          <a:xfrm>
            <a:off x="508000" y="279400"/>
            <a:ext cx="11176000" cy="369332"/>
          </a:xfrm>
          <a:prstGeom prst="rect">
            <a:avLst/>
          </a:prstGeom>
          <a:noFill/>
        </p:spPr>
        <p:txBody>
          <a:bodyPr vert="horz" wrap="square" lIns="63500" tIns="38100" rIns="63500" bIns="38100" rtlCol="0" anchor="ctr">
            <a:noAutofit/>
          </a:bodyPr>
          <a:lstStyle/>
          <a:p>
            <a:r>
              <a:rPr lang="en-US" sz="2600" b="1">
                <a:solidFill>
                  <a:srgbClr val="1F3A5F"/>
                </a:solidFill>
                <a:latin typeface="Calibri" panose="020F0502020204030204" pitchFamily="34" charset="0"/>
              </a:rPr>
              <a:t>Results: finding classification (ground-truth boxes)</a:t>
            </a:r>
            <a:endParaRPr lang="en-IN" sz="2600" b="1">
              <a:solidFill>
                <a:srgbClr val="1F3A5F"/>
              </a:solidFill>
              <a:latin typeface="Calibri" panose="020F0502020204030204" pitchFamily="34" charset="0"/>
            </a:endParaRPr>
          </a:p>
        </p:txBody>
      </p:sp>
      <p:sp>
        <p:nvSpPr>
          <p:cNvPr id="3" name="Rectangle 2">
            <a:extLst>
              <a:ext uri="{FF2B5EF4-FFF2-40B4-BE49-F238E27FC236}">
                <a16:creationId xmlns:a16="http://schemas.microsoft.com/office/drawing/2014/main" id="{C60187BE-DE5E-7420-5B12-3BC4B1308DD0}"/>
              </a:ext>
            </a:extLst>
          </p:cNvPr>
          <p:cNvSpPr/>
          <p:nvPr/>
        </p:nvSpPr>
        <p:spPr>
          <a:xfrm>
            <a:off x="533400" y="939800"/>
            <a:ext cx="889000" cy="38100"/>
          </a:xfrm>
          <a:prstGeom prst="rect">
            <a:avLst/>
          </a:prstGeom>
          <a:solidFill>
            <a:srgbClr val="0F766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710D943D-AAEB-18E6-A544-353517F39404}"/>
              </a:ext>
            </a:extLst>
          </p:cNvPr>
          <p:cNvSpPr txBox="1"/>
          <p:nvPr/>
        </p:nvSpPr>
        <p:spPr>
          <a:xfrm>
            <a:off x="508000" y="6502400"/>
            <a:ext cx="8890000" cy="369332"/>
          </a:xfrm>
          <a:prstGeom prst="rect">
            <a:avLst/>
          </a:prstGeom>
          <a:noFill/>
        </p:spPr>
        <p:txBody>
          <a:bodyPr vert="horz" wrap="square" lIns="63500" tIns="38100" rIns="63500" bIns="38100" rtlCol="0" anchor="t">
            <a:noAutofit/>
          </a:bodyPr>
          <a:lstStyle/>
          <a:p>
            <a:r>
              <a:rPr lang="it-IT" sz="900">
                <a:solidFill>
                  <a:srgbClr val="55657A"/>
                </a:solidFill>
                <a:latin typeface="Calibri" panose="020F0502020204030204" pitchFamily="34" charset="0"/>
              </a:rPr>
              <a:t>DentaMind AI · B.Tech Capstone · PCCOE CSE (AI &amp; ML) 2026-27</a:t>
            </a:r>
            <a:endParaRPr lang="en-IN" sz="900">
              <a:solidFill>
                <a:srgbClr val="55657A"/>
              </a:solidFill>
              <a:latin typeface="Calibri" panose="020F0502020204030204" pitchFamily="34" charset="0"/>
            </a:endParaRPr>
          </a:p>
        </p:txBody>
      </p:sp>
      <p:sp>
        <p:nvSpPr>
          <p:cNvPr id="5" name="TextBox 4">
            <a:extLst>
              <a:ext uri="{FF2B5EF4-FFF2-40B4-BE49-F238E27FC236}">
                <a16:creationId xmlns:a16="http://schemas.microsoft.com/office/drawing/2014/main" id="{8AEA22A6-B319-C554-CBA3-79B853391090}"/>
              </a:ext>
            </a:extLst>
          </p:cNvPr>
          <p:cNvSpPr txBox="1"/>
          <p:nvPr/>
        </p:nvSpPr>
        <p:spPr>
          <a:xfrm>
            <a:off x="10414000" y="6502400"/>
            <a:ext cx="1270000" cy="369332"/>
          </a:xfrm>
          <a:prstGeom prst="rect">
            <a:avLst/>
          </a:prstGeom>
          <a:noFill/>
        </p:spPr>
        <p:txBody>
          <a:bodyPr vert="horz" wrap="square" lIns="63500" tIns="38100" rIns="63500" bIns="38100" rtlCol="0" anchor="t">
            <a:noAutofit/>
          </a:bodyPr>
          <a:lstStyle/>
          <a:p>
            <a:pPr algn="r"/>
            <a:r>
              <a:rPr lang="en-IN" sz="900">
                <a:solidFill>
                  <a:srgbClr val="55657A"/>
                </a:solidFill>
                <a:latin typeface="Calibri" panose="020F0502020204030204" pitchFamily="34" charset="0"/>
              </a:rPr>
              <a:t>15 / 22</a:t>
            </a:r>
          </a:p>
        </p:txBody>
      </p:sp>
      <p:graphicFrame>
        <p:nvGraphicFramePr>
          <p:cNvPr id="6" name="Table 5">
            <a:extLst>
              <a:ext uri="{FF2B5EF4-FFF2-40B4-BE49-F238E27FC236}">
                <a16:creationId xmlns:a16="http://schemas.microsoft.com/office/drawing/2014/main" id="{34F408EC-30BF-1015-C466-55DBA7676C0B}"/>
              </a:ext>
            </a:extLst>
          </p:cNvPr>
          <p:cNvGraphicFramePr>
            <a:graphicFrameLocks noGrp="1"/>
          </p:cNvGraphicFramePr>
          <p:nvPr>
            <p:extLst>
              <p:ext uri="{D42A27DB-BD31-4B8C-83A1-F6EECF244321}">
                <p14:modId xmlns:p14="http://schemas.microsoft.com/office/powerpoint/2010/main" val="2655125142"/>
              </p:ext>
            </p:extLst>
          </p:nvPr>
        </p:nvGraphicFramePr>
        <p:xfrm>
          <a:off x="533400" y="1168400"/>
          <a:ext cx="11125200" cy="914400"/>
        </p:xfrm>
        <a:graphic>
          <a:graphicData uri="http://schemas.openxmlformats.org/drawingml/2006/table">
            <a:tbl>
              <a:tblPr firstRow="1" bandRow="1">
                <a:tableStyleId>{5C22544A-7EE6-4342-B048-85BDC9FD1C3A}</a:tableStyleId>
              </a:tblPr>
              <a:tblGrid>
                <a:gridCol w="2892552">
                  <a:extLst>
                    <a:ext uri="{9D8B030D-6E8A-4147-A177-3AD203B41FA5}">
                      <a16:colId xmlns:a16="http://schemas.microsoft.com/office/drawing/2014/main" val="3603882680"/>
                    </a:ext>
                  </a:extLst>
                </a:gridCol>
                <a:gridCol w="1446276">
                  <a:extLst>
                    <a:ext uri="{9D8B030D-6E8A-4147-A177-3AD203B41FA5}">
                      <a16:colId xmlns:a16="http://schemas.microsoft.com/office/drawing/2014/main" val="340089369"/>
                    </a:ext>
                  </a:extLst>
                </a:gridCol>
                <a:gridCol w="1780032">
                  <a:extLst>
                    <a:ext uri="{9D8B030D-6E8A-4147-A177-3AD203B41FA5}">
                      <a16:colId xmlns:a16="http://schemas.microsoft.com/office/drawing/2014/main" val="4249533972"/>
                    </a:ext>
                  </a:extLst>
                </a:gridCol>
                <a:gridCol w="1668780">
                  <a:extLst>
                    <a:ext uri="{9D8B030D-6E8A-4147-A177-3AD203B41FA5}">
                      <a16:colId xmlns:a16="http://schemas.microsoft.com/office/drawing/2014/main" val="1404424393"/>
                    </a:ext>
                  </a:extLst>
                </a:gridCol>
                <a:gridCol w="1668780">
                  <a:extLst>
                    <a:ext uri="{9D8B030D-6E8A-4147-A177-3AD203B41FA5}">
                      <a16:colId xmlns:a16="http://schemas.microsoft.com/office/drawing/2014/main" val="3629837820"/>
                    </a:ext>
                  </a:extLst>
                </a:gridCol>
                <a:gridCol w="1668780">
                  <a:extLst>
                    <a:ext uri="{9D8B030D-6E8A-4147-A177-3AD203B41FA5}">
                      <a16:colId xmlns:a16="http://schemas.microsoft.com/office/drawing/2014/main" val="1940327617"/>
                    </a:ext>
                  </a:extLst>
                </a:gridCol>
              </a:tblGrid>
              <a:tr h="304800">
                <a:tc>
                  <a:txBody>
                    <a:bodyPr/>
                    <a:lstStyle/>
                    <a:p>
                      <a:r>
                        <a:rPr lang="en-IN" sz="1300" b="1">
                          <a:solidFill>
                            <a:srgbClr val="FFFFFF"/>
                          </a:solidFill>
                          <a:latin typeface="Calibri" panose="020F0502020204030204" pitchFamily="34" charset="0"/>
                        </a:rPr>
                        <a:t>Split</a:t>
                      </a:r>
                    </a:p>
                  </a:txBody>
                  <a:tcPr marL="76200" marR="76200" marT="38100" marB="38100">
                    <a:solidFill>
                      <a:srgbClr val="1F3A5F"/>
                    </a:solidFill>
                  </a:tcPr>
                </a:tc>
                <a:tc>
                  <a:txBody>
                    <a:bodyPr/>
                    <a:lstStyle/>
                    <a:p>
                      <a:pPr algn="ctr"/>
                      <a:r>
                        <a:rPr lang="en-IN" sz="1300" b="1">
                          <a:solidFill>
                            <a:srgbClr val="FFFFFF"/>
                          </a:solidFill>
                          <a:latin typeface="Calibri" panose="020F0502020204030204" pitchFamily="34" charset="0"/>
                        </a:rPr>
                        <a:t>Accuracy</a:t>
                      </a:r>
                    </a:p>
                  </a:txBody>
                  <a:tcPr marL="76200" marR="76200" marT="38100" marB="38100">
                    <a:solidFill>
                      <a:srgbClr val="1F3A5F"/>
                    </a:solidFill>
                  </a:tcPr>
                </a:tc>
                <a:tc>
                  <a:txBody>
                    <a:bodyPr/>
                    <a:lstStyle/>
                    <a:p>
                      <a:pPr algn="ctr"/>
                      <a:r>
                        <a:rPr lang="en-IN" sz="1300" b="1">
                          <a:solidFill>
                            <a:srgbClr val="FFFFFF"/>
                          </a:solidFill>
                          <a:latin typeface="Calibri" panose="020F0502020204030204" pitchFamily="34" charset="0"/>
                        </a:rPr>
                        <a:t>Macro precision</a:t>
                      </a:r>
                    </a:p>
                  </a:txBody>
                  <a:tcPr marL="76200" marR="76200" marT="38100" marB="38100">
                    <a:solidFill>
                      <a:srgbClr val="1F3A5F"/>
                    </a:solidFill>
                  </a:tcPr>
                </a:tc>
                <a:tc>
                  <a:txBody>
                    <a:bodyPr/>
                    <a:lstStyle/>
                    <a:p>
                      <a:pPr algn="ctr"/>
                      <a:r>
                        <a:rPr lang="en-IN" sz="1300" b="1">
                          <a:solidFill>
                            <a:srgbClr val="FFFFFF"/>
                          </a:solidFill>
                          <a:latin typeface="Calibri" panose="020F0502020204030204" pitchFamily="34" charset="0"/>
                        </a:rPr>
                        <a:t>Macro recall</a:t>
                      </a:r>
                    </a:p>
                  </a:txBody>
                  <a:tcPr marL="76200" marR="76200" marT="38100" marB="38100">
                    <a:solidFill>
                      <a:srgbClr val="1F3A5F"/>
                    </a:solidFill>
                  </a:tcPr>
                </a:tc>
                <a:tc>
                  <a:txBody>
                    <a:bodyPr/>
                    <a:lstStyle/>
                    <a:p>
                      <a:pPr algn="ctr"/>
                      <a:r>
                        <a:rPr lang="en-IN" sz="1300" b="1">
                          <a:solidFill>
                            <a:srgbClr val="FFFFFF"/>
                          </a:solidFill>
                          <a:latin typeface="Calibri" panose="020F0502020204030204" pitchFamily="34" charset="0"/>
                        </a:rPr>
                        <a:t>Macro F1</a:t>
                      </a:r>
                    </a:p>
                  </a:txBody>
                  <a:tcPr marL="76200" marR="76200" marT="38100" marB="38100">
                    <a:solidFill>
                      <a:srgbClr val="1F3A5F"/>
                    </a:solidFill>
                  </a:tcPr>
                </a:tc>
                <a:tc>
                  <a:txBody>
                    <a:bodyPr/>
                    <a:lstStyle/>
                    <a:p>
                      <a:pPr algn="ctr"/>
                      <a:r>
                        <a:rPr lang="en-IN" sz="1300" b="1">
                          <a:solidFill>
                            <a:srgbClr val="FFFFFF"/>
                          </a:solidFill>
                          <a:latin typeface="Calibri" panose="020F0502020204030204" pitchFamily="34" charset="0"/>
                        </a:rPr>
                        <a:t>Crops</a:t>
                      </a:r>
                    </a:p>
                  </a:txBody>
                  <a:tcPr marL="76200" marR="76200" marT="38100" marB="38100">
                    <a:solidFill>
                      <a:srgbClr val="1F3A5F"/>
                    </a:solidFill>
                  </a:tcPr>
                </a:tc>
                <a:extLst>
                  <a:ext uri="{0D108BD9-81ED-4DB2-BD59-A6C34878D82A}">
                    <a16:rowId xmlns:a16="http://schemas.microsoft.com/office/drawing/2014/main" val="2921587151"/>
                  </a:ext>
                </a:extLst>
              </a:tr>
              <a:tr h="304800">
                <a:tc>
                  <a:txBody>
                    <a:bodyPr/>
                    <a:lstStyle/>
                    <a:p>
                      <a:r>
                        <a:rPr lang="en-IN" sz="1300" b="1">
                          <a:solidFill>
                            <a:srgbClr val="1A1A1A"/>
                          </a:solidFill>
                          <a:latin typeface="Calibri" panose="020F0502020204030204" pitchFamily="34" charset="0"/>
                        </a:rPr>
                        <a:t>Validation</a:t>
                      </a:r>
                    </a:p>
                  </a:txBody>
                  <a:tcPr marL="76200" marR="76200" marT="38100" marB="38100">
                    <a:solidFill>
                      <a:srgbClr val="FFFFFF"/>
                    </a:solidFill>
                  </a:tcPr>
                </a:tc>
                <a:tc>
                  <a:txBody>
                    <a:bodyPr/>
                    <a:lstStyle/>
                    <a:p>
                      <a:pPr algn="ctr"/>
                      <a:r>
                        <a:rPr lang="en-IN" sz="1300" b="0">
                          <a:solidFill>
                            <a:srgbClr val="1A1A1A"/>
                          </a:solidFill>
                          <a:latin typeface="Calibri" panose="020F0502020204030204" pitchFamily="34" charset="0"/>
                        </a:rPr>
                        <a:t>0.825</a:t>
                      </a:r>
                    </a:p>
                  </a:txBody>
                  <a:tcPr marL="76200" marR="76200" marT="38100" marB="38100">
                    <a:solidFill>
                      <a:srgbClr val="FFFFFF"/>
                    </a:solidFill>
                  </a:tcPr>
                </a:tc>
                <a:tc>
                  <a:txBody>
                    <a:bodyPr/>
                    <a:lstStyle/>
                    <a:p>
                      <a:pPr algn="ctr"/>
                      <a:r>
                        <a:rPr lang="en-IN" sz="1300" b="0">
                          <a:solidFill>
                            <a:srgbClr val="1A1A1A"/>
                          </a:solidFill>
                          <a:latin typeface="Calibri" panose="020F0502020204030204" pitchFamily="34" charset="0"/>
                        </a:rPr>
                        <a:t>0.693</a:t>
                      </a:r>
                    </a:p>
                  </a:txBody>
                  <a:tcPr marL="76200" marR="76200" marT="38100" marB="38100">
                    <a:solidFill>
                      <a:srgbClr val="FFFFFF"/>
                    </a:solidFill>
                  </a:tcPr>
                </a:tc>
                <a:tc>
                  <a:txBody>
                    <a:bodyPr/>
                    <a:lstStyle/>
                    <a:p>
                      <a:pPr algn="ctr"/>
                      <a:r>
                        <a:rPr lang="en-IN" sz="1300" b="0">
                          <a:solidFill>
                            <a:srgbClr val="1A1A1A"/>
                          </a:solidFill>
                          <a:latin typeface="Calibri" panose="020F0502020204030204" pitchFamily="34" charset="0"/>
                        </a:rPr>
                        <a:t>0.763</a:t>
                      </a:r>
                    </a:p>
                  </a:txBody>
                  <a:tcPr marL="76200" marR="76200" marT="38100" marB="38100">
                    <a:solidFill>
                      <a:srgbClr val="FFFFFF"/>
                    </a:solidFill>
                  </a:tcPr>
                </a:tc>
                <a:tc>
                  <a:txBody>
                    <a:bodyPr/>
                    <a:lstStyle/>
                    <a:p>
                      <a:pPr algn="ctr"/>
                      <a:r>
                        <a:rPr lang="en-IN" sz="1300" b="0">
                          <a:solidFill>
                            <a:srgbClr val="1A1A1A"/>
                          </a:solidFill>
                          <a:latin typeface="Calibri" panose="020F0502020204030204" pitchFamily="34" charset="0"/>
                        </a:rPr>
                        <a:t>0.718</a:t>
                      </a:r>
                    </a:p>
                  </a:txBody>
                  <a:tcPr marL="76200" marR="76200" marT="38100" marB="38100">
                    <a:solidFill>
                      <a:srgbClr val="FFFFFF"/>
                    </a:solidFill>
                  </a:tcPr>
                </a:tc>
                <a:tc>
                  <a:txBody>
                    <a:bodyPr/>
                    <a:lstStyle/>
                    <a:p>
                      <a:pPr algn="ctr"/>
                      <a:r>
                        <a:rPr lang="en-IN" sz="1300" b="0">
                          <a:solidFill>
                            <a:srgbClr val="1A1A1A"/>
                          </a:solidFill>
                          <a:latin typeface="Calibri" panose="020F0502020204030204" pitchFamily="34" charset="0"/>
                        </a:rPr>
                        <a:t>331</a:t>
                      </a:r>
                    </a:p>
                  </a:txBody>
                  <a:tcPr marL="76200" marR="76200" marT="38100" marB="38100">
                    <a:solidFill>
                      <a:srgbClr val="FFFFFF"/>
                    </a:solidFill>
                  </a:tcPr>
                </a:tc>
                <a:extLst>
                  <a:ext uri="{0D108BD9-81ED-4DB2-BD59-A6C34878D82A}">
                    <a16:rowId xmlns:a16="http://schemas.microsoft.com/office/drawing/2014/main" val="2642537097"/>
                  </a:ext>
                </a:extLst>
              </a:tr>
              <a:tr h="304800">
                <a:tc>
                  <a:txBody>
                    <a:bodyPr/>
                    <a:lstStyle/>
                    <a:p>
                      <a:r>
                        <a:rPr lang="en-IN" sz="1300" b="1">
                          <a:solidFill>
                            <a:srgbClr val="1A1A1A"/>
                          </a:solidFill>
                          <a:latin typeface="Calibri" panose="020F0502020204030204" pitchFamily="34" charset="0"/>
                        </a:rPr>
                        <a:t>Historical test</a:t>
                      </a:r>
                    </a:p>
                  </a:txBody>
                  <a:tcPr marL="76200" marR="76200" marT="38100" marB="38100">
                    <a:solidFill>
                      <a:srgbClr val="F1F5F9"/>
                    </a:solidFill>
                  </a:tcPr>
                </a:tc>
                <a:tc>
                  <a:txBody>
                    <a:bodyPr/>
                    <a:lstStyle/>
                    <a:p>
                      <a:pPr algn="ctr"/>
                      <a:r>
                        <a:rPr lang="en-IN" sz="1300" b="0">
                          <a:solidFill>
                            <a:srgbClr val="1A1A1A"/>
                          </a:solidFill>
                          <a:latin typeface="Calibri" panose="020F0502020204030204" pitchFamily="34" charset="0"/>
                        </a:rPr>
                        <a:t>0.785</a:t>
                      </a:r>
                    </a:p>
                  </a:txBody>
                  <a:tcPr marL="76200" marR="76200" marT="38100" marB="38100">
                    <a:solidFill>
                      <a:srgbClr val="F1F5F9"/>
                    </a:solidFill>
                  </a:tcPr>
                </a:tc>
                <a:tc>
                  <a:txBody>
                    <a:bodyPr/>
                    <a:lstStyle/>
                    <a:p>
                      <a:pPr algn="ctr"/>
                      <a:r>
                        <a:rPr lang="en-IN" sz="1300" b="0">
                          <a:solidFill>
                            <a:srgbClr val="1A1A1A"/>
                          </a:solidFill>
                          <a:latin typeface="Calibri" panose="020F0502020204030204" pitchFamily="34" charset="0"/>
                        </a:rPr>
                        <a:t>0.653</a:t>
                      </a:r>
                    </a:p>
                  </a:txBody>
                  <a:tcPr marL="76200" marR="76200" marT="38100" marB="38100">
                    <a:solidFill>
                      <a:srgbClr val="F1F5F9"/>
                    </a:solidFill>
                  </a:tcPr>
                </a:tc>
                <a:tc>
                  <a:txBody>
                    <a:bodyPr/>
                    <a:lstStyle/>
                    <a:p>
                      <a:pPr algn="ctr"/>
                      <a:r>
                        <a:rPr lang="en-IN" sz="1300" b="0">
                          <a:solidFill>
                            <a:srgbClr val="1A1A1A"/>
                          </a:solidFill>
                          <a:latin typeface="Calibri" panose="020F0502020204030204" pitchFamily="34" charset="0"/>
                        </a:rPr>
                        <a:t>0.649</a:t>
                      </a:r>
                    </a:p>
                  </a:txBody>
                  <a:tcPr marL="76200" marR="76200" marT="38100" marB="38100">
                    <a:solidFill>
                      <a:srgbClr val="F1F5F9"/>
                    </a:solidFill>
                  </a:tcPr>
                </a:tc>
                <a:tc>
                  <a:txBody>
                    <a:bodyPr/>
                    <a:lstStyle/>
                    <a:p>
                      <a:pPr algn="ctr"/>
                      <a:r>
                        <a:rPr lang="en-IN" sz="1300" b="0">
                          <a:solidFill>
                            <a:srgbClr val="1A1A1A"/>
                          </a:solidFill>
                          <a:latin typeface="Calibri" panose="020F0502020204030204" pitchFamily="34" charset="0"/>
                        </a:rPr>
                        <a:t>0.646</a:t>
                      </a:r>
                    </a:p>
                  </a:txBody>
                  <a:tcPr marL="76200" marR="76200" marT="38100" marB="38100">
                    <a:solidFill>
                      <a:srgbClr val="F1F5F9"/>
                    </a:solidFill>
                  </a:tcPr>
                </a:tc>
                <a:tc>
                  <a:txBody>
                    <a:bodyPr/>
                    <a:lstStyle/>
                    <a:p>
                      <a:pPr algn="ctr"/>
                      <a:r>
                        <a:rPr lang="en-IN" sz="1300" b="0">
                          <a:solidFill>
                            <a:srgbClr val="1A1A1A"/>
                          </a:solidFill>
                          <a:latin typeface="Calibri" panose="020F0502020204030204" pitchFamily="34" charset="0"/>
                        </a:rPr>
                        <a:t>354</a:t>
                      </a:r>
                    </a:p>
                  </a:txBody>
                  <a:tcPr marL="76200" marR="76200" marT="38100" marB="38100">
                    <a:solidFill>
                      <a:srgbClr val="F1F5F9"/>
                    </a:solidFill>
                  </a:tcPr>
                </a:tc>
                <a:extLst>
                  <a:ext uri="{0D108BD9-81ED-4DB2-BD59-A6C34878D82A}">
                    <a16:rowId xmlns:a16="http://schemas.microsoft.com/office/drawing/2014/main" val="1760928000"/>
                  </a:ext>
                </a:extLst>
              </a:tr>
            </a:tbl>
          </a:graphicData>
        </a:graphic>
      </p:graphicFrame>
      <p:pic>
        <p:nvPicPr>
          <p:cNvPr id="8" name="Picture 7">
            <a:extLst>
              <a:ext uri="{FF2B5EF4-FFF2-40B4-BE49-F238E27FC236}">
                <a16:creationId xmlns:a16="http://schemas.microsoft.com/office/drawing/2014/main" id="{6D4A6694-796A-C3B5-0B64-7300A54076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83480" y="2415676"/>
            <a:ext cx="6675120" cy="2915648"/>
          </a:xfrm>
          <a:prstGeom prst="rect">
            <a:avLst/>
          </a:prstGeom>
        </p:spPr>
      </p:pic>
      <p:sp>
        <p:nvSpPr>
          <p:cNvPr id="9" name="TextBox 8">
            <a:extLst>
              <a:ext uri="{FF2B5EF4-FFF2-40B4-BE49-F238E27FC236}">
                <a16:creationId xmlns:a16="http://schemas.microsoft.com/office/drawing/2014/main" id="{CD80481B-1B18-C7EB-61E0-BD24DCCA6185}"/>
              </a:ext>
            </a:extLst>
          </p:cNvPr>
          <p:cNvSpPr txBox="1"/>
          <p:nvPr/>
        </p:nvSpPr>
        <p:spPr>
          <a:xfrm>
            <a:off x="533400" y="2260600"/>
            <a:ext cx="4221480" cy="369332"/>
          </a:xfrm>
          <a:prstGeom prst="rect">
            <a:avLst/>
          </a:prstGeom>
          <a:noFill/>
        </p:spPr>
        <p:txBody>
          <a:bodyPr vert="horz" wrap="square" rtlCol="0" anchor="t">
            <a:noAutofit/>
          </a:bodyPr>
          <a:lstStyle/>
          <a:p>
            <a:pPr marL="508000" indent="-228600">
              <a:spcAft>
                <a:spcPts val="600"/>
              </a:spcAft>
              <a:buFont typeface="+mj-lt"/>
              <a:buChar char="•"/>
            </a:pPr>
            <a:r>
              <a:rPr lang="en-US" sz="1500" b="1">
                <a:solidFill>
                  <a:srgbClr val="1A1A1A"/>
                </a:solidFill>
                <a:latin typeface="Calibri" panose="020F0502020204030204" pitchFamily="34" charset="0"/>
              </a:rPr>
              <a:t>Strong:</a:t>
            </a:r>
            <a:r>
              <a:rPr lang="en-US" sz="1500">
                <a:solidFill>
                  <a:srgbClr val="1A1A1A"/>
                </a:solidFill>
                <a:latin typeface="Calibri" panose="020F0502020204030204" pitchFamily="34" charset="0"/>
              </a:rPr>
              <a:t> Impacted (F1 0.93 / 0.93) and Caries (0.87 / 0.84)</a:t>
            </a:r>
          </a:p>
          <a:p>
            <a:pPr marL="508000" indent="-228600">
              <a:spcAft>
                <a:spcPts val="600"/>
              </a:spcAft>
              <a:buFont typeface="+mj-lt"/>
              <a:buChar char="•"/>
            </a:pPr>
            <a:r>
              <a:rPr lang="en-US" sz="1500" b="1">
                <a:solidFill>
                  <a:srgbClr val="1A1A1A"/>
                </a:solidFill>
                <a:latin typeface="Calibri" panose="020F0502020204030204" pitchFamily="34" charset="0"/>
              </a:rPr>
              <a:t>Weak:</a:t>
            </a:r>
            <a:r>
              <a:rPr lang="en-US" sz="1500">
                <a:solidFill>
                  <a:srgbClr val="1A1A1A"/>
                </a:solidFill>
                <a:latin typeface="Calibri" panose="020F0502020204030204" pitchFamily="34" charset="0"/>
              </a:rPr>
              <a:t> Deep Caries (0.48 / 0.45), often confused with Caries</a:t>
            </a:r>
          </a:p>
          <a:p>
            <a:pPr marL="508000" indent="-228600">
              <a:spcAft>
                <a:spcPts val="600"/>
              </a:spcAft>
              <a:buFont typeface="+mj-lt"/>
              <a:buChar char="•"/>
            </a:pPr>
            <a:r>
              <a:rPr lang="en-US" sz="1500" b="1">
                <a:solidFill>
                  <a:srgbClr val="1A1A1A"/>
                </a:solidFill>
                <a:latin typeface="Calibri" panose="020F0502020204030204" pitchFamily="34" charset="0"/>
              </a:rPr>
              <a:t>Periapical Lesion:</a:t>
            </a:r>
            <a:r>
              <a:rPr lang="en-US" sz="1500">
                <a:solidFill>
                  <a:srgbClr val="1A1A1A"/>
                </a:solidFill>
                <a:latin typeface="Calibri" panose="020F0502020204030204" pitchFamily="34" charset="0"/>
              </a:rPr>
              <a:t> F1 0.58 on 9 validation crops, 0.36 on 13 test crops</a:t>
            </a:r>
          </a:p>
          <a:p>
            <a:pPr marL="508000" indent="-228600">
              <a:spcAft>
                <a:spcPts val="600"/>
              </a:spcAft>
              <a:buFont typeface="+mj-lt"/>
              <a:buChar char="•"/>
            </a:pPr>
            <a:r>
              <a:rPr lang="en-US" sz="1500">
                <a:solidFill>
                  <a:srgbClr val="1A1A1A"/>
                </a:solidFill>
                <a:latin typeface="Calibri" panose="020F0502020204030204" pitchFamily="34" charset="0"/>
              </a:rPr>
              <a:t>Test macro ROC-AUC 0.910</a:t>
            </a:r>
            <a:endParaRPr lang="en-IN" sz="1500">
              <a:solidFill>
                <a:srgbClr val="1A1A1A"/>
              </a:solidFill>
              <a:latin typeface="Calibri" panose="020F0502020204030204" pitchFamily="34" charset="0"/>
            </a:endParaRPr>
          </a:p>
        </p:txBody>
      </p:sp>
      <p:sp>
        <p:nvSpPr>
          <p:cNvPr id="10" name="Rectangle: Rounded Corners 9">
            <a:extLst>
              <a:ext uri="{FF2B5EF4-FFF2-40B4-BE49-F238E27FC236}">
                <a16:creationId xmlns:a16="http://schemas.microsoft.com/office/drawing/2014/main" id="{3AACE95E-CDA8-DC60-5D36-DE2C97E83C13}"/>
              </a:ext>
            </a:extLst>
          </p:cNvPr>
          <p:cNvSpPr/>
          <p:nvPr/>
        </p:nvSpPr>
        <p:spPr>
          <a:xfrm>
            <a:off x="533400" y="5588000"/>
            <a:ext cx="11125200" cy="787400"/>
          </a:xfrm>
          <a:prstGeom prst="roundRect">
            <a:avLst>
              <a:gd name="adj" fmla="val 15000"/>
            </a:avLst>
          </a:prstGeom>
          <a:solidFill>
            <a:srgbClr val="F0FDFA"/>
          </a:solidFill>
          <a:ln w="12700">
            <a:solidFill>
              <a:srgbClr val="0F766E"/>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38100" rIns="152400" bIns="38100" rtlCol="0" anchor="ctr">
            <a:noAutofit/>
          </a:bodyPr>
          <a:lstStyle/>
          <a:p>
            <a:r>
              <a:rPr lang="en-US" sz="1400">
                <a:solidFill>
                  <a:srgbClr val="115E59"/>
                </a:solidFill>
                <a:latin typeface="Calibri" panose="020F0502020204030204" pitchFamily="34" charset="0"/>
              </a:rPr>
              <a:t>Accuracy hides the rare classes: macro-F1 weights all four findings equally and is our primary metric.</a:t>
            </a:r>
            <a:endParaRPr lang="en-IN" sz="1400">
              <a:solidFill>
                <a:srgbClr val="115E59"/>
              </a:solidFill>
              <a:latin typeface="Calibri" panose="020F0502020204030204" pitchFamily="34" charset="0"/>
            </a:endParaRPr>
          </a:p>
        </p:txBody>
      </p:sp>
    </p:spTree>
    <p:extLst>
      <p:ext uri="{BB962C8B-B14F-4D97-AF65-F5344CB8AC3E}">
        <p14:creationId xmlns:p14="http://schemas.microsoft.com/office/powerpoint/2010/main" val="12704412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E9E5C3-975C-8563-382A-72A98EEDDF1A}"/>
              </a:ext>
            </a:extLst>
          </p:cNvPr>
          <p:cNvSpPr txBox="1"/>
          <p:nvPr/>
        </p:nvSpPr>
        <p:spPr>
          <a:xfrm>
            <a:off x="508000" y="279400"/>
            <a:ext cx="11176000" cy="369332"/>
          </a:xfrm>
          <a:prstGeom prst="rect">
            <a:avLst/>
          </a:prstGeom>
          <a:noFill/>
        </p:spPr>
        <p:txBody>
          <a:bodyPr vert="horz" wrap="square" lIns="63500" tIns="38100" rIns="63500" bIns="38100" rtlCol="0" anchor="ctr">
            <a:noAutofit/>
          </a:bodyPr>
          <a:lstStyle/>
          <a:p>
            <a:r>
              <a:rPr lang="en-US" sz="2600" b="1">
                <a:solidFill>
                  <a:srgbClr val="1F3A5F"/>
                </a:solidFill>
                <a:latin typeface="Calibri" panose="020F0502020204030204" pitchFamily="34" charset="0"/>
              </a:rPr>
              <a:t>Results: ground-truth boxes vs detector boxes (validation)</a:t>
            </a:r>
            <a:endParaRPr lang="en-IN" sz="2600" b="1">
              <a:solidFill>
                <a:srgbClr val="1F3A5F"/>
              </a:solidFill>
              <a:latin typeface="Calibri" panose="020F0502020204030204" pitchFamily="34" charset="0"/>
            </a:endParaRPr>
          </a:p>
        </p:txBody>
      </p:sp>
      <p:sp>
        <p:nvSpPr>
          <p:cNvPr id="3" name="Rectangle 2">
            <a:extLst>
              <a:ext uri="{FF2B5EF4-FFF2-40B4-BE49-F238E27FC236}">
                <a16:creationId xmlns:a16="http://schemas.microsoft.com/office/drawing/2014/main" id="{908D7CA6-38BF-36FA-CD17-E01EB5E4E6C0}"/>
              </a:ext>
            </a:extLst>
          </p:cNvPr>
          <p:cNvSpPr/>
          <p:nvPr/>
        </p:nvSpPr>
        <p:spPr>
          <a:xfrm>
            <a:off x="533400" y="939800"/>
            <a:ext cx="889000" cy="38100"/>
          </a:xfrm>
          <a:prstGeom prst="rect">
            <a:avLst/>
          </a:prstGeom>
          <a:solidFill>
            <a:srgbClr val="0F766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26842D09-6ACA-6061-3ABC-D90951E6E0C0}"/>
              </a:ext>
            </a:extLst>
          </p:cNvPr>
          <p:cNvSpPr txBox="1"/>
          <p:nvPr/>
        </p:nvSpPr>
        <p:spPr>
          <a:xfrm>
            <a:off x="508000" y="6502400"/>
            <a:ext cx="8890000" cy="369332"/>
          </a:xfrm>
          <a:prstGeom prst="rect">
            <a:avLst/>
          </a:prstGeom>
          <a:noFill/>
        </p:spPr>
        <p:txBody>
          <a:bodyPr vert="horz" wrap="square" lIns="63500" tIns="38100" rIns="63500" bIns="38100" rtlCol="0" anchor="t">
            <a:noAutofit/>
          </a:bodyPr>
          <a:lstStyle/>
          <a:p>
            <a:r>
              <a:rPr lang="it-IT" sz="900">
                <a:solidFill>
                  <a:srgbClr val="55657A"/>
                </a:solidFill>
                <a:latin typeface="Calibri" panose="020F0502020204030204" pitchFamily="34" charset="0"/>
              </a:rPr>
              <a:t>DentaMind AI · B.Tech Capstone · PCCOE CSE (AI &amp; ML) 2026-27</a:t>
            </a:r>
            <a:endParaRPr lang="en-IN" sz="900">
              <a:solidFill>
                <a:srgbClr val="55657A"/>
              </a:solidFill>
              <a:latin typeface="Calibri" panose="020F0502020204030204" pitchFamily="34" charset="0"/>
            </a:endParaRPr>
          </a:p>
        </p:txBody>
      </p:sp>
      <p:sp>
        <p:nvSpPr>
          <p:cNvPr id="5" name="TextBox 4">
            <a:extLst>
              <a:ext uri="{FF2B5EF4-FFF2-40B4-BE49-F238E27FC236}">
                <a16:creationId xmlns:a16="http://schemas.microsoft.com/office/drawing/2014/main" id="{AF02FC5F-FF12-6CAF-D671-3A8E91F4D6EE}"/>
              </a:ext>
            </a:extLst>
          </p:cNvPr>
          <p:cNvSpPr txBox="1"/>
          <p:nvPr/>
        </p:nvSpPr>
        <p:spPr>
          <a:xfrm>
            <a:off x="10414000" y="6502400"/>
            <a:ext cx="1270000" cy="369332"/>
          </a:xfrm>
          <a:prstGeom prst="rect">
            <a:avLst/>
          </a:prstGeom>
          <a:noFill/>
        </p:spPr>
        <p:txBody>
          <a:bodyPr vert="horz" wrap="square" lIns="63500" tIns="38100" rIns="63500" bIns="38100" rtlCol="0" anchor="t">
            <a:noAutofit/>
          </a:bodyPr>
          <a:lstStyle/>
          <a:p>
            <a:pPr algn="r"/>
            <a:r>
              <a:rPr lang="en-IN" sz="900">
                <a:solidFill>
                  <a:srgbClr val="55657A"/>
                </a:solidFill>
                <a:latin typeface="Calibri" panose="020F0502020204030204" pitchFamily="34" charset="0"/>
              </a:rPr>
              <a:t>16 / 22</a:t>
            </a:r>
          </a:p>
        </p:txBody>
      </p:sp>
      <p:pic>
        <p:nvPicPr>
          <p:cNvPr id="7" name="Picture 6">
            <a:extLst>
              <a:ext uri="{FF2B5EF4-FFF2-40B4-BE49-F238E27FC236}">
                <a16:creationId xmlns:a16="http://schemas.microsoft.com/office/drawing/2014/main" id="{6D04B40B-6D5E-21C0-A872-79ACF240AA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29756" y="2598934"/>
            <a:ext cx="5228844" cy="2282432"/>
          </a:xfrm>
          <a:prstGeom prst="rect">
            <a:avLst/>
          </a:prstGeom>
        </p:spPr>
      </p:pic>
      <p:sp>
        <p:nvSpPr>
          <p:cNvPr id="8" name="TextBox 7">
            <a:extLst>
              <a:ext uri="{FF2B5EF4-FFF2-40B4-BE49-F238E27FC236}">
                <a16:creationId xmlns:a16="http://schemas.microsoft.com/office/drawing/2014/main" id="{1C90EA94-A0D5-BE39-EDF5-E0B33B33755E}"/>
              </a:ext>
            </a:extLst>
          </p:cNvPr>
          <p:cNvSpPr txBox="1"/>
          <p:nvPr/>
        </p:nvSpPr>
        <p:spPr>
          <a:xfrm>
            <a:off x="533400" y="1168400"/>
            <a:ext cx="5667756" cy="369332"/>
          </a:xfrm>
          <a:prstGeom prst="rect">
            <a:avLst/>
          </a:prstGeom>
          <a:noFill/>
        </p:spPr>
        <p:txBody>
          <a:bodyPr vert="horz" wrap="square" rtlCol="0" anchor="t">
            <a:noAutofit/>
          </a:bodyPr>
          <a:lstStyle/>
          <a:p>
            <a:pPr marL="508000" indent="-228600">
              <a:spcAft>
                <a:spcPts val="600"/>
              </a:spcAft>
              <a:buFont typeface="+mj-lt"/>
              <a:buChar char="•"/>
            </a:pPr>
            <a:r>
              <a:rPr lang="en-US" sz="1400" b="1">
                <a:solidFill>
                  <a:srgbClr val="1A1A1A"/>
                </a:solidFill>
                <a:latin typeface="Calibri" panose="020F0502020204030204" pitchFamily="34" charset="0"/>
              </a:rPr>
              <a:t>Same 323 teeth:</a:t>
            </a:r>
            <a:r>
              <a:rPr lang="en-US" sz="1400">
                <a:solidFill>
                  <a:srgbClr val="1A1A1A"/>
                </a:solidFill>
                <a:latin typeface="Calibri" panose="020F0502020204030204" pitchFamily="34" charset="0"/>
              </a:rPr>
              <a:t> ground-truth crops give accuracy 0.830 and macro-F1 0.717; detector crops give 0.811 and 0.649</a:t>
            </a:r>
          </a:p>
          <a:p>
            <a:pPr marL="508000" indent="-228600">
              <a:spcAft>
                <a:spcPts val="600"/>
              </a:spcAft>
              <a:buFont typeface="+mj-lt"/>
              <a:buChar char="•"/>
            </a:pPr>
            <a:r>
              <a:rPr lang="en-US" sz="1400">
                <a:solidFill>
                  <a:srgbClr val="1A1A1A"/>
                </a:solidFill>
                <a:latin typeface="Calibri" panose="020F0502020204030204" pitchFamily="34" charset="0"/>
              </a:rPr>
              <a:t>End-to-end over all 331 findings (misses count as wrong): accuracy 0.792, macro-F1 0.634</a:t>
            </a:r>
          </a:p>
          <a:p>
            <a:pPr marL="508000" indent="-228600">
              <a:spcAft>
                <a:spcPts val="600"/>
              </a:spcAft>
              <a:buFont typeface="+mj-lt"/>
              <a:buChar char="•"/>
            </a:pPr>
            <a:r>
              <a:rPr lang="en-US" sz="1400" b="1">
                <a:solidFill>
                  <a:srgbClr val="1A1A1A"/>
                </a:solidFill>
                <a:latin typeface="Calibri" panose="020F0502020204030204" pitchFamily="34" charset="0"/>
              </a:rPr>
              <a:t>Detector on 24 fully annotated images:</a:t>
            </a:r>
            <a:r>
              <a:rPr lang="en-US" sz="1400">
                <a:solidFill>
                  <a:srgbClr val="1A1A1A"/>
                </a:solidFill>
                <a:latin typeface="Calibri" panose="020F0502020204030204" pitchFamily="34" charset="0"/>
              </a:rPr>
              <a:t> 716 of 719 teeth found, 17 false positives (P 0.977, R 0.996)</a:t>
            </a:r>
          </a:p>
          <a:p>
            <a:pPr marL="508000" indent="-228600">
              <a:spcAft>
                <a:spcPts val="600"/>
              </a:spcAft>
              <a:buFont typeface="+mj-lt"/>
              <a:buChar char="•"/>
            </a:pPr>
            <a:r>
              <a:rPr lang="en-US" sz="1400" b="1">
                <a:solidFill>
                  <a:srgbClr val="1A1A1A"/>
                </a:solidFill>
                <a:latin typeface="Calibri" panose="020F0502020204030204" pitchFamily="34" charset="0"/>
              </a:rPr>
              <a:t>Crop sensitivity:</a:t>
            </a:r>
            <a:r>
              <a:rPr lang="en-US" sz="1400">
                <a:solidFill>
                  <a:srgbClr val="1A1A1A"/>
                </a:solidFill>
                <a:latin typeface="Calibri" panose="020F0502020204030204" pitchFamily="34" charset="0"/>
              </a:rPr>
              <a:t> about 10 % of predictions change even when detector and ground-truth boxes overlap at IoU above 0.9</a:t>
            </a:r>
          </a:p>
          <a:p>
            <a:pPr marL="508000" indent="-228600">
              <a:spcAft>
                <a:spcPts val="600"/>
              </a:spcAft>
              <a:buFont typeface="+mj-lt"/>
              <a:buChar char="•"/>
            </a:pPr>
            <a:r>
              <a:rPr lang="en-US" sz="1400">
                <a:solidFill>
                  <a:srgbClr val="1A1A1A"/>
                </a:solidFill>
                <a:latin typeface="Calibri" panose="020F0502020204030204" pitchFamily="34" charset="0"/>
              </a:rPr>
              <a:t>1,580 of 1,903 detected teeth have no finding label but still receive a class (no healthy class)</a:t>
            </a:r>
            <a:endParaRPr lang="en-IN" sz="1400">
              <a:solidFill>
                <a:srgbClr val="1A1A1A"/>
              </a:solidFill>
              <a:latin typeface="Calibri" panose="020F0502020204030204" pitchFamily="34" charset="0"/>
            </a:endParaRPr>
          </a:p>
        </p:txBody>
      </p:sp>
    </p:spTree>
    <p:extLst>
      <p:ext uri="{BB962C8B-B14F-4D97-AF65-F5344CB8AC3E}">
        <p14:creationId xmlns:p14="http://schemas.microsoft.com/office/powerpoint/2010/main" val="15753864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1D8B36F-97EB-19FB-811B-E304C13D1438}"/>
              </a:ext>
            </a:extLst>
          </p:cNvPr>
          <p:cNvSpPr txBox="1"/>
          <p:nvPr/>
        </p:nvSpPr>
        <p:spPr>
          <a:xfrm>
            <a:off x="508000" y="279400"/>
            <a:ext cx="11176000" cy="369332"/>
          </a:xfrm>
          <a:prstGeom prst="rect">
            <a:avLst/>
          </a:prstGeom>
          <a:noFill/>
        </p:spPr>
        <p:txBody>
          <a:bodyPr vert="horz" wrap="square" lIns="63500" tIns="38100" rIns="63500" bIns="38100" rtlCol="0" anchor="ctr">
            <a:noAutofit/>
          </a:bodyPr>
          <a:lstStyle/>
          <a:p>
            <a:r>
              <a:rPr lang="en-IN" sz="2600" b="1">
                <a:solidFill>
                  <a:srgbClr val="1F3A5F"/>
                </a:solidFill>
                <a:latin typeface="Calibri" panose="020F0502020204030204" pitchFamily="34" charset="0"/>
              </a:rPr>
              <a:t>Class-imbalance experiments</a:t>
            </a:r>
          </a:p>
        </p:txBody>
      </p:sp>
      <p:sp>
        <p:nvSpPr>
          <p:cNvPr id="3" name="Rectangle 2">
            <a:extLst>
              <a:ext uri="{FF2B5EF4-FFF2-40B4-BE49-F238E27FC236}">
                <a16:creationId xmlns:a16="http://schemas.microsoft.com/office/drawing/2014/main" id="{83173D60-4380-539C-8F25-D08C85B2570B}"/>
              </a:ext>
            </a:extLst>
          </p:cNvPr>
          <p:cNvSpPr/>
          <p:nvPr/>
        </p:nvSpPr>
        <p:spPr>
          <a:xfrm>
            <a:off x="533400" y="939800"/>
            <a:ext cx="889000" cy="38100"/>
          </a:xfrm>
          <a:prstGeom prst="rect">
            <a:avLst/>
          </a:prstGeom>
          <a:solidFill>
            <a:srgbClr val="0F766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BBE8517F-03BD-BC78-016F-43F9080B352E}"/>
              </a:ext>
            </a:extLst>
          </p:cNvPr>
          <p:cNvSpPr txBox="1"/>
          <p:nvPr/>
        </p:nvSpPr>
        <p:spPr>
          <a:xfrm>
            <a:off x="508000" y="6502400"/>
            <a:ext cx="8890000" cy="369332"/>
          </a:xfrm>
          <a:prstGeom prst="rect">
            <a:avLst/>
          </a:prstGeom>
          <a:noFill/>
        </p:spPr>
        <p:txBody>
          <a:bodyPr vert="horz" wrap="square" lIns="63500" tIns="38100" rIns="63500" bIns="38100" rtlCol="0" anchor="t">
            <a:noAutofit/>
          </a:bodyPr>
          <a:lstStyle/>
          <a:p>
            <a:r>
              <a:rPr lang="it-IT" sz="900">
                <a:solidFill>
                  <a:srgbClr val="55657A"/>
                </a:solidFill>
                <a:latin typeface="Calibri" panose="020F0502020204030204" pitchFamily="34" charset="0"/>
              </a:rPr>
              <a:t>DentaMind AI · B.Tech Capstone · PCCOE CSE (AI &amp; ML) 2026-27</a:t>
            </a:r>
            <a:endParaRPr lang="en-IN" sz="900">
              <a:solidFill>
                <a:srgbClr val="55657A"/>
              </a:solidFill>
              <a:latin typeface="Calibri" panose="020F0502020204030204" pitchFamily="34" charset="0"/>
            </a:endParaRPr>
          </a:p>
        </p:txBody>
      </p:sp>
      <p:sp>
        <p:nvSpPr>
          <p:cNvPr id="5" name="TextBox 4">
            <a:extLst>
              <a:ext uri="{FF2B5EF4-FFF2-40B4-BE49-F238E27FC236}">
                <a16:creationId xmlns:a16="http://schemas.microsoft.com/office/drawing/2014/main" id="{11950F40-B712-31B6-525E-C556D0EF2990}"/>
              </a:ext>
            </a:extLst>
          </p:cNvPr>
          <p:cNvSpPr txBox="1"/>
          <p:nvPr/>
        </p:nvSpPr>
        <p:spPr>
          <a:xfrm>
            <a:off x="10414000" y="6502400"/>
            <a:ext cx="1270000" cy="369332"/>
          </a:xfrm>
          <a:prstGeom prst="rect">
            <a:avLst/>
          </a:prstGeom>
          <a:noFill/>
        </p:spPr>
        <p:txBody>
          <a:bodyPr vert="horz" wrap="square" lIns="63500" tIns="38100" rIns="63500" bIns="38100" rtlCol="0" anchor="t">
            <a:noAutofit/>
          </a:bodyPr>
          <a:lstStyle/>
          <a:p>
            <a:pPr algn="r"/>
            <a:r>
              <a:rPr lang="en-IN" sz="900">
                <a:solidFill>
                  <a:srgbClr val="55657A"/>
                </a:solidFill>
                <a:latin typeface="Calibri" panose="020F0502020204030204" pitchFamily="34" charset="0"/>
              </a:rPr>
              <a:t>17 / 22</a:t>
            </a:r>
          </a:p>
        </p:txBody>
      </p:sp>
      <p:pic>
        <p:nvPicPr>
          <p:cNvPr id="7" name="Picture 6">
            <a:extLst>
              <a:ext uri="{FF2B5EF4-FFF2-40B4-BE49-F238E27FC236}">
                <a16:creationId xmlns:a16="http://schemas.microsoft.com/office/drawing/2014/main" id="{AF8B289B-DA1F-3873-8E66-55EDA46BB5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2071658"/>
            <a:ext cx="5562600" cy="2511483"/>
          </a:xfrm>
          <a:prstGeom prst="rect">
            <a:avLst/>
          </a:prstGeom>
        </p:spPr>
      </p:pic>
      <p:sp>
        <p:nvSpPr>
          <p:cNvPr id="8" name="TextBox 7">
            <a:extLst>
              <a:ext uri="{FF2B5EF4-FFF2-40B4-BE49-F238E27FC236}">
                <a16:creationId xmlns:a16="http://schemas.microsoft.com/office/drawing/2014/main" id="{0F3EDB6C-19AB-0F21-C374-6E720BE0A3A2}"/>
              </a:ext>
            </a:extLst>
          </p:cNvPr>
          <p:cNvSpPr txBox="1"/>
          <p:nvPr/>
        </p:nvSpPr>
        <p:spPr>
          <a:xfrm>
            <a:off x="533400" y="1168400"/>
            <a:ext cx="5334000" cy="369332"/>
          </a:xfrm>
          <a:prstGeom prst="rect">
            <a:avLst/>
          </a:prstGeom>
          <a:noFill/>
        </p:spPr>
        <p:txBody>
          <a:bodyPr vert="horz" wrap="square" rtlCol="0" anchor="t">
            <a:noAutofit/>
          </a:bodyPr>
          <a:lstStyle/>
          <a:p>
            <a:pPr marL="508000" indent="-228600">
              <a:spcAft>
                <a:spcPts val="600"/>
              </a:spcAft>
              <a:buFont typeface="+mj-lt"/>
              <a:buChar char="•"/>
            </a:pPr>
            <a:r>
              <a:rPr lang="en-US" sz="1400" b="1">
                <a:solidFill>
                  <a:srgbClr val="1A1A1A"/>
                </a:solidFill>
                <a:latin typeface="Calibri" panose="020F0502020204030204" pitchFamily="34" charset="0"/>
              </a:rPr>
              <a:t>Pre-registered rule:</a:t>
            </a:r>
            <a:r>
              <a:rPr lang="en-US" sz="1400">
                <a:solidFill>
                  <a:srgbClr val="1A1A1A"/>
                </a:solidFill>
                <a:latin typeface="Calibri" panose="020F0502020204030204" pitchFamily="34" charset="0"/>
              </a:rPr>
              <a:t> paired macro-F1 gain above 0.027 in at least 4 of 5 seeds, without lowering minority recall</a:t>
            </a:r>
          </a:p>
          <a:p>
            <a:pPr marL="508000" indent="-228600">
              <a:spcAft>
                <a:spcPts val="600"/>
              </a:spcAft>
              <a:buFont typeface="+mj-lt"/>
              <a:buChar char="•"/>
            </a:pPr>
            <a:r>
              <a:rPr lang="en-US" sz="1400">
                <a:solidFill>
                  <a:srgbClr val="1A1A1A"/>
                </a:solidFill>
                <a:latin typeface="Calibri" panose="020F0502020204030204" pitchFamily="34" charset="0"/>
              </a:rPr>
              <a:t>A weighted sampler +0.002 (2/5) · B oversampling +0.010 (3/5) · C focal loss -0.014 (0/5)</a:t>
            </a:r>
          </a:p>
          <a:p>
            <a:pPr marL="508000" indent="-228600">
              <a:spcAft>
                <a:spcPts val="600"/>
              </a:spcAft>
              <a:buFont typeface="+mj-lt"/>
              <a:buChar char="•"/>
            </a:pPr>
            <a:r>
              <a:rPr lang="en-US" sz="1400">
                <a:solidFill>
                  <a:srgbClr val="1A1A1A"/>
                </a:solidFill>
                <a:latin typeface="Calibri" panose="020F0502020204030204" pitchFamily="34" charset="0"/>
              </a:rPr>
              <a:t>D sqrt weights -0.022 (1/5) · E minority-only augmentation -0.013 (1/5)</a:t>
            </a:r>
          </a:p>
          <a:p>
            <a:pPr marL="508000" indent="-228600">
              <a:spcAft>
                <a:spcPts val="600"/>
              </a:spcAft>
              <a:buFont typeface="+mj-lt"/>
              <a:buChar char="•"/>
            </a:pPr>
            <a:r>
              <a:rPr lang="en-US" sz="1400" b="1">
                <a:solidFill>
                  <a:srgbClr val="1A1A1A"/>
                </a:solidFill>
                <a:latin typeface="Calibri" panose="020F0502020204030204" pitchFamily="34" charset="0"/>
              </a:rPr>
              <a:t>No variant passed:</a:t>
            </a:r>
            <a:r>
              <a:rPr lang="en-US" sz="1400">
                <a:solidFill>
                  <a:srgbClr val="1A1A1A"/>
                </a:solidFill>
                <a:latin typeface="Calibri" panose="020F0502020204030204" pitchFamily="34" charset="0"/>
              </a:rPr>
              <a:t> A to D gained precision but lost Deep Caries and Periapical Lesion recall; E lost Deep Caries recall in 5/5 seeds</a:t>
            </a:r>
          </a:p>
          <a:p>
            <a:pPr marL="508000" indent="-228600">
              <a:spcAft>
                <a:spcPts val="600"/>
              </a:spcAft>
              <a:buFont typeface="+mj-lt"/>
              <a:buChar char="•"/>
            </a:pPr>
            <a:r>
              <a:rPr lang="en-US" sz="1400" b="1">
                <a:solidFill>
                  <a:srgbClr val="1A1A1A"/>
                </a:solidFill>
                <a:latin typeface="Calibri" panose="020F0502020204030204" pitchFamily="34" charset="0"/>
              </a:rPr>
              <a:t>Threshold tuning:</a:t>
            </a:r>
            <a:r>
              <a:rPr lang="en-US" sz="1400">
                <a:solidFill>
                  <a:srgbClr val="1A1A1A"/>
                </a:solidFill>
                <a:latin typeface="Calibri" panose="020F0502020204030204" pitchFamily="34" charset="0"/>
              </a:rPr>
              <a:t> +0.023 in-sample, but -0.005 under cross-fitting, so argmax was kept</a:t>
            </a:r>
            <a:endParaRPr lang="en-IN" sz="1400">
              <a:solidFill>
                <a:srgbClr val="1A1A1A"/>
              </a:solidFill>
              <a:latin typeface="Calibri" panose="020F0502020204030204" pitchFamily="34" charset="0"/>
            </a:endParaRPr>
          </a:p>
        </p:txBody>
      </p:sp>
      <p:sp>
        <p:nvSpPr>
          <p:cNvPr id="9" name="Rectangle: Rounded Corners 8">
            <a:extLst>
              <a:ext uri="{FF2B5EF4-FFF2-40B4-BE49-F238E27FC236}">
                <a16:creationId xmlns:a16="http://schemas.microsoft.com/office/drawing/2014/main" id="{7C44F8A8-8197-352D-C561-12B5B27B0FF4}"/>
              </a:ext>
            </a:extLst>
          </p:cNvPr>
          <p:cNvSpPr/>
          <p:nvPr/>
        </p:nvSpPr>
        <p:spPr>
          <a:xfrm>
            <a:off x="533400" y="5588000"/>
            <a:ext cx="11125200" cy="787400"/>
          </a:xfrm>
          <a:prstGeom prst="roundRect">
            <a:avLst>
              <a:gd name="adj" fmla="val 15000"/>
            </a:avLst>
          </a:prstGeom>
          <a:solidFill>
            <a:srgbClr val="F0FDFA"/>
          </a:solidFill>
          <a:ln w="12700">
            <a:solidFill>
              <a:srgbClr val="0F766E"/>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38100" rIns="152400" bIns="38100" rtlCol="0" anchor="ctr">
            <a:noAutofit/>
          </a:bodyPr>
          <a:lstStyle/>
          <a:p>
            <a:r>
              <a:rPr lang="en-US" sz="1400">
                <a:solidFill>
                  <a:srgbClr val="115E59"/>
                </a:solidFill>
                <a:latin typeface="Calibri" panose="020F0502020204030204" pitchFamily="34" charset="0"/>
              </a:rPr>
              <a:t>Not promoted: no gain beyond seed-to-seed noise (SD 0.027), and the minority classes became worse.</a:t>
            </a:r>
            <a:endParaRPr lang="en-IN" sz="1400">
              <a:solidFill>
                <a:srgbClr val="115E59"/>
              </a:solidFill>
              <a:latin typeface="Calibri" panose="020F0502020204030204" pitchFamily="34" charset="0"/>
            </a:endParaRPr>
          </a:p>
        </p:txBody>
      </p:sp>
    </p:spTree>
    <p:extLst>
      <p:ext uri="{BB962C8B-B14F-4D97-AF65-F5344CB8AC3E}">
        <p14:creationId xmlns:p14="http://schemas.microsoft.com/office/powerpoint/2010/main" val="38124963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5B5D23E-0C56-5FAD-6443-896EA7CBFE5D}"/>
              </a:ext>
            </a:extLst>
          </p:cNvPr>
          <p:cNvSpPr txBox="1"/>
          <p:nvPr/>
        </p:nvSpPr>
        <p:spPr>
          <a:xfrm>
            <a:off x="508000" y="279400"/>
            <a:ext cx="11176000" cy="369332"/>
          </a:xfrm>
          <a:prstGeom prst="rect">
            <a:avLst/>
          </a:prstGeom>
          <a:noFill/>
        </p:spPr>
        <p:txBody>
          <a:bodyPr vert="horz" wrap="square" lIns="63500" tIns="38100" rIns="63500" bIns="38100" rtlCol="0" anchor="ctr">
            <a:noAutofit/>
          </a:bodyPr>
          <a:lstStyle/>
          <a:p>
            <a:r>
              <a:rPr lang="en-US" sz="2600" b="1">
                <a:solidFill>
                  <a:srgbClr val="1F3A5F"/>
                </a:solidFill>
                <a:latin typeface="Calibri" panose="020F0502020204030204" pitchFamily="34" charset="0"/>
              </a:rPr>
              <a:t>Uncertainty, abstention and recipe study</a:t>
            </a:r>
            <a:endParaRPr lang="en-IN" sz="2600" b="1">
              <a:solidFill>
                <a:srgbClr val="1F3A5F"/>
              </a:solidFill>
              <a:latin typeface="Calibri" panose="020F0502020204030204" pitchFamily="34" charset="0"/>
            </a:endParaRPr>
          </a:p>
        </p:txBody>
      </p:sp>
      <p:sp>
        <p:nvSpPr>
          <p:cNvPr id="3" name="Rectangle 2">
            <a:extLst>
              <a:ext uri="{FF2B5EF4-FFF2-40B4-BE49-F238E27FC236}">
                <a16:creationId xmlns:a16="http://schemas.microsoft.com/office/drawing/2014/main" id="{2DD7D403-F1D1-A6F4-FC80-070B5720E4E5}"/>
              </a:ext>
            </a:extLst>
          </p:cNvPr>
          <p:cNvSpPr/>
          <p:nvPr/>
        </p:nvSpPr>
        <p:spPr>
          <a:xfrm>
            <a:off x="533400" y="939800"/>
            <a:ext cx="889000" cy="38100"/>
          </a:xfrm>
          <a:prstGeom prst="rect">
            <a:avLst/>
          </a:prstGeom>
          <a:solidFill>
            <a:srgbClr val="0F766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71C28D14-19C6-0FE7-3437-2FE05394841A}"/>
              </a:ext>
            </a:extLst>
          </p:cNvPr>
          <p:cNvSpPr txBox="1"/>
          <p:nvPr/>
        </p:nvSpPr>
        <p:spPr>
          <a:xfrm>
            <a:off x="508000" y="6502400"/>
            <a:ext cx="8890000" cy="369332"/>
          </a:xfrm>
          <a:prstGeom prst="rect">
            <a:avLst/>
          </a:prstGeom>
          <a:noFill/>
        </p:spPr>
        <p:txBody>
          <a:bodyPr vert="horz" wrap="square" lIns="63500" tIns="38100" rIns="63500" bIns="38100" rtlCol="0" anchor="t">
            <a:noAutofit/>
          </a:bodyPr>
          <a:lstStyle/>
          <a:p>
            <a:r>
              <a:rPr lang="it-IT" sz="900">
                <a:solidFill>
                  <a:srgbClr val="55657A"/>
                </a:solidFill>
                <a:latin typeface="Calibri" panose="020F0502020204030204" pitchFamily="34" charset="0"/>
              </a:rPr>
              <a:t>DentaMind AI · B.Tech Capstone · PCCOE CSE (AI &amp; ML) 2026-27</a:t>
            </a:r>
            <a:endParaRPr lang="en-IN" sz="900">
              <a:solidFill>
                <a:srgbClr val="55657A"/>
              </a:solidFill>
              <a:latin typeface="Calibri" panose="020F0502020204030204" pitchFamily="34" charset="0"/>
            </a:endParaRPr>
          </a:p>
        </p:txBody>
      </p:sp>
      <p:sp>
        <p:nvSpPr>
          <p:cNvPr id="5" name="TextBox 4">
            <a:extLst>
              <a:ext uri="{FF2B5EF4-FFF2-40B4-BE49-F238E27FC236}">
                <a16:creationId xmlns:a16="http://schemas.microsoft.com/office/drawing/2014/main" id="{3DE1A218-8331-C994-FE67-6D74B4A07A53}"/>
              </a:ext>
            </a:extLst>
          </p:cNvPr>
          <p:cNvSpPr txBox="1"/>
          <p:nvPr/>
        </p:nvSpPr>
        <p:spPr>
          <a:xfrm>
            <a:off x="10414000" y="6502400"/>
            <a:ext cx="1270000" cy="369332"/>
          </a:xfrm>
          <a:prstGeom prst="rect">
            <a:avLst/>
          </a:prstGeom>
          <a:noFill/>
        </p:spPr>
        <p:txBody>
          <a:bodyPr vert="horz" wrap="square" lIns="63500" tIns="38100" rIns="63500" bIns="38100" rtlCol="0" anchor="t">
            <a:noAutofit/>
          </a:bodyPr>
          <a:lstStyle/>
          <a:p>
            <a:pPr algn="r"/>
            <a:r>
              <a:rPr lang="en-IN" sz="900">
                <a:solidFill>
                  <a:srgbClr val="55657A"/>
                </a:solidFill>
                <a:latin typeface="Calibri" panose="020F0502020204030204" pitchFamily="34" charset="0"/>
              </a:rPr>
              <a:t>18 / 22</a:t>
            </a:r>
          </a:p>
        </p:txBody>
      </p:sp>
      <p:pic>
        <p:nvPicPr>
          <p:cNvPr id="7" name="Picture 6">
            <a:extLst>
              <a:ext uri="{FF2B5EF4-FFF2-40B4-BE49-F238E27FC236}">
                <a16:creationId xmlns:a16="http://schemas.microsoft.com/office/drawing/2014/main" id="{ADA25738-0D23-3047-A660-766E05E033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18504" y="2642967"/>
            <a:ext cx="5340096" cy="2194366"/>
          </a:xfrm>
          <a:prstGeom prst="rect">
            <a:avLst/>
          </a:prstGeom>
        </p:spPr>
      </p:pic>
      <p:sp>
        <p:nvSpPr>
          <p:cNvPr id="8" name="TextBox 7">
            <a:extLst>
              <a:ext uri="{FF2B5EF4-FFF2-40B4-BE49-F238E27FC236}">
                <a16:creationId xmlns:a16="http://schemas.microsoft.com/office/drawing/2014/main" id="{312ACBE6-D442-4835-DE96-4B6877C17F35}"/>
              </a:ext>
            </a:extLst>
          </p:cNvPr>
          <p:cNvSpPr txBox="1"/>
          <p:nvPr/>
        </p:nvSpPr>
        <p:spPr>
          <a:xfrm>
            <a:off x="533400" y="1168400"/>
            <a:ext cx="5556504" cy="369332"/>
          </a:xfrm>
          <a:prstGeom prst="rect">
            <a:avLst/>
          </a:prstGeom>
          <a:noFill/>
        </p:spPr>
        <p:txBody>
          <a:bodyPr vert="horz" wrap="square" rtlCol="0" anchor="t">
            <a:noAutofit/>
          </a:bodyPr>
          <a:lstStyle/>
          <a:p>
            <a:pPr marL="508000" indent="-228600">
              <a:spcAft>
                <a:spcPts val="600"/>
              </a:spcAft>
              <a:buFont typeface="+mj-lt"/>
              <a:buChar char="•"/>
            </a:pPr>
            <a:r>
              <a:rPr lang="en-US" sz="1400">
                <a:solidFill>
                  <a:srgbClr val="1A1A1A"/>
                </a:solidFill>
                <a:latin typeface="Calibri" panose="020F0502020204030204" pitchFamily="34" charset="0"/>
              </a:rPr>
              <a:t>Flip-TTA plus normalised entropy; review threshold 0.397 chosen by Youden's J on the calibration split</a:t>
            </a:r>
          </a:p>
          <a:p>
            <a:pPr marL="508000" indent="-228600">
              <a:spcAft>
                <a:spcPts val="600"/>
              </a:spcAft>
              <a:buFont typeface="+mj-lt"/>
              <a:buChar char="•"/>
            </a:pPr>
            <a:r>
              <a:rPr lang="en-US" sz="1400" b="1">
                <a:solidFill>
                  <a:srgbClr val="1A1A1A"/>
                </a:solidFill>
                <a:latin typeface="Calibri" panose="020F0502020204030204" pitchFamily="34" charset="0"/>
              </a:rPr>
              <a:t>Historical test:</a:t>
            </a:r>
            <a:r>
              <a:rPr lang="en-US" sz="1400">
                <a:solidFill>
                  <a:srgbClr val="1A1A1A"/>
                </a:solidFill>
                <a:latin typeface="Calibri" panose="020F0502020204030204" pitchFamily="34" charset="0"/>
              </a:rPr>
              <a:t> 54 % of crops flagged; they contain 87 % of the errors (error rate 34 % flagged vs 6 % not flagged)</a:t>
            </a:r>
          </a:p>
          <a:p>
            <a:pPr marL="508000" indent="-228600">
              <a:spcAft>
                <a:spcPts val="600"/>
              </a:spcAft>
              <a:buFont typeface="+mj-lt"/>
              <a:buChar char="•"/>
            </a:pPr>
            <a:r>
              <a:rPr lang="en-US" sz="1400">
                <a:solidFill>
                  <a:srgbClr val="1A1A1A"/>
                </a:solidFill>
                <a:latin typeface="Calibri" panose="020F0502020204030204" pitchFamily="34" charset="0"/>
              </a:rPr>
              <a:t>ECE 0.048 on test; temperature T = 0.95 (fitted on calibration) is reported but not applied</a:t>
            </a:r>
          </a:p>
          <a:p>
            <a:pPr marL="508000" indent="-228600">
              <a:spcAft>
                <a:spcPts val="600"/>
              </a:spcAft>
              <a:buFont typeface="+mj-lt"/>
              <a:buChar char="•"/>
            </a:pPr>
            <a:r>
              <a:rPr lang="en-US" sz="1400" b="1">
                <a:solidFill>
                  <a:srgbClr val="1A1A1A"/>
                </a:solidFill>
                <a:latin typeface="Calibri" panose="020F0502020204030204" pitchFamily="34" charset="0"/>
              </a:rPr>
              <a:t>Recipe study:</a:t>
            </a:r>
            <a:r>
              <a:rPr lang="en-US" sz="1400">
                <a:solidFill>
                  <a:srgbClr val="1A1A1A"/>
                </a:solidFill>
                <a:latin typeface="Calibri" panose="020F0502020204030204" pitchFamily="34" charset="0"/>
              </a:rPr>
              <a:t> the production trainer reproduces the deployed classifier bit-for-bit (seed 42); its five seeds give detector-crop macro-F1 0.722 ± 0.045, and the deployed run is the weakest (0.651)</a:t>
            </a:r>
          </a:p>
          <a:p>
            <a:pPr marL="508000" indent="-228600">
              <a:spcAft>
                <a:spcPts val="600"/>
              </a:spcAft>
              <a:buFont typeface="+mj-lt"/>
              <a:buChar char="•"/>
            </a:pPr>
            <a:r>
              <a:rPr lang="en-US" sz="1400">
                <a:solidFill>
                  <a:srgbClr val="1A1A1A"/>
                </a:solidFill>
                <a:latin typeface="Calibri" panose="020F0502020204030204" pitchFamily="34" charset="0"/>
              </a:rPr>
              <a:t>The alternative recipe (0.724 ± 0.015) did not pass the rule either (10 of 25 cross pairs), so nothing was promoted</a:t>
            </a:r>
            <a:endParaRPr lang="en-IN" sz="1400">
              <a:solidFill>
                <a:srgbClr val="1A1A1A"/>
              </a:solidFill>
              <a:latin typeface="Calibri" panose="020F0502020204030204" pitchFamily="34" charset="0"/>
            </a:endParaRPr>
          </a:p>
        </p:txBody>
      </p:sp>
    </p:spTree>
    <p:extLst>
      <p:ext uri="{BB962C8B-B14F-4D97-AF65-F5344CB8AC3E}">
        <p14:creationId xmlns:p14="http://schemas.microsoft.com/office/powerpoint/2010/main" val="30974532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D473C7-28F2-9D64-5F9C-E083E6438F33}"/>
              </a:ext>
            </a:extLst>
          </p:cNvPr>
          <p:cNvSpPr txBox="1"/>
          <p:nvPr/>
        </p:nvSpPr>
        <p:spPr>
          <a:xfrm>
            <a:off x="508000" y="279400"/>
            <a:ext cx="11176000" cy="369332"/>
          </a:xfrm>
          <a:prstGeom prst="rect">
            <a:avLst/>
          </a:prstGeom>
          <a:noFill/>
        </p:spPr>
        <p:txBody>
          <a:bodyPr vert="horz" wrap="square" lIns="63500" tIns="38100" rIns="63500" bIns="38100" rtlCol="0" anchor="ctr">
            <a:noAutofit/>
          </a:bodyPr>
          <a:lstStyle/>
          <a:p>
            <a:r>
              <a:rPr lang="en-IN" sz="2600" b="1">
                <a:solidFill>
                  <a:srgbClr val="1F3A5F"/>
                </a:solidFill>
                <a:latin typeface="Calibri" panose="020F0502020204030204" pitchFamily="34" charset="0"/>
              </a:rPr>
              <a:t>Human-review workflow</a:t>
            </a:r>
          </a:p>
        </p:txBody>
      </p:sp>
      <p:sp>
        <p:nvSpPr>
          <p:cNvPr id="3" name="Rectangle 2">
            <a:extLst>
              <a:ext uri="{FF2B5EF4-FFF2-40B4-BE49-F238E27FC236}">
                <a16:creationId xmlns:a16="http://schemas.microsoft.com/office/drawing/2014/main" id="{705C4343-1909-A2F9-5AFA-E5B205211049}"/>
              </a:ext>
            </a:extLst>
          </p:cNvPr>
          <p:cNvSpPr/>
          <p:nvPr/>
        </p:nvSpPr>
        <p:spPr>
          <a:xfrm>
            <a:off x="533400" y="939800"/>
            <a:ext cx="889000" cy="38100"/>
          </a:xfrm>
          <a:prstGeom prst="rect">
            <a:avLst/>
          </a:prstGeom>
          <a:solidFill>
            <a:srgbClr val="0F766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9E0AA33B-46B1-1990-8640-DB7C46CE1001}"/>
              </a:ext>
            </a:extLst>
          </p:cNvPr>
          <p:cNvSpPr txBox="1"/>
          <p:nvPr/>
        </p:nvSpPr>
        <p:spPr>
          <a:xfrm>
            <a:off x="508000" y="6502400"/>
            <a:ext cx="8890000" cy="369332"/>
          </a:xfrm>
          <a:prstGeom prst="rect">
            <a:avLst/>
          </a:prstGeom>
          <a:noFill/>
        </p:spPr>
        <p:txBody>
          <a:bodyPr vert="horz" wrap="square" lIns="63500" tIns="38100" rIns="63500" bIns="38100" rtlCol="0" anchor="t">
            <a:noAutofit/>
          </a:bodyPr>
          <a:lstStyle/>
          <a:p>
            <a:r>
              <a:rPr lang="it-IT" sz="900">
                <a:solidFill>
                  <a:srgbClr val="55657A"/>
                </a:solidFill>
                <a:latin typeface="Calibri" panose="020F0502020204030204" pitchFamily="34" charset="0"/>
              </a:rPr>
              <a:t>DentaMind AI · B.Tech Capstone · PCCOE CSE (AI &amp; ML) 2026-27</a:t>
            </a:r>
            <a:endParaRPr lang="en-IN" sz="900">
              <a:solidFill>
                <a:srgbClr val="55657A"/>
              </a:solidFill>
              <a:latin typeface="Calibri" panose="020F0502020204030204" pitchFamily="34" charset="0"/>
            </a:endParaRPr>
          </a:p>
        </p:txBody>
      </p:sp>
      <p:sp>
        <p:nvSpPr>
          <p:cNvPr id="5" name="TextBox 4">
            <a:extLst>
              <a:ext uri="{FF2B5EF4-FFF2-40B4-BE49-F238E27FC236}">
                <a16:creationId xmlns:a16="http://schemas.microsoft.com/office/drawing/2014/main" id="{36454918-FCA7-0C33-1EC9-69EBD572D6E2}"/>
              </a:ext>
            </a:extLst>
          </p:cNvPr>
          <p:cNvSpPr txBox="1"/>
          <p:nvPr/>
        </p:nvSpPr>
        <p:spPr>
          <a:xfrm>
            <a:off x="10414000" y="6502400"/>
            <a:ext cx="1270000" cy="369332"/>
          </a:xfrm>
          <a:prstGeom prst="rect">
            <a:avLst/>
          </a:prstGeom>
          <a:noFill/>
        </p:spPr>
        <p:txBody>
          <a:bodyPr vert="horz" wrap="square" lIns="63500" tIns="38100" rIns="63500" bIns="38100" rtlCol="0" anchor="t">
            <a:noAutofit/>
          </a:bodyPr>
          <a:lstStyle/>
          <a:p>
            <a:pPr algn="r"/>
            <a:r>
              <a:rPr lang="en-IN" sz="900">
                <a:solidFill>
                  <a:srgbClr val="55657A"/>
                </a:solidFill>
                <a:latin typeface="Calibri" panose="020F0502020204030204" pitchFamily="34" charset="0"/>
              </a:rPr>
              <a:t>19 / 22</a:t>
            </a:r>
          </a:p>
        </p:txBody>
      </p:sp>
      <p:sp>
        <p:nvSpPr>
          <p:cNvPr id="6" name="Rectangle: Rounded Corners 5">
            <a:extLst>
              <a:ext uri="{FF2B5EF4-FFF2-40B4-BE49-F238E27FC236}">
                <a16:creationId xmlns:a16="http://schemas.microsoft.com/office/drawing/2014/main" id="{DA0B189A-AEF0-D08D-E002-CBA59C61F4EF}"/>
              </a:ext>
            </a:extLst>
          </p:cNvPr>
          <p:cNvSpPr/>
          <p:nvPr/>
        </p:nvSpPr>
        <p:spPr>
          <a:xfrm>
            <a:off x="710924" y="2206073"/>
            <a:ext cx="2005081" cy="962439"/>
          </a:xfrm>
          <a:prstGeom prst="roundRect">
            <a:avLst>
              <a:gd name="adj" fmla="val 12000"/>
            </a:avLst>
          </a:prstGeom>
          <a:solidFill>
            <a:srgbClr val="FFFFFF"/>
          </a:solidFill>
          <a:ln w="12603">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7288" tIns="34373" rIns="57288" bIns="34373" rtlCol="0" anchor="ctr">
            <a:noAutofit/>
          </a:bodyPr>
          <a:lstStyle/>
          <a:p>
            <a:pPr algn="ctr"/>
            <a:r>
              <a:rPr lang="en-US" sz="1150" b="1">
                <a:solidFill>
                  <a:srgbClr val="1A1A1A"/>
                </a:solidFill>
                <a:latin typeface="Calibri" panose="020F0502020204030204" pitchFamily="34" charset="0"/>
              </a:rPr>
              <a:t>AI output per region</a:t>
            </a:r>
          </a:p>
          <a:p>
            <a:pPr algn="ctr"/>
            <a:r>
              <a:rPr lang="en-US" sz="950">
                <a:solidFill>
                  <a:srgbClr val="5A5A5A"/>
                </a:solidFill>
                <a:latin typeface="Calibri" panose="020F0502020204030204" pitchFamily="34" charset="0"/>
              </a:rPr>
              <a:t>box, FDI number, closest class + score, flags</a:t>
            </a:r>
            <a:endParaRPr lang="en-IN" sz="950">
              <a:solidFill>
                <a:srgbClr val="5A5A5A"/>
              </a:solidFill>
              <a:latin typeface="Calibri" panose="020F0502020204030204" pitchFamily="34" charset="0"/>
            </a:endParaRPr>
          </a:p>
        </p:txBody>
      </p:sp>
      <p:sp>
        <p:nvSpPr>
          <p:cNvPr id="7" name="Diamond 6">
            <a:extLst>
              <a:ext uri="{FF2B5EF4-FFF2-40B4-BE49-F238E27FC236}">
                <a16:creationId xmlns:a16="http://schemas.microsoft.com/office/drawing/2014/main" id="{7EBD8831-D6CB-69BD-6CC5-5FE375A5A297}"/>
              </a:ext>
            </a:extLst>
          </p:cNvPr>
          <p:cNvSpPr/>
          <p:nvPr/>
        </p:nvSpPr>
        <p:spPr>
          <a:xfrm>
            <a:off x="3174310" y="2057124"/>
            <a:ext cx="1947793" cy="1260337"/>
          </a:xfrm>
          <a:prstGeom prst="diamond">
            <a:avLst/>
          </a:prstGeom>
          <a:solidFill>
            <a:srgbClr val="FFFFFF"/>
          </a:solidFill>
          <a:ln w="12603">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7288" tIns="34373" rIns="57288" bIns="34373" rtlCol="0" anchor="ctr">
            <a:noAutofit/>
          </a:bodyPr>
          <a:lstStyle/>
          <a:p>
            <a:pPr algn="ctr"/>
            <a:r>
              <a:rPr lang="en-IN" sz="1200" b="1">
                <a:solidFill>
                  <a:srgbClr val="1A1A1A"/>
                </a:solidFill>
                <a:latin typeface="Calibri" panose="020F0502020204030204" pitchFamily="34" charset="0"/>
              </a:rPr>
              <a:t>Any flag?</a:t>
            </a:r>
          </a:p>
        </p:txBody>
      </p:sp>
      <p:sp>
        <p:nvSpPr>
          <p:cNvPr id="8" name="Rectangle: Rounded Corners 7">
            <a:extLst>
              <a:ext uri="{FF2B5EF4-FFF2-40B4-BE49-F238E27FC236}">
                <a16:creationId xmlns:a16="http://schemas.microsoft.com/office/drawing/2014/main" id="{0DC5ECAA-8266-ED42-150B-4A9AAF1DBEBB}"/>
              </a:ext>
            </a:extLst>
          </p:cNvPr>
          <p:cNvSpPr/>
          <p:nvPr/>
        </p:nvSpPr>
        <p:spPr>
          <a:xfrm>
            <a:off x="5637696" y="1323837"/>
            <a:ext cx="2291522" cy="962439"/>
          </a:xfrm>
          <a:prstGeom prst="roundRect">
            <a:avLst>
              <a:gd name="adj" fmla="val 12000"/>
            </a:avLst>
          </a:prstGeom>
          <a:solidFill>
            <a:srgbClr val="FFFFFF"/>
          </a:solidFill>
          <a:ln w="12603">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7288" tIns="34373" rIns="57288" bIns="34373" rtlCol="0" anchor="ctr">
            <a:noAutofit/>
          </a:bodyPr>
          <a:lstStyle/>
          <a:p>
            <a:pPr algn="ctr"/>
            <a:r>
              <a:rPr lang="en-US" sz="1150" b="1">
                <a:solidFill>
                  <a:srgbClr val="1A1A1A"/>
                </a:solidFill>
                <a:latin typeface="Calibri" panose="020F0502020204030204" pitchFamily="34" charset="0"/>
              </a:rPr>
              <a:t>Needs review</a:t>
            </a:r>
          </a:p>
          <a:p>
            <a:pPr algn="ctr"/>
            <a:r>
              <a:rPr lang="en-US" sz="950">
                <a:solidFill>
                  <a:srgbClr val="5A5A5A"/>
                </a:solidFill>
                <a:latin typeface="Calibri" panose="020F0502020204030204" pitchFamily="34" charset="0"/>
              </a:rPr>
              <a:t>abstained, weak detection, unstable, unnumbered</a:t>
            </a:r>
            <a:endParaRPr lang="en-IN" sz="950">
              <a:solidFill>
                <a:srgbClr val="5A5A5A"/>
              </a:solidFill>
              <a:latin typeface="Calibri" panose="020F0502020204030204" pitchFamily="34" charset="0"/>
            </a:endParaRPr>
          </a:p>
        </p:txBody>
      </p:sp>
      <p:sp>
        <p:nvSpPr>
          <p:cNvPr id="9" name="Rectangle: Rounded Corners 8">
            <a:extLst>
              <a:ext uri="{FF2B5EF4-FFF2-40B4-BE49-F238E27FC236}">
                <a16:creationId xmlns:a16="http://schemas.microsoft.com/office/drawing/2014/main" id="{7C77B9E9-A017-B879-C7CF-F277227EAD69}"/>
              </a:ext>
            </a:extLst>
          </p:cNvPr>
          <p:cNvSpPr/>
          <p:nvPr/>
        </p:nvSpPr>
        <p:spPr>
          <a:xfrm>
            <a:off x="5637696" y="3088309"/>
            <a:ext cx="2291522" cy="962439"/>
          </a:xfrm>
          <a:prstGeom prst="roundRect">
            <a:avLst>
              <a:gd name="adj" fmla="val 12000"/>
            </a:avLst>
          </a:prstGeom>
          <a:solidFill>
            <a:srgbClr val="FFFFFF"/>
          </a:solidFill>
          <a:ln w="12603">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7288" tIns="34373" rIns="57288" bIns="34373" rtlCol="0" anchor="ctr">
            <a:noAutofit/>
          </a:bodyPr>
          <a:lstStyle/>
          <a:p>
            <a:pPr algn="ctr"/>
            <a:r>
              <a:rPr lang="en-US" sz="1150" b="1">
                <a:solidFill>
                  <a:srgbClr val="1A1A1A"/>
                </a:solidFill>
                <a:latin typeface="Calibri" panose="020F0502020204030204" pitchFamily="34" charset="0"/>
              </a:rPr>
              <a:t>No flag</a:t>
            </a:r>
          </a:p>
          <a:p>
            <a:pPr algn="ctr"/>
            <a:r>
              <a:rPr lang="en-US" sz="950">
                <a:solidFill>
                  <a:srgbClr val="5A5A5A"/>
                </a:solidFill>
                <a:latin typeface="Calibri" panose="020F0502020204030204" pitchFamily="34" charset="0"/>
              </a:rPr>
              <a:t>shown in the table, still open to review</a:t>
            </a:r>
            <a:endParaRPr lang="en-IN" sz="950">
              <a:solidFill>
                <a:srgbClr val="5A5A5A"/>
              </a:solidFill>
              <a:latin typeface="Calibri" panose="020F0502020204030204" pitchFamily="34" charset="0"/>
            </a:endParaRPr>
          </a:p>
        </p:txBody>
      </p:sp>
      <p:sp>
        <p:nvSpPr>
          <p:cNvPr id="10" name="Rectangle: Rounded Corners 9">
            <a:extLst>
              <a:ext uri="{FF2B5EF4-FFF2-40B4-BE49-F238E27FC236}">
                <a16:creationId xmlns:a16="http://schemas.microsoft.com/office/drawing/2014/main" id="{FCA8BF46-3907-CE53-823D-B260744B6CD3}"/>
              </a:ext>
            </a:extLst>
          </p:cNvPr>
          <p:cNvSpPr/>
          <p:nvPr/>
        </p:nvSpPr>
        <p:spPr>
          <a:xfrm>
            <a:off x="8502098" y="1999836"/>
            <a:ext cx="2978978" cy="1374913"/>
          </a:xfrm>
          <a:prstGeom prst="roundRect">
            <a:avLst>
              <a:gd name="adj" fmla="val 12000"/>
            </a:avLst>
          </a:prstGeom>
          <a:solidFill>
            <a:srgbClr val="FFFFFF"/>
          </a:solidFill>
          <a:ln w="12603">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7288" tIns="34373" rIns="57288" bIns="34373" rtlCol="0" anchor="ctr">
            <a:noAutofit/>
          </a:bodyPr>
          <a:lstStyle/>
          <a:p>
            <a:pPr algn="ctr"/>
            <a:r>
              <a:rPr lang="en-US" sz="1150" b="1">
                <a:solidFill>
                  <a:srgbClr val="1A1A1A"/>
                </a:solidFill>
                <a:latin typeface="Calibri" panose="020F0502020204030204" pitchFamily="34" charset="0"/>
              </a:rPr>
              <a:t>Reviewer decision</a:t>
            </a:r>
          </a:p>
          <a:p>
            <a:pPr algn="ctr"/>
            <a:r>
              <a:rPr lang="en-US" sz="950">
                <a:solidFill>
                  <a:srgbClr val="5A5A5A"/>
                </a:solidFill>
                <a:latin typeface="Calibri" panose="020F0502020204030204" pitchFamily="34" charset="0"/>
              </a:rPr>
              <a:t>confirm · correct class · reject · set tooth number · mark unassigned · specialist review · unusable image</a:t>
            </a:r>
            <a:endParaRPr lang="en-IN" sz="950">
              <a:solidFill>
                <a:srgbClr val="5A5A5A"/>
              </a:solidFill>
              <a:latin typeface="Calibri" panose="020F0502020204030204" pitchFamily="34" charset="0"/>
            </a:endParaRPr>
          </a:p>
        </p:txBody>
      </p:sp>
      <p:cxnSp>
        <p:nvCxnSpPr>
          <p:cNvPr id="11" name="Straight Arrow Connector 10">
            <a:extLst>
              <a:ext uri="{FF2B5EF4-FFF2-40B4-BE49-F238E27FC236}">
                <a16:creationId xmlns:a16="http://schemas.microsoft.com/office/drawing/2014/main" id="{7B91F5E5-C648-167F-4AB0-DD34DD6D3DC9}"/>
              </a:ext>
            </a:extLst>
          </p:cNvPr>
          <p:cNvCxnSpPr>
            <a:cxnSpLocks/>
            <a:stCxn id="6" idx="3"/>
            <a:endCxn id="7" idx="1"/>
          </p:cNvCxnSpPr>
          <p:nvPr/>
        </p:nvCxnSpPr>
        <p:spPr>
          <a:xfrm>
            <a:off x="2716005" y="2687293"/>
            <a:ext cx="458305" cy="0"/>
          </a:xfrm>
          <a:prstGeom prst="straightConnector1">
            <a:avLst/>
          </a:prstGeom>
          <a:ln w="14322">
            <a:solidFill>
              <a:srgbClr val="404040"/>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12" name="Connector: Elbow 11">
            <a:extLst>
              <a:ext uri="{FF2B5EF4-FFF2-40B4-BE49-F238E27FC236}">
                <a16:creationId xmlns:a16="http://schemas.microsoft.com/office/drawing/2014/main" id="{BAED1C6E-5064-532E-BC65-4A45A14D08E9}"/>
              </a:ext>
            </a:extLst>
          </p:cNvPr>
          <p:cNvCxnSpPr>
            <a:cxnSpLocks/>
            <a:stCxn id="7" idx="0"/>
            <a:endCxn id="8" idx="1"/>
          </p:cNvCxnSpPr>
          <p:nvPr/>
        </p:nvCxnSpPr>
        <p:spPr>
          <a:xfrm rot="5400000" flipH="1" flipV="1">
            <a:off x="4766918" y="1186347"/>
            <a:ext cx="252067" cy="1489489"/>
          </a:xfrm>
          <a:prstGeom prst="bentConnector2">
            <a:avLst/>
          </a:prstGeom>
          <a:ln w="14322">
            <a:solidFill>
              <a:srgbClr val="404040"/>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13" name="Connector: Elbow 12">
            <a:extLst>
              <a:ext uri="{FF2B5EF4-FFF2-40B4-BE49-F238E27FC236}">
                <a16:creationId xmlns:a16="http://schemas.microsoft.com/office/drawing/2014/main" id="{8D13EB75-F081-CE02-AF76-824DD1286827}"/>
              </a:ext>
            </a:extLst>
          </p:cNvPr>
          <p:cNvCxnSpPr>
            <a:cxnSpLocks/>
            <a:stCxn id="7" idx="2"/>
            <a:endCxn id="9" idx="1"/>
          </p:cNvCxnSpPr>
          <p:nvPr/>
        </p:nvCxnSpPr>
        <p:spPr>
          <a:xfrm rot="16200000" flipH="1">
            <a:off x="4766917" y="2698750"/>
            <a:ext cx="252068" cy="1489489"/>
          </a:xfrm>
          <a:prstGeom prst="bentConnector2">
            <a:avLst/>
          </a:prstGeom>
          <a:ln w="14322">
            <a:solidFill>
              <a:srgbClr val="404040"/>
            </a:solidFill>
            <a:tailEnd type="triangle" w="med" len="med"/>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81FC5178-9A69-2314-5316-C26D878D9B52}"/>
              </a:ext>
            </a:extLst>
          </p:cNvPr>
          <p:cNvSpPr txBox="1"/>
          <p:nvPr/>
        </p:nvSpPr>
        <p:spPr>
          <a:xfrm>
            <a:off x="4377359" y="1530074"/>
            <a:ext cx="572880" cy="369332"/>
          </a:xfrm>
          <a:prstGeom prst="rect">
            <a:avLst/>
          </a:prstGeom>
          <a:noFill/>
        </p:spPr>
        <p:txBody>
          <a:bodyPr vert="horz" wrap="square" lIns="57288" tIns="34373" rIns="57288" bIns="34373" rtlCol="0" anchor="t">
            <a:noAutofit/>
          </a:bodyPr>
          <a:lstStyle/>
          <a:p>
            <a:r>
              <a:rPr lang="en-IN" sz="1100" b="1">
                <a:solidFill>
                  <a:srgbClr val="5A5A5A"/>
                </a:solidFill>
                <a:latin typeface="Calibri" panose="020F0502020204030204" pitchFamily="34" charset="0"/>
              </a:rPr>
              <a:t>yes</a:t>
            </a:r>
          </a:p>
        </p:txBody>
      </p:sp>
      <p:sp>
        <p:nvSpPr>
          <p:cNvPr id="15" name="TextBox 14">
            <a:extLst>
              <a:ext uri="{FF2B5EF4-FFF2-40B4-BE49-F238E27FC236}">
                <a16:creationId xmlns:a16="http://schemas.microsoft.com/office/drawing/2014/main" id="{0480476D-EC4D-D425-D9E4-41977BC2FC37}"/>
              </a:ext>
            </a:extLst>
          </p:cNvPr>
          <p:cNvSpPr txBox="1"/>
          <p:nvPr/>
        </p:nvSpPr>
        <p:spPr>
          <a:xfrm>
            <a:off x="4216952" y="3363291"/>
            <a:ext cx="572880" cy="369332"/>
          </a:xfrm>
          <a:prstGeom prst="rect">
            <a:avLst/>
          </a:prstGeom>
          <a:noFill/>
        </p:spPr>
        <p:txBody>
          <a:bodyPr vert="horz" wrap="square" lIns="57288" tIns="34373" rIns="57288" bIns="34373" rtlCol="0" anchor="t">
            <a:noAutofit/>
          </a:bodyPr>
          <a:lstStyle/>
          <a:p>
            <a:r>
              <a:rPr lang="en-IN" sz="1100" b="1">
                <a:solidFill>
                  <a:srgbClr val="5A5A5A"/>
                </a:solidFill>
                <a:latin typeface="Calibri" panose="020F0502020204030204" pitchFamily="34" charset="0"/>
              </a:rPr>
              <a:t>no</a:t>
            </a:r>
          </a:p>
        </p:txBody>
      </p:sp>
      <p:cxnSp>
        <p:nvCxnSpPr>
          <p:cNvPr id="16" name="Connector: Elbow 15">
            <a:extLst>
              <a:ext uri="{FF2B5EF4-FFF2-40B4-BE49-F238E27FC236}">
                <a16:creationId xmlns:a16="http://schemas.microsoft.com/office/drawing/2014/main" id="{15E546DD-B646-42B7-902C-F88630E6557A}"/>
              </a:ext>
            </a:extLst>
          </p:cNvPr>
          <p:cNvCxnSpPr>
            <a:cxnSpLocks/>
            <a:stCxn id="8" idx="3"/>
            <a:endCxn id="10" idx="1"/>
          </p:cNvCxnSpPr>
          <p:nvPr/>
        </p:nvCxnSpPr>
        <p:spPr>
          <a:xfrm>
            <a:off x="7929218" y="1805057"/>
            <a:ext cx="572880" cy="882236"/>
          </a:xfrm>
          <a:prstGeom prst="bentConnector3">
            <a:avLst>
              <a:gd name="adj1" fmla="val 50000"/>
            </a:avLst>
          </a:prstGeom>
          <a:ln w="14322">
            <a:solidFill>
              <a:srgbClr val="404040"/>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Connector: Elbow 16">
            <a:extLst>
              <a:ext uri="{FF2B5EF4-FFF2-40B4-BE49-F238E27FC236}">
                <a16:creationId xmlns:a16="http://schemas.microsoft.com/office/drawing/2014/main" id="{14F7DFDB-8FC6-DAF5-E95E-AAAB24E6D36C}"/>
              </a:ext>
            </a:extLst>
          </p:cNvPr>
          <p:cNvCxnSpPr>
            <a:cxnSpLocks/>
            <a:stCxn id="9" idx="3"/>
            <a:endCxn id="10" idx="1"/>
          </p:cNvCxnSpPr>
          <p:nvPr/>
        </p:nvCxnSpPr>
        <p:spPr>
          <a:xfrm flipV="1">
            <a:off x="7929218" y="2687293"/>
            <a:ext cx="572880" cy="882236"/>
          </a:xfrm>
          <a:prstGeom prst="bentConnector3">
            <a:avLst>
              <a:gd name="adj1" fmla="val 50000"/>
            </a:avLst>
          </a:prstGeom>
          <a:ln w="14322">
            <a:solidFill>
              <a:srgbClr val="404040"/>
            </a:solidFill>
            <a:tailEnd type="triangle" w="med" len="med"/>
          </a:ln>
        </p:spPr>
        <p:style>
          <a:lnRef idx="1">
            <a:schemeClr val="accent1"/>
          </a:lnRef>
          <a:fillRef idx="0">
            <a:schemeClr val="accent1"/>
          </a:fillRef>
          <a:effectRef idx="0">
            <a:schemeClr val="accent1"/>
          </a:effectRef>
          <a:fontRef idx="minor">
            <a:schemeClr val="tx1"/>
          </a:fontRef>
        </p:style>
      </p:cxnSp>
      <p:sp>
        <p:nvSpPr>
          <p:cNvPr id="18" name="Rectangle: Rounded Corners 17">
            <a:extLst>
              <a:ext uri="{FF2B5EF4-FFF2-40B4-BE49-F238E27FC236}">
                <a16:creationId xmlns:a16="http://schemas.microsoft.com/office/drawing/2014/main" id="{C3B7CFD2-B682-5002-F355-2BE14C3DAB62}"/>
              </a:ext>
            </a:extLst>
          </p:cNvPr>
          <p:cNvSpPr/>
          <p:nvPr/>
        </p:nvSpPr>
        <p:spPr>
          <a:xfrm>
            <a:off x="8502098" y="3729935"/>
            <a:ext cx="2978978" cy="710371"/>
          </a:xfrm>
          <a:prstGeom prst="roundRect">
            <a:avLst>
              <a:gd name="adj" fmla="val 12000"/>
            </a:avLst>
          </a:prstGeom>
          <a:solidFill>
            <a:srgbClr val="FFFFFF"/>
          </a:solidFill>
          <a:ln w="12603">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7288" tIns="34373" rIns="57288" bIns="34373" rtlCol="0" anchor="ctr">
            <a:noAutofit/>
          </a:bodyPr>
          <a:lstStyle/>
          <a:p>
            <a:pPr algn="ctr"/>
            <a:r>
              <a:rPr lang="en-US" sz="1150" b="1">
                <a:solidFill>
                  <a:srgbClr val="1A1A1A"/>
                </a:solidFill>
                <a:latin typeface="Calibri" panose="020F0502020204030204" pitchFamily="34" charset="0"/>
              </a:rPr>
              <a:t>Review record (SQLite)</a:t>
            </a:r>
          </a:p>
          <a:p>
            <a:pPr algn="ctr"/>
            <a:r>
              <a:rPr lang="en-US" sz="950">
                <a:solidFill>
                  <a:srgbClr val="5A5A5A"/>
                </a:solidFill>
                <a:latin typeface="Calibri" panose="020F0502020204030204" pitchFamily="34" charset="0"/>
              </a:rPr>
              <a:t>revisioned; previous output kept; reviewer + self-declared role</a:t>
            </a:r>
            <a:endParaRPr lang="en-IN" sz="950">
              <a:solidFill>
                <a:srgbClr val="5A5A5A"/>
              </a:solidFill>
              <a:latin typeface="Calibri" panose="020F0502020204030204" pitchFamily="34" charset="0"/>
            </a:endParaRPr>
          </a:p>
        </p:txBody>
      </p:sp>
      <p:cxnSp>
        <p:nvCxnSpPr>
          <p:cNvPr id="19" name="Straight Arrow Connector 18">
            <a:extLst>
              <a:ext uri="{FF2B5EF4-FFF2-40B4-BE49-F238E27FC236}">
                <a16:creationId xmlns:a16="http://schemas.microsoft.com/office/drawing/2014/main" id="{7566BBAD-3362-17CA-365D-C8082E2877CA}"/>
              </a:ext>
            </a:extLst>
          </p:cNvPr>
          <p:cNvCxnSpPr>
            <a:cxnSpLocks/>
            <a:stCxn id="10" idx="2"/>
            <a:endCxn id="18" idx="0"/>
          </p:cNvCxnSpPr>
          <p:nvPr/>
        </p:nvCxnSpPr>
        <p:spPr>
          <a:xfrm>
            <a:off x="9991587" y="3374749"/>
            <a:ext cx="0" cy="355186"/>
          </a:xfrm>
          <a:prstGeom prst="straightConnector1">
            <a:avLst/>
          </a:prstGeom>
          <a:ln w="14322">
            <a:solidFill>
              <a:srgbClr val="404040"/>
            </a:solidFill>
            <a:tailEnd type="triangle" w="med" len="med"/>
          </a:ln>
        </p:spPr>
        <p:style>
          <a:lnRef idx="1">
            <a:schemeClr val="accent1"/>
          </a:lnRef>
          <a:fillRef idx="0">
            <a:schemeClr val="accent1"/>
          </a:fillRef>
          <a:effectRef idx="0">
            <a:schemeClr val="accent1"/>
          </a:effectRef>
          <a:fontRef idx="minor">
            <a:schemeClr val="tx1"/>
          </a:fontRef>
        </p:style>
      </p:cxnSp>
      <p:sp>
        <p:nvSpPr>
          <p:cNvPr id="20" name="Rectangle: Rounded Corners 19">
            <a:extLst>
              <a:ext uri="{FF2B5EF4-FFF2-40B4-BE49-F238E27FC236}">
                <a16:creationId xmlns:a16="http://schemas.microsoft.com/office/drawing/2014/main" id="{6C30C7E5-8A48-7D45-31FF-58B756FDF508}"/>
              </a:ext>
            </a:extLst>
          </p:cNvPr>
          <p:cNvSpPr/>
          <p:nvPr/>
        </p:nvSpPr>
        <p:spPr>
          <a:xfrm>
            <a:off x="8502098" y="4692374"/>
            <a:ext cx="2978978" cy="710372"/>
          </a:xfrm>
          <a:prstGeom prst="roundRect">
            <a:avLst>
              <a:gd name="adj" fmla="val 12000"/>
            </a:avLst>
          </a:prstGeom>
          <a:solidFill>
            <a:srgbClr val="FFFFFF"/>
          </a:solidFill>
          <a:ln w="12603">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7288" tIns="34373" rIns="57288" bIns="34373" rtlCol="0" anchor="ctr">
            <a:noAutofit/>
          </a:bodyPr>
          <a:lstStyle/>
          <a:p>
            <a:pPr algn="ctr"/>
            <a:r>
              <a:rPr lang="en-US" sz="1150" b="1">
                <a:solidFill>
                  <a:srgbClr val="1A1A1A"/>
                </a:solidFill>
                <a:latin typeface="Calibri" panose="020F0502020204030204" pitchFamily="34" charset="0"/>
              </a:rPr>
              <a:t>Approval by a second person</a:t>
            </a:r>
          </a:p>
          <a:p>
            <a:pPr algn="ctr"/>
            <a:r>
              <a:rPr lang="en-US" sz="950">
                <a:solidFill>
                  <a:srgbClr val="5A5A5A"/>
                </a:solidFill>
                <a:latin typeface="Calibri" panose="020F0502020204030204" pitchFamily="34" charset="0"/>
              </a:rPr>
              <a:t>approved or rejected; identical resubmission refused</a:t>
            </a:r>
            <a:endParaRPr lang="en-IN" sz="950">
              <a:solidFill>
                <a:srgbClr val="5A5A5A"/>
              </a:solidFill>
              <a:latin typeface="Calibri" panose="020F0502020204030204" pitchFamily="34" charset="0"/>
            </a:endParaRPr>
          </a:p>
        </p:txBody>
      </p:sp>
      <p:cxnSp>
        <p:nvCxnSpPr>
          <p:cNvPr id="21" name="Straight Arrow Connector 20">
            <a:extLst>
              <a:ext uri="{FF2B5EF4-FFF2-40B4-BE49-F238E27FC236}">
                <a16:creationId xmlns:a16="http://schemas.microsoft.com/office/drawing/2014/main" id="{9C865CF0-7B17-0AA0-E82C-7A86EC67DC51}"/>
              </a:ext>
            </a:extLst>
          </p:cNvPr>
          <p:cNvCxnSpPr>
            <a:cxnSpLocks/>
            <a:stCxn id="18" idx="2"/>
            <a:endCxn id="20" idx="0"/>
          </p:cNvCxnSpPr>
          <p:nvPr/>
        </p:nvCxnSpPr>
        <p:spPr>
          <a:xfrm>
            <a:off x="9991587" y="4440306"/>
            <a:ext cx="0" cy="252068"/>
          </a:xfrm>
          <a:prstGeom prst="straightConnector1">
            <a:avLst/>
          </a:prstGeom>
          <a:ln w="14322">
            <a:solidFill>
              <a:srgbClr val="404040"/>
            </a:solidFill>
            <a:tailEnd type="triangle" w="med" len="med"/>
          </a:ln>
        </p:spPr>
        <p:style>
          <a:lnRef idx="1">
            <a:schemeClr val="accent1"/>
          </a:lnRef>
          <a:fillRef idx="0">
            <a:schemeClr val="accent1"/>
          </a:fillRef>
          <a:effectRef idx="0">
            <a:schemeClr val="accent1"/>
          </a:effectRef>
          <a:fontRef idx="minor">
            <a:schemeClr val="tx1"/>
          </a:fontRef>
        </p:style>
      </p:cxnSp>
      <p:sp>
        <p:nvSpPr>
          <p:cNvPr id="22" name="Rectangle: Rounded Corners 21">
            <a:extLst>
              <a:ext uri="{FF2B5EF4-FFF2-40B4-BE49-F238E27FC236}">
                <a16:creationId xmlns:a16="http://schemas.microsoft.com/office/drawing/2014/main" id="{4D5732B2-1E85-655C-B76A-175D898D27EB}"/>
              </a:ext>
            </a:extLst>
          </p:cNvPr>
          <p:cNvSpPr/>
          <p:nvPr/>
        </p:nvSpPr>
        <p:spPr>
          <a:xfrm>
            <a:off x="4835663" y="4692374"/>
            <a:ext cx="3093555" cy="710372"/>
          </a:xfrm>
          <a:prstGeom prst="roundRect">
            <a:avLst>
              <a:gd name="adj" fmla="val 12000"/>
            </a:avLst>
          </a:prstGeom>
          <a:solidFill>
            <a:srgbClr val="FFFFFF"/>
          </a:solidFill>
          <a:ln w="12603">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7288" tIns="34373" rIns="57288" bIns="34373" rtlCol="0" anchor="ctr">
            <a:noAutofit/>
          </a:bodyPr>
          <a:lstStyle/>
          <a:p>
            <a:pPr algn="ctr"/>
            <a:r>
              <a:rPr lang="en-US" sz="1150" b="1">
                <a:solidFill>
                  <a:srgbClr val="1A1A1A"/>
                </a:solidFill>
                <a:latin typeface="Calibri" panose="020F0502020204030204" pitchFamily="34" charset="0"/>
              </a:rPr>
              <a:t>Report draft marked 'reviewed'</a:t>
            </a:r>
          </a:p>
          <a:p>
            <a:pPr algn="ctr"/>
            <a:r>
              <a:rPr lang="en-US" sz="950">
                <a:solidFill>
                  <a:srgbClr val="5A5A5A"/>
                </a:solidFill>
                <a:latin typeface="Calibri" panose="020F0502020204030204" pitchFamily="34" charset="0"/>
              </a:rPr>
              <a:t>the clinician stays responsible for any diagnosis</a:t>
            </a:r>
            <a:endParaRPr lang="en-IN" sz="950">
              <a:solidFill>
                <a:srgbClr val="5A5A5A"/>
              </a:solidFill>
              <a:latin typeface="Calibri" panose="020F0502020204030204" pitchFamily="34" charset="0"/>
            </a:endParaRPr>
          </a:p>
        </p:txBody>
      </p:sp>
      <p:sp>
        <p:nvSpPr>
          <p:cNvPr id="23" name="Rectangle: Rounded Corners 22">
            <a:extLst>
              <a:ext uri="{FF2B5EF4-FFF2-40B4-BE49-F238E27FC236}">
                <a16:creationId xmlns:a16="http://schemas.microsoft.com/office/drawing/2014/main" id="{544D28A5-84C7-13F8-3F61-065C41E6AC8D}"/>
              </a:ext>
            </a:extLst>
          </p:cNvPr>
          <p:cNvSpPr/>
          <p:nvPr/>
        </p:nvSpPr>
        <p:spPr>
          <a:xfrm>
            <a:off x="4835663" y="5608982"/>
            <a:ext cx="3093555" cy="710372"/>
          </a:xfrm>
          <a:prstGeom prst="roundRect">
            <a:avLst>
              <a:gd name="adj" fmla="val 12000"/>
            </a:avLst>
          </a:prstGeom>
          <a:solidFill>
            <a:srgbClr val="FFFFFF"/>
          </a:solidFill>
          <a:ln w="12603">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7288" tIns="34373" rIns="57288" bIns="34373" rtlCol="0" anchor="ctr">
            <a:noAutofit/>
          </a:bodyPr>
          <a:lstStyle/>
          <a:p>
            <a:pPr algn="ctr"/>
            <a:r>
              <a:rPr lang="en-US" sz="1150" b="1">
                <a:solidFill>
                  <a:srgbClr val="1A1A1A"/>
                </a:solidFill>
                <a:latin typeface="Calibri" panose="020F0502020204030204" pitchFamily="34" charset="0"/>
              </a:rPr>
              <a:t>Training-eligibility check</a:t>
            </a:r>
          </a:p>
          <a:p>
            <a:pPr algn="ctr"/>
            <a:r>
              <a:rPr lang="en-US" sz="950">
                <a:solidFill>
                  <a:srgbClr val="5A5A5A"/>
                </a:solidFill>
                <a:latin typeface="Calibri" panose="020F0502020204030204" pitchFamily="34" charset="0"/>
              </a:rPr>
              <a:t>only unassigned images, never a copy of a labelled film</a:t>
            </a:r>
            <a:endParaRPr lang="en-IN" sz="950">
              <a:solidFill>
                <a:srgbClr val="5A5A5A"/>
              </a:solidFill>
              <a:latin typeface="Calibri" panose="020F0502020204030204" pitchFamily="34" charset="0"/>
            </a:endParaRPr>
          </a:p>
        </p:txBody>
      </p:sp>
      <p:cxnSp>
        <p:nvCxnSpPr>
          <p:cNvPr id="24" name="Straight Arrow Connector 23">
            <a:extLst>
              <a:ext uri="{FF2B5EF4-FFF2-40B4-BE49-F238E27FC236}">
                <a16:creationId xmlns:a16="http://schemas.microsoft.com/office/drawing/2014/main" id="{3C6677A0-00DE-4C30-529A-D602BF3C47E3}"/>
              </a:ext>
            </a:extLst>
          </p:cNvPr>
          <p:cNvCxnSpPr>
            <a:cxnSpLocks/>
            <a:stCxn id="20" idx="1"/>
            <a:endCxn id="22" idx="3"/>
          </p:cNvCxnSpPr>
          <p:nvPr/>
        </p:nvCxnSpPr>
        <p:spPr>
          <a:xfrm flipH="1">
            <a:off x="7929218" y="5047560"/>
            <a:ext cx="572880" cy="0"/>
          </a:xfrm>
          <a:prstGeom prst="straightConnector1">
            <a:avLst/>
          </a:prstGeom>
          <a:ln w="14322">
            <a:solidFill>
              <a:srgbClr val="404040"/>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17494792-412B-2C45-C119-4987D478A01F}"/>
              </a:ext>
            </a:extLst>
          </p:cNvPr>
          <p:cNvCxnSpPr>
            <a:cxnSpLocks/>
            <a:stCxn id="20" idx="2"/>
            <a:endCxn id="23" idx="3"/>
          </p:cNvCxnSpPr>
          <p:nvPr/>
        </p:nvCxnSpPr>
        <p:spPr>
          <a:xfrm rot="5400000">
            <a:off x="8679692" y="4652273"/>
            <a:ext cx="561422" cy="2062369"/>
          </a:xfrm>
          <a:prstGeom prst="bentConnector2">
            <a:avLst/>
          </a:prstGeom>
          <a:ln w="14322">
            <a:solidFill>
              <a:srgbClr val="404040"/>
            </a:solidFill>
            <a:tailEnd type="triangle" w="med" len="med"/>
          </a:ln>
        </p:spPr>
        <p:style>
          <a:lnRef idx="1">
            <a:schemeClr val="accent1"/>
          </a:lnRef>
          <a:fillRef idx="0">
            <a:schemeClr val="accent1"/>
          </a:fillRef>
          <a:effectRef idx="0">
            <a:schemeClr val="accent1"/>
          </a:effectRef>
          <a:fontRef idx="minor">
            <a:schemeClr val="tx1"/>
          </a:fontRef>
        </p:style>
      </p:cxnSp>
      <p:sp>
        <p:nvSpPr>
          <p:cNvPr id="26" name="Rectangle: Rounded Corners 25">
            <a:extLst>
              <a:ext uri="{FF2B5EF4-FFF2-40B4-BE49-F238E27FC236}">
                <a16:creationId xmlns:a16="http://schemas.microsoft.com/office/drawing/2014/main" id="{A63D2048-29EF-D4FB-BD2B-0A97608F5D7C}"/>
              </a:ext>
            </a:extLst>
          </p:cNvPr>
          <p:cNvSpPr/>
          <p:nvPr/>
        </p:nvSpPr>
        <p:spPr>
          <a:xfrm>
            <a:off x="710924" y="5608982"/>
            <a:ext cx="3551859" cy="710372"/>
          </a:xfrm>
          <a:prstGeom prst="roundRect">
            <a:avLst>
              <a:gd name="adj" fmla="val 12000"/>
            </a:avLst>
          </a:prstGeom>
          <a:solidFill>
            <a:srgbClr val="E2E2E2"/>
          </a:solidFill>
          <a:ln w="12603">
            <a:solidFill>
              <a:srgbClr val="404040"/>
            </a:solidFill>
          </a:ln>
        </p:spPr>
        <p:style>
          <a:lnRef idx="2">
            <a:schemeClr val="accent1">
              <a:shade val="15000"/>
            </a:schemeClr>
          </a:lnRef>
          <a:fillRef idx="1">
            <a:schemeClr val="accent1"/>
          </a:fillRef>
          <a:effectRef idx="0">
            <a:schemeClr val="accent1"/>
          </a:effectRef>
          <a:fontRef idx="minor">
            <a:schemeClr val="lt1"/>
          </a:fontRef>
        </p:style>
        <p:txBody>
          <a:bodyPr wrap="square" lIns="57288" tIns="34373" rIns="57288" bIns="34373" rtlCol="0" anchor="ctr">
            <a:noAutofit/>
          </a:bodyPr>
          <a:lstStyle/>
          <a:p>
            <a:pPr algn="ctr"/>
            <a:r>
              <a:rPr lang="en-IN" sz="1150" b="1">
                <a:solidFill>
                  <a:srgbClr val="1A1A1A"/>
                </a:solidFill>
                <a:latin typeface="Calibri" panose="020F0502020204030204" pitchFamily="34" charset="0"/>
              </a:rPr>
              <a:t>Candidate model</a:t>
            </a:r>
          </a:p>
          <a:p>
            <a:pPr algn="ctr"/>
            <a:r>
              <a:rPr lang="en-IN" sz="950">
                <a:solidFill>
                  <a:srgbClr val="5A5A5A"/>
                </a:solidFill>
                <a:latin typeface="Calibri" panose="020F0502020204030204" pitchFamily="34" charset="0"/>
              </a:rPr>
              <a:t>validation report → human promotion gate</a:t>
            </a:r>
          </a:p>
        </p:txBody>
      </p:sp>
      <p:cxnSp>
        <p:nvCxnSpPr>
          <p:cNvPr id="27" name="Straight Arrow Connector 26">
            <a:extLst>
              <a:ext uri="{FF2B5EF4-FFF2-40B4-BE49-F238E27FC236}">
                <a16:creationId xmlns:a16="http://schemas.microsoft.com/office/drawing/2014/main" id="{8399C3F4-AFA7-536B-07EA-6B6FA039C4DB}"/>
              </a:ext>
            </a:extLst>
          </p:cNvPr>
          <p:cNvCxnSpPr>
            <a:cxnSpLocks/>
            <a:stCxn id="23" idx="1"/>
            <a:endCxn id="26" idx="3"/>
          </p:cNvCxnSpPr>
          <p:nvPr/>
        </p:nvCxnSpPr>
        <p:spPr>
          <a:xfrm flipH="1">
            <a:off x="4262783" y="5964168"/>
            <a:ext cx="572880" cy="0"/>
          </a:xfrm>
          <a:prstGeom prst="straightConnector1">
            <a:avLst/>
          </a:prstGeom>
          <a:ln w="14322">
            <a:solidFill>
              <a:srgbClr val="404040"/>
            </a:solidFill>
            <a:tailEnd type="triangle" w="med" len="med"/>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7B754CF4-F2B2-7675-79A4-B4A5D4A886C6}"/>
              </a:ext>
            </a:extLst>
          </p:cNvPr>
          <p:cNvSpPr txBox="1"/>
          <p:nvPr/>
        </p:nvSpPr>
        <p:spPr>
          <a:xfrm>
            <a:off x="710924" y="3982002"/>
            <a:ext cx="3781011" cy="1477328"/>
          </a:xfrm>
          <a:prstGeom prst="rect">
            <a:avLst/>
          </a:prstGeom>
          <a:noFill/>
        </p:spPr>
        <p:txBody>
          <a:bodyPr vert="horz" wrap="square" lIns="57288" tIns="34373" rIns="57288" bIns="34373" rtlCol="0" anchor="t">
            <a:noAutofit/>
          </a:bodyPr>
          <a:lstStyle/>
          <a:p>
            <a:r>
              <a:rPr lang="en-US" sz="1150">
                <a:solidFill>
                  <a:srgbClr val="5A5A5A"/>
                </a:solidFill>
                <a:latin typeface="Calibri" panose="020F0502020204030204" pitchFamily="34" charset="0"/>
              </a:rPr>
              <a:t>The AI never finalises a finding. Every region stays editable, approvals need a second person, and reviewed images only become training data after the leakage rules are checked.</a:t>
            </a:r>
            <a:endParaRPr lang="en-IN" sz="1150">
              <a:solidFill>
                <a:srgbClr val="5A5A5A"/>
              </a:solidFill>
              <a:latin typeface="Calibri" panose="020F0502020204030204" pitchFamily="34" charset="0"/>
            </a:endParaRPr>
          </a:p>
        </p:txBody>
      </p:sp>
    </p:spTree>
    <p:extLst>
      <p:ext uri="{BB962C8B-B14F-4D97-AF65-F5344CB8AC3E}">
        <p14:creationId xmlns:p14="http://schemas.microsoft.com/office/powerpoint/2010/main" val="13541365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F8E7EF1-0602-3D72-3C3B-83DFF01AF4F2}"/>
              </a:ext>
            </a:extLst>
          </p:cNvPr>
          <p:cNvSpPr txBox="1"/>
          <p:nvPr/>
        </p:nvSpPr>
        <p:spPr>
          <a:xfrm>
            <a:off x="508000" y="279400"/>
            <a:ext cx="11176000" cy="369332"/>
          </a:xfrm>
          <a:prstGeom prst="rect">
            <a:avLst/>
          </a:prstGeom>
          <a:noFill/>
        </p:spPr>
        <p:txBody>
          <a:bodyPr vert="horz" wrap="square" lIns="63500" tIns="38100" rIns="63500" bIns="38100" rtlCol="0" anchor="ctr">
            <a:noAutofit/>
          </a:bodyPr>
          <a:lstStyle/>
          <a:p>
            <a:r>
              <a:rPr lang="en-IN" sz="2600" b="1">
                <a:solidFill>
                  <a:srgbClr val="1F3A5F"/>
                </a:solidFill>
                <a:latin typeface="Calibri" panose="020F0502020204030204" pitchFamily="34" charset="0"/>
              </a:rPr>
              <a:t>Limitations</a:t>
            </a:r>
          </a:p>
        </p:txBody>
      </p:sp>
      <p:sp>
        <p:nvSpPr>
          <p:cNvPr id="3" name="Rectangle 2">
            <a:extLst>
              <a:ext uri="{FF2B5EF4-FFF2-40B4-BE49-F238E27FC236}">
                <a16:creationId xmlns:a16="http://schemas.microsoft.com/office/drawing/2014/main" id="{6D8004E2-519E-E0D2-2FA2-E841246E99F7}"/>
              </a:ext>
            </a:extLst>
          </p:cNvPr>
          <p:cNvSpPr/>
          <p:nvPr/>
        </p:nvSpPr>
        <p:spPr>
          <a:xfrm>
            <a:off x="533400" y="939800"/>
            <a:ext cx="889000" cy="38100"/>
          </a:xfrm>
          <a:prstGeom prst="rect">
            <a:avLst/>
          </a:prstGeom>
          <a:solidFill>
            <a:srgbClr val="0F766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2C494B92-D155-B0D2-910B-38382B55DD9D}"/>
              </a:ext>
            </a:extLst>
          </p:cNvPr>
          <p:cNvSpPr txBox="1"/>
          <p:nvPr/>
        </p:nvSpPr>
        <p:spPr>
          <a:xfrm>
            <a:off x="508000" y="6502400"/>
            <a:ext cx="8890000" cy="369332"/>
          </a:xfrm>
          <a:prstGeom prst="rect">
            <a:avLst/>
          </a:prstGeom>
          <a:noFill/>
        </p:spPr>
        <p:txBody>
          <a:bodyPr vert="horz" wrap="square" lIns="63500" tIns="38100" rIns="63500" bIns="38100" rtlCol="0" anchor="t">
            <a:noAutofit/>
          </a:bodyPr>
          <a:lstStyle/>
          <a:p>
            <a:r>
              <a:rPr lang="it-IT" sz="900">
                <a:solidFill>
                  <a:srgbClr val="55657A"/>
                </a:solidFill>
                <a:latin typeface="Calibri" panose="020F0502020204030204" pitchFamily="34" charset="0"/>
              </a:rPr>
              <a:t>DentaMind AI · B.Tech Capstone · PCCOE CSE (AI &amp; ML) 2026-27</a:t>
            </a:r>
            <a:endParaRPr lang="en-IN" sz="900">
              <a:solidFill>
                <a:srgbClr val="55657A"/>
              </a:solidFill>
              <a:latin typeface="Calibri" panose="020F0502020204030204" pitchFamily="34" charset="0"/>
            </a:endParaRPr>
          </a:p>
        </p:txBody>
      </p:sp>
      <p:sp>
        <p:nvSpPr>
          <p:cNvPr id="5" name="TextBox 4">
            <a:extLst>
              <a:ext uri="{FF2B5EF4-FFF2-40B4-BE49-F238E27FC236}">
                <a16:creationId xmlns:a16="http://schemas.microsoft.com/office/drawing/2014/main" id="{78246279-9179-BC07-A59A-6F22AB0CE067}"/>
              </a:ext>
            </a:extLst>
          </p:cNvPr>
          <p:cNvSpPr txBox="1"/>
          <p:nvPr/>
        </p:nvSpPr>
        <p:spPr>
          <a:xfrm>
            <a:off x="10414000" y="6502400"/>
            <a:ext cx="1270000" cy="369332"/>
          </a:xfrm>
          <a:prstGeom prst="rect">
            <a:avLst/>
          </a:prstGeom>
          <a:noFill/>
        </p:spPr>
        <p:txBody>
          <a:bodyPr vert="horz" wrap="square" lIns="63500" tIns="38100" rIns="63500" bIns="38100" rtlCol="0" anchor="t">
            <a:noAutofit/>
          </a:bodyPr>
          <a:lstStyle/>
          <a:p>
            <a:pPr algn="r"/>
            <a:r>
              <a:rPr lang="en-IN" sz="900">
                <a:solidFill>
                  <a:srgbClr val="55657A"/>
                </a:solidFill>
                <a:latin typeface="Calibri" panose="020F0502020204030204" pitchFamily="34" charset="0"/>
              </a:rPr>
              <a:t>20 / 22</a:t>
            </a:r>
          </a:p>
        </p:txBody>
      </p:sp>
      <p:sp>
        <p:nvSpPr>
          <p:cNvPr id="6" name="TextBox 5">
            <a:extLst>
              <a:ext uri="{FF2B5EF4-FFF2-40B4-BE49-F238E27FC236}">
                <a16:creationId xmlns:a16="http://schemas.microsoft.com/office/drawing/2014/main" id="{ACB92E6A-E7E5-B4B0-6E03-8356150402C2}"/>
              </a:ext>
            </a:extLst>
          </p:cNvPr>
          <p:cNvSpPr txBox="1"/>
          <p:nvPr/>
        </p:nvSpPr>
        <p:spPr>
          <a:xfrm>
            <a:off x="533400" y="1168400"/>
            <a:ext cx="11125200" cy="369332"/>
          </a:xfrm>
          <a:prstGeom prst="rect">
            <a:avLst/>
          </a:prstGeom>
          <a:noFill/>
        </p:spPr>
        <p:txBody>
          <a:bodyPr vert="horz" wrap="square" rtlCol="0" anchor="t">
            <a:noAutofit/>
          </a:bodyPr>
          <a:lstStyle/>
          <a:p>
            <a:pPr marL="508000" indent="-228600">
              <a:spcAft>
                <a:spcPts val="600"/>
              </a:spcAft>
              <a:buFont typeface="+mj-lt"/>
              <a:buChar char="•"/>
            </a:pPr>
            <a:r>
              <a:rPr lang="en-US" sz="1900" b="1">
                <a:solidFill>
                  <a:srgbClr val="1A1A1A"/>
                </a:solidFill>
                <a:latin typeface="Calibri" panose="020F0502020204030204" pitchFamily="34" charset="0"/>
              </a:rPr>
              <a:t>No healthy class:</a:t>
            </a:r>
            <a:r>
              <a:rPr lang="en-US" sz="1900">
                <a:solidFill>
                  <a:srgbClr val="1A1A1A"/>
                </a:solidFill>
                <a:latin typeface="Calibri" panose="020F0502020204030204" pitchFamily="34" charset="0"/>
              </a:rPr>
              <a:t> every detected tooth receives one of four findings; on test image val_0, 18 of 27 regions abstained</a:t>
            </a:r>
          </a:p>
          <a:p>
            <a:pPr marL="508000" indent="-228600">
              <a:spcAft>
                <a:spcPts val="600"/>
              </a:spcAft>
              <a:buFont typeface="+mj-lt"/>
              <a:buChar char="•"/>
            </a:pPr>
            <a:r>
              <a:rPr lang="en-US" sz="1900" b="1">
                <a:solidFill>
                  <a:srgbClr val="1A1A1A"/>
                </a:solidFill>
                <a:latin typeface="Calibri" panose="020F0502020204030204" pitchFamily="34" charset="0"/>
              </a:rPr>
              <a:t>Rare classes:</a:t>
            </a:r>
            <a:r>
              <a:rPr lang="en-US" sz="1900">
                <a:solidFill>
                  <a:srgbClr val="1A1A1A"/>
                </a:solidFill>
                <a:latin typeface="Calibri" panose="020F0502020204030204" pitchFamily="34" charset="0"/>
              </a:rPr>
              <a:t> Deep Caries recall 0.33 and Periapical Lesion 4/9 end-to-end on validation; tiny support makes these estimates unstable</a:t>
            </a:r>
          </a:p>
          <a:p>
            <a:pPr marL="508000" indent="-228600">
              <a:spcAft>
                <a:spcPts val="600"/>
              </a:spcAft>
              <a:buFont typeface="+mj-lt"/>
              <a:buChar char="•"/>
            </a:pPr>
            <a:r>
              <a:rPr lang="en-US" sz="1900" b="1">
                <a:solidFill>
                  <a:srgbClr val="1A1A1A"/>
                </a:solidFill>
                <a:latin typeface="Calibri" panose="020F0502020204030204" pitchFamily="34" charset="0"/>
              </a:rPr>
              <a:t>Crop sensitivity:</a:t>
            </a:r>
            <a:r>
              <a:rPr lang="en-US" sz="1900">
                <a:solidFill>
                  <a:srgbClr val="1A1A1A"/>
                </a:solidFill>
                <a:latin typeface="Calibri" panose="020F0502020204030204" pitchFamily="34" charset="0"/>
              </a:rPr>
              <a:t> small box shifts change about 10 % of predictions; the detector-box classifier is weaker than the ground-truth-box classifier</a:t>
            </a:r>
          </a:p>
          <a:p>
            <a:pPr marL="508000" indent="-228600">
              <a:spcAft>
                <a:spcPts val="600"/>
              </a:spcAft>
              <a:buFont typeface="+mj-lt"/>
              <a:buChar char="•"/>
            </a:pPr>
            <a:r>
              <a:rPr lang="en-US" sz="1900" b="1">
                <a:solidFill>
                  <a:srgbClr val="1A1A1A"/>
                </a:solidFill>
                <a:latin typeface="Calibri" panose="020F0502020204030204" pitchFamily="34" charset="0"/>
              </a:rPr>
              <a:t>No independent external validation:</a:t>
            </a:r>
            <a:r>
              <a:rPr lang="en-US" sz="1900">
                <a:solidFill>
                  <a:srgbClr val="1A1A1A"/>
                </a:solidFill>
                <a:latin typeface="Calibri" panose="020F0502020204030204" pitchFamily="34" charset="0"/>
              </a:rPr>
              <a:t> one public dataset, no patient IDs (patient-level separation unproven), no other scanners or sites</a:t>
            </a:r>
          </a:p>
          <a:p>
            <a:pPr marL="508000" indent="-228600">
              <a:spcAft>
                <a:spcPts val="600"/>
              </a:spcAft>
              <a:buFont typeface="+mj-lt"/>
              <a:buChar char="•"/>
            </a:pPr>
            <a:r>
              <a:rPr lang="en-US" sz="1900">
                <a:solidFill>
                  <a:srgbClr val="1A1A1A"/>
                </a:solidFill>
                <a:latin typeface="Calibri" panose="020F0502020204030204" pitchFamily="34" charset="0"/>
              </a:rPr>
              <a:t>The test split was used historically; thresholds and the LLM path are provisional; Hindi and Marathi text was not reviewed by dental professionals</a:t>
            </a:r>
          </a:p>
          <a:p>
            <a:pPr marL="508000" indent="-228600">
              <a:spcAft>
                <a:spcPts val="600"/>
              </a:spcAft>
              <a:buFont typeface="+mj-lt"/>
              <a:buChar char="•"/>
            </a:pPr>
            <a:r>
              <a:rPr lang="en-US" sz="1900">
                <a:solidFill>
                  <a:srgbClr val="1A1A1A"/>
                </a:solidFill>
                <a:latin typeface="Calibri" panose="020F0502020204030204" pitchFamily="34" charset="0"/>
              </a:rPr>
              <a:t>Not clinically validated, not a medical device, not for diagnosis</a:t>
            </a:r>
            <a:endParaRPr lang="en-IN" sz="1900">
              <a:solidFill>
                <a:srgbClr val="1A1A1A"/>
              </a:solidFill>
              <a:latin typeface="Calibri" panose="020F0502020204030204" pitchFamily="34" charset="0"/>
            </a:endParaRPr>
          </a:p>
        </p:txBody>
      </p:sp>
    </p:spTree>
    <p:extLst>
      <p:ext uri="{BB962C8B-B14F-4D97-AF65-F5344CB8AC3E}">
        <p14:creationId xmlns:p14="http://schemas.microsoft.com/office/powerpoint/2010/main" val="28756492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DB56704-599E-01BF-D817-A4E6C5642E0C}"/>
              </a:ext>
            </a:extLst>
          </p:cNvPr>
          <p:cNvSpPr txBox="1"/>
          <p:nvPr/>
        </p:nvSpPr>
        <p:spPr>
          <a:xfrm>
            <a:off x="508000" y="279400"/>
            <a:ext cx="11176000" cy="369332"/>
          </a:xfrm>
          <a:prstGeom prst="rect">
            <a:avLst/>
          </a:prstGeom>
          <a:noFill/>
        </p:spPr>
        <p:txBody>
          <a:bodyPr vert="horz" wrap="square" lIns="63500" tIns="38100" rIns="63500" bIns="38100" rtlCol="0" anchor="ctr">
            <a:noAutofit/>
          </a:bodyPr>
          <a:lstStyle/>
          <a:p>
            <a:r>
              <a:rPr lang="en-IN" sz="2600" b="1">
                <a:solidFill>
                  <a:srgbClr val="1F3A5F"/>
                </a:solidFill>
                <a:latin typeface="Calibri" panose="020F0502020204030204" pitchFamily="34" charset="0"/>
              </a:rPr>
              <a:t>Conclusion and future work</a:t>
            </a:r>
          </a:p>
        </p:txBody>
      </p:sp>
      <p:sp>
        <p:nvSpPr>
          <p:cNvPr id="3" name="Rectangle 2">
            <a:extLst>
              <a:ext uri="{FF2B5EF4-FFF2-40B4-BE49-F238E27FC236}">
                <a16:creationId xmlns:a16="http://schemas.microsoft.com/office/drawing/2014/main" id="{8B6340A3-0F14-54D2-9CF2-134468DDAB05}"/>
              </a:ext>
            </a:extLst>
          </p:cNvPr>
          <p:cNvSpPr/>
          <p:nvPr/>
        </p:nvSpPr>
        <p:spPr>
          <a:xfrm>
            <a:off x="533400" y="939800"/>
            <a:ext cx="889000" cy="38100"/>
          </a:xfrm>
          <a:prstGeom prst="rect">
            <a:avLst/>
          </a:prstGeom>
          <a:solidFill>
            <a:srgbClr val="0F766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666CE66A-0704-AE93-1D1F-48D256E105AC}"/>
              </a:ext>
            </a:extLst>
          </p:cNvPr>
          <p:cNvSpPr txBox="1"/>
          <p:nvPr/>
        </p:nvSpPr>
        <p:spPr>
          <a:xfrm>
            <a:off x="508000" y="6502400"/>
            <a:ext cx="8890000" cy="369332"/>
          </a:xfrm>
          <a:prstGeom prst="rect">
            <a:avLst/>
          </a:prstGeom>
          <a:noFill/>
        </p:spPr>
        <p:txBody>
          <a:bodyPr vert="horz" wrap="square" lIns="63500" tIns="38100" rIns="63500" bIns="38100" rtlCol="0" anchor="t">
            <a:noAutofit/>
          </a:bodyPr>
          <a:lstStyle/>
          <a:p>
            <a:r>
              <a:rPr lang="it-IT" sz="900">
                <a:solidFill>
                  <a:srgbClr val="55657A"/>
                </a:solidFill>
                <a:latin typeface="Calibri" panose="020F0502020204030204" pitchFamily="34" charset="0"/>
              </a:rPr>
              <a:t>DentaMind AI · B.Tech Capstone · PCCOE CSE (AI &amp; ML) 2026-27</a:t>
            </a:r>
            <a:endParaRPr lang="en-IN" sz="900">
              <a:solidFill>
                <a:srgbClr val="55657A"/>
              </a:solidFill>
              <a:latin typeface="Calibri" panose="020F0502020204030204" pitchFamily="34" charset="0"/>
            </a:endParaRPr>
          </a:p>
        </p:txBody>
      </p:sp>
      <p:sp>
        <p:nvSpPr>
          <p:cNvPr id="5" name="TextBox 4">
            <a:extLst>
              <a:ext uri="{FF2B5EF4-FFF2-40B4-BE49-F238E27FC236}">
                <a16:creationId xmlns:a16="http://schemas.microsoft.com/office/drawing/2014/main" id="{F4A400C9-2633-F769-6F40-5429A5D84AA5}"/>
              </a:ext>
            </a:extLst>
          </p:cNvPr>
          <p:cNvSpPr txBox="1"/>
          <p:nvPr/>
        </p:nvSpPr>
        <p:spPr>
          <a:xfrm>
            <a:off x="10414000" y="6502400"/>
            <a:ext cx="1270000" cy="369332"/>
          </a:xfrm>
          <a:prstGeom prst="rect">
            <a:avLst/>
          </a:prstGeom>
          <a:noFill/>
        </p:spPr>
        <p:txBody>
          <a:bodyPr vert="horz" wrap="square" lIns="63500" tIns="38100" rIns="63500" bIns="38100" rtlCol="0" anchor="t">
            <a:noAutofit/>
          </a:bodyPr>
          <a:lstStyle/>
          <a:p>
            <a:pPr algn="r"/>
            <a:r>
              <a:rPr lang="en-IN" sz="900">
                <a:solidFill>
                  <a:srgbClr val="55657A"/>
                </a:solidFill>
                <a:latin typeface="Calibri" panose="020F0502020204030204" pitchFamily="34" charset="0"/>
              </a:rPr>
              <a:t>21 / 22</a:t>
            </a:r>
          </a:p>
        </p:txBody>
      </p:sp>
      <p:sp>
        <p:nvSpPr>
          <p:cNvPr id="6" name="TextBox 5">
            <a:extLst>
              <a:ext uri="{FF2B5EF4-FFF2-40B4-BE49-F238E27FC236}">
                <a16:creationId xmlns:a16="http://schemas.microsoft.com/office/drawing/2014/main" id="{8A9E53BE-CCF2-299D-17E5-C7D31A7D421D}"/>
              </a:ext>
            </a:extLst>
          </p:cNvPr>
          <p:cNvSpPr txBox="1"/>
          <p:nvPr/>
        </p:nvSpPr>
        <p:spPr>
          <a:xfrm>
            <a:off x="533400" y="1168400"/>
            <a:ext cx="11125200" cy="369332"/>
          </a:xfrm>
          <a:prstGeom prst="rect">
            <a:avLst/>
          </a:prstGeom>
          <a:noFill/>
        </p:spPr>
        <p:txBody>
          <a:bodyPr vert="horz" wrap="square" rtlCol="0" anchor="t">
            <a:noAutofit/>
          </a:bodyPr>
          <a:lstStyle/>
          <a:p>
            <a:pPr marL="508000" indent="-228600">
              <a:spcAft>
                <a:spcPts val="600"/>
              </a:spcAft>
              <a:buFont typeface="+mj-lt"/>
              <a:buChar char="•"/>
            </a:pPr>
            <a:r>
              <a:rPr lang="en-US" sz="1900" b="1">
                <a:solidFill>
                  <a:srgbClr val="1A1A1A"/>
                </a:solidFill>
                <a:latin typeface="Calibri" panose="020F0502020204030204" pitchFamily="34" charset="0"/>
              </a:rPr>
              <a:t>Built a working local system:</a:t>
            </a:r>
            <a:r>
              <a:rPr lang="en-US" sz="1900">
                <a:solidFill>
                  <a:srgbClr val="1A1A1A"/>
                </a:solidFill>
                <a:latin typeface="Calibri" panose="020F0502020204030204" pitchFamily="34" charset="0"/>
              </a:rPr>
              <a:t> detection (validation recall 0.984), numbering (93.6 % exact), segmentation (test Dice 0.873) and a four-class finding classifier</a:t>
            </a:r>
          </a:p>
          <a:p>
            <a:pPr marL="508000" indent="-228600">
              <a:spcAft>
                <a:spcPts val="600"/>
              </a:spcAft>
              <a:buFont typeface="+mj-lt"/>
              <a:buChar char="•"/>
            </a:pPr>
            <a:r>
              <a:rPr lang="en-US" sz="1900">
                <a:solidFill>
                  <a:srgbClr val="1A1A1A"/>
                </a:solidFill>
                <a:latin typeface="Calibri" panose="020F0502020204030204" pitchFamily="34" charset="0"/>
              </a:rPr>
              <a:t>Classification is the weak link (validation macro-F1 0.718; 0.634 end-to-end), and we report this openly instead of tuning on the test split</a:t>
            </a:r>
          </a:p>
          <a:p>
            <a:pPr marL="508000" indent="-228600">
              <a:spcAft>
                <a:spcPts val="600"/>
              </a:spcAft>
              <a:buFont typeface="+mj-lt"/>
              <a:buChar char="•"/>
            </a:pPr>
            <a:r>
              <a:rPr lang="en-US" sz="1900">
                <a:solidFill>
                  <a:srgbClr val="1A1A1A"/>
                </a:solidFill>
                <a:latin typeface="Calibri" panose="020F0502020204030204" pitchFamily="34" charset="0"/>
              </a:rPr>
              <a:t>Reports are generated only from evidence and checked by a validator; humans stay in control through review and approval</a:t>
            </a:r>
          </a:p>
          <a:p>
            <a:pPr marL="508000" indent="-228600">
              <a:spcAft>
                <a:spcPts val="600"/>
              </a:spcAft>
              <a:buFont typeface="+mj-lt"/>
              <a:buChar char="•"/>
            </a:pPr>
            <a:r>
              <a:rPr lang="en-US" sz="1900" b="1">
                <a:solidFill>
                  <a:srgbClr val="1A1A1A"/>
                </a:solidFill>
                <a:latin typeface="Calibri" panose="020F0502020204030204" pitchFamily="34" charset="0"/>
              </a:rPr>
              <a:t>Future:</a:t>
            </a:r>
            <a:r>
              <a:rPr lang="en-US" sz="1900">
                <a:solidFill>
                  <a:srgbClr val="1A1A1A"/>
                </a:solidFill>
                <a:latin typeface="Calibri" panose="020F0502020204030204" pitchFamily="34" charset="0"/>
              </a:rPr>
              <a:t> add healthy and 'other' labels (open-set), collect more Periapical Lesion and Deep Caries cases, and train on detector-style crops</a:t>
            </a:r>
          </a:p>
          <a:p>
            <a:pPr marL="508000" indent="-228600">
              <a:spcAft>
                <a:spcPts val="600"/>
              </a:spcAft>
              <a:buFont typeface="+mj-lt"/>
              <a:buChar char="•"/>
            </a:pPr>
            <a:r>
              <a:rPr lang="en-US" sz="1900" b="1">
                <a:solidFill>
                  <a:srgbClr val="1A1A1A"/>
                </a:solidFill>
                <a:latin typeface="Calibri" panose="020F0502020204030204" pitchFamily="34" charset="0"/>
              </a:rPr>
              <a:t>Future:</a:t>
            </a:r>
            <a:r>
              <a:rPr lang="en-US" sz="1900">
                <a:solidFill>
                  <a:srgbClr val="1A1A1A"/>
                </a:solidFill>
                <a:latin typeface="Calibri" panose="020F0502020204030204" pitchFamily="34" charset="0"/>
              </a:rPr>
              <a:t> external multi-centre validation with patient-level splits, a reader study with dentists, and a validated LLM wording layer</a:t>
            </a:r>
          </a:p>
          <a:p>
            <a:pPr marL="508000" indent="-228600">
              <a:spcAft>
                <a:spcPts val="600"/>
              </a:spcAft>
              <a:buFont typeface="+mj-lt"/>
              <a:buChar char="•"/>
            </a:pPr>
            <a:r>
              <a:rPr lang="en-US" sz="1900" b="1">
                <a:solidFill>
                  <a:srgbClr val="1A1A1A"/>
                </a:solidFill>
                <a:latin typeface="Calibri" panose="020F0502020204030204" pitchFamily="34" charset="0"/>
              </a:rPr>
              <a:t>Future:</a:t>
            </a:r>
            <a:r>
              <a:rPr lang="en-US" sz="1900">
                <a:solidFill>
                  <a:srgbClr val="1A1A1A"/>
                </a:solidFill>
                <a:latin typeface="Calibri" panose="020F0502020204030204" pitchFamily="34" charset="0"/>
              </a:rPr>
              <a:t> calibrated probabilities, tooth-level heatmaps, and DICOM / PACS integration</a:t>
            </a:r>
            <a:endParaRPr lang="en-IN" sz="1900">
              <a:solidFill>
                <a:srgbClr val="1A1A1A"/>
              </a:solidFill>
              <a:latin typeface="Calibri" panose="020F0502020204030204" pitchFamily="34" charset="0"/>
            </a:endParaRPr>
          </a:p>
        </p:txBody>
      </p:sp>
    </p:spTree>
    <p:extLst>
      <p:ext uri="{BB962C8B-B14F-4D97-AF65-F5344CB8AC3E}">
        <p14:creationId xmlns:p14="http://schemas.microsoft.com/office/powerpoint/2010/main" val="8027547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4E76267-1537-3DE6-F528-222A3E4B257A}"/>
              </a:ext>
            </a:extLst>
          </p:cNvPr>
          <p:cNvSpPr txBox="1"/>
          <p:nvPr/>
        </p:nvSpPr>
        <p:spPr>
          <a:xfrm>
            <a:off x="508000" y="279400"/>
            <a:ext cx="11176000" cy="369332"/>
          </a:xfrm>
          <a:prstGeom prst="rect">
            <a:avLst/>
          </a:prstGeom>
          <a:noFill/>
        </p:spPr>
        <p:txBody>
          <a:bodyPr vert="horz" wrap="square" lIns="63500" tIns="38100" rIns="63500" bIns="38100" rtlCol="0" anchor="ctr">
            <a:noAutofit/>
          </a:bodyPr>
          <a:lstStyle/>
          <a:p>
            <a:r>
              <a:rPr lang="en-US" sz="2600" b="1">
                <a:solidFill>
                  <a:srgbClr val="1F3A5F"/>
                </a:solidFill>
                <a:latin typeface="Calibri" panose="020F0502020204030204" pitchFamily="34" charset="0"/>
              </a:rPr>
              <a:t>Key references and thank you</a:t>
            </a:r>
            <a:endParaRPr lang="en-IN" sz="2600" b="1">
              <a:solidFill>
                <a:srgbClr val="1F3A5F"/>
              </a:solidFill>
              <a:latin typeface="Calibri" panose="020F0502020204030204" pitchFamily="34" charset="0"/>
            </a:endParaRPr>
          </a:p>
        </p:txBody>
      </p:sp>
      <p:sp>
        <p:nvSpPr>
          <p:cNvPr id="3" name="Rectangle 2">
            <a:extLst>
              <a:ext uri="{FF2B5EF4-FFF2-40B4-BE49-F238E27FC236}">
                <a16:creationId xmlns:a16="http://schemas.microsoft.com/office/drawing/2014/main" id="{17718B94-E31F-CE65-8DD3-7D84281809B6}"/>
              </a:ext>
            </a:extLst>
          </p:cNvPr>
          <p:cNvSpPr/>
          <p:nvPr/>
        </p:nvSpPr>
        <p:spPr>
          <a:xfrm>
            <a:off x="533400" y="939800"/>
            <a:ext cx="889000" cy="38100"/>
          </a:xfrm>
          <a:prstGeom prst="rect">
            <a:avLst/>
          </a:prstGeom>
          <a:solidFill>
            <a:srgbClr val="0F766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1A7A2190-11ED-30A6-9F68-537E1C01CB34}"/>
              </a:ext>
            </a:extLst>
          </p:cNvPr>
          <p:cNvSpPr txBox="1"/>
          <p:nvPr/>
        </p:nvSpPr>
        <p:spPr>
          <a:xfrm>
            <a:off x="508000" y="6502400"/>
            <a:ext cx="8890000" cy="369332"/>
          </a:xfrm>
          <a:prstGeom prst="rect">
            <a:avLst/>
          </a:prstGeom>
          <a:noFill/>
        </p:spPr>
        <p:txBody>
          <a:bodyPr vert="horz" wrap="square" lIns="63500" tIns="38100" rIns="63500" bIns="38100" rtlCol="0" anchor="t">
            <a:noAutofit/>
          </a:bodyPr>
          <a:lstStyle/>
          <a:p>
            <a:r>
              <a:rPr lang="it-IT" sz="900">
                <a:solidFill>
                  <a:srgbClr val="55657A"/>
                </a:solidFill>
                <a:latin typeface="Calibri" panose="020F0502020204030204" pitchFamily="34" charset="0"/>
              </a:rPr>
              <a:t>DentaMind AI · B.Tech Capstone · PCCOE CSE (AI &amp; ML) 2026-27</a:t>
            </a:r>
            <a:endParaRPr lang="en-IN" sz="900">
              <a:solidFill>
                <a:srgbClr val="55657A"/>
              </a:solidFill>
              <a:latin typeface="Calibri" panose="020F0502020204030204" pitchFamily="34" charset="0"/>
            </a:endParaRPr>
          </a:p>
        </p:txBody>
      </p:sp>
      <p:sp>
        <p:nvSpPr>
          <p:cNvPr id="5" name="TextBox 4">
            <a:extLst>
              <a:ext uri="{FF2B5EF4-FFF2-40B4-BE49-F238E27FC236}">
                <a16:creationId xmlns:a16="http://schemas.microsoft.com/office/drawing/2014/main" id="{D0169048-4846-DC47-8110-24CAFD38F7B5}"/>
              </a:ext>
            </a:extLst>
          </p:cNvPr>
          <p:cNvSpPr txBox="1"/>
          <p:nvPr/>
        </p:nvSpPr>
        <p:spPr>
          <a:xfrm>
            <a:off x="10414000" y="6502400"/>
            <a:ext cx="1270000" cy="369332"/>
          </a:xfrm>
          <a:prstGeom prst="rect">
            <a:avLst/>
          </a:prstGeom>
          <a:noFill/>
        </p:spPr>
        <p:txBody>
          <a:bodyPr vert="horz" wrap="square" lIns="63500" tIns="38100" rIns="63500" bIns="38100" rtlCol="0" anchor="t">
            <a:noAutofit/>
          </a:bodyPr>
          <a:lstStyle/>
          <a:p>
            <a:pPr algn="r"/>
            <a:r>
              <a:rPr lang="en-IN" sz="900">
                <a:solidFill>
                  <a:srgbClr val="55657A"/>
                </a:solidFill>
                <a:latin typeface="Calibri" panose="020F0502020204030204" pitchFamily="34" charset="0"/>
              </a:rPr>
              <a:t>22 / 22</a:t>
            </a:r>
          </a:p>
        </p:txBody>
      </p:sp>
      <p:sp>
        <p:nvSpPr>
          <p:cNvPr id="6" name="TextBox 5">
            <a:extLst>
              <a:ext uri="{FF2B5EF4-FFF2-40B4-BE49-F238E27FC236}">
                <a16:creationId xmlns:a16="http://schemas.microsoft.com/office/drawing/2014/main" id="{F1E3623A-318C-FA0D-46D4-FA9B174F37A0}"/>
              </a:ext>
            </a:extLst>
          </p:cNvPr>
          <p:cNvSpPr txBox="1"/>
          <p:nvPr/>
        </p:nvSpPr>
        <p:spPr>
          <a:xfrm>
            <a:off x="533400" y="1168400"/>
            <a:ext cx="11125200" cy="369332"/>
          </a:xfrm>
          <a:prstGeom prst="rect">
            <a:avLst/>
          </a:prstGeom>
          <a:noFill/>
        </p:spPr>
        <p:txBody>
          <a:bodyPr vert="horz" wrap="square" rtlCol="0" anchor="t">
            <a:noAutofit/>
          </a:bodyPr>
          <a:lstStyle/>
          <a:p>
            <a:pPr marL="508000" indent="-228600">
              <a:spcAft>
                <a:spcPts val="600"/>
              </a:spcAft>
              <a:buFont typeface="+mj-lt"/>
              <a:buChar char="•"/>
            </a:pPr>
            <a:r>
              <a:rPr lang="en-IN">
                <a:solidFill>
                  <a:srgbClr val="1A1A1A"/>
                </a:solidFill>
                <a:latin typeface="Calibri" panose="020F0502020204030204" pitchFamily="34" charset="0"/>
              </a:rPr>
              <a:t>[11] I. E. Hamamci et al., DENTEX benchmark, arXiv:2305.19112, 2023</a:t>
            </a:r>
          </a:p>
          <a:p>
            <a:pPr marL="508000" indent="-228600">
              <a:spcAft>
                <a:spcPts val="600"/>
              </a:spcAft>
              <a:buFont typeface="+mj-lt"/>
              <a:buChar char="•"/>
            </a:pPr>
            <a:r>
              <a:rPr lang="en-IN">
                <a:solidFill>
                  <a:srgbClr val="1A1A1A"/>
                </a:solidFill>
                <a:latin typeface="Calibri" panose="020F0502020204030204" pitchFamily="34" charset="0"/>
              </a:rPr>
              <a:t>[8] I. E. Hamamci et al., Diffusion-based hierarchical multi-label object detection, MICCAI 2023, LNCS 14225</a:t>
            </a:r>
          </a:p>
          <a:p>
            <a:pPr marL="508000" indent="-228600">
              <a:spcAft>
                <a:spcPts val="600"/>
              </a:spcAft>
              <a:buFont typeface="+mj-lt"/>
              <a:buChar char="•"/>
            </a:pPr>
            <a:r>
              <a:rPr lang="en-IN">
                <a:solidFill>
                  <a:srgbClr val="1A1A1A"/>
                </a:solidFill>
                <a:latin typeface="Calibri" panose="020F0502020204030204" pitchFamily="34" charset="0"/>
              </a:rPr>
              <a:t>[18] S. Ren et al., Faster R-CNN, NeurIPS 2015 · [19] K. He et al., Mask R-CNN, ICCV 2017 · [20] K. He et al., ResNet, CVPR 2016</a:t>
            </a:r>
          </a:p>
          <a:p>
            <a:pPr marL="508000" indent="-228600">
              <a:spcAft>
                <a:spcPts val="600"/>
              </a:spcAft>
              <a:buFont typeface="+mj-lt"/>
              <a:buChar char="•"/>
            </a:pPr>
            <a:r>
              <a:rPr lang="en-IN">
                <a:solidFill>
                  <a:srgbClr val="1A1A1A"/>
                </a:solidFill>
                <a:latin typeface="Calibri" panose="020F0502020204030204" pitchFamily="34" charset="0"/>
              </a:rPr>
              <a:t>[26] C. Guo et al., On calibration of modern neural networks, ICML 2017</a:t>
            </a:r>
          </a:p>
          <a:p>
            <a:pPr marL="508000" indent="-228600">
              <a:spcAft>
                <a:spcPts val="600"/>
              </a:spcAft>
              <a:buFont typeface="+mj-lt"/>
              <a:buChar char="•"/>
            </a:pPr>
            <a:r>
              <a:rPr lang="en-IN">
                <a:solidFill>
                  <a:srgbClr val="1A1A1A"/>
                </a:solidFill>
                <a:latin typeface="Calibri" panose="020F0502020204030204" pitchFamily="34" charset="0"/>
              </a:rPr>
              <a:t>[27] G. Wang et al., Test-time augmentation uncertainty, Neurocomputing 335, 2019</a:t>
            </a:r>
          </a:p>
          <a:p>
            <a:pPr marL="508000" indent="-228600">
              <a:spcAft>
                <a:spcPts val="600"/>
              </a:spcAft>
              <a:buFont typeface="+mj-lt"/>
              <a:buChar char="•"/>
            </a:pPr>
            <a:r>
              <a:rPr lang="en-IN">
                <a:solidFill>
                  <a:srgbClr val="1A1A1A"/>
                </a:solidFill>
                <a:latin typeface="Calibri" panose="020F0502020204030204" pitchFamily="34" charset="0"/>
              </a:rPr>
              <a:t>[12] S. Kaufman et al., Leakage in data mining, ACM TKDD 6(4), 2012</a:t>
            </a:r>
          </a:p>
          <a:p>
            <a:pPr marL="508000" indent="-228600">
              <a:spcAft>
                <a:spcPts val="600"/>
              </a:spcAft>
              <a:buFont typeface="+mj-lt"/>
              <a:buChar char="•"/>
            </a:pPr>
            <a:r>
              <a:rPr lang="en-IN" b="1">
                <a:solidFill>
                  <a:srgbClr val="1A1A1A"/>
                </a:solidFill>
                <a:latin typeface="Calibri" panose="020F0502020204030204" pitchFamily="34" charset="0"/>
              </a:rPr>
              <a:t>Full IEEE reference list:</a:t>
            </a:r>
            <a:r>
              <a:rPr lang="en-IN">
                <a:solidFill>
                  <a:srgbClr val="1A1A1A"/>
                </a:solidFill>
                <a:latin typeface="Calibri" panose="020F0502020204030204" pitchFamily="34" charset="0"/>
              </a:rPr>
              <a:t> Project Report, References chapter</a:t>
            </a:r>
          </a:p>
          <a:p>
            <a:pPr marL="508000" indent="-228600">
              <a:spcAft>
                <a:spcPts val="600"/>
              </a:spcAft>
              <a:buFont typeface="+mj-lt"/>
              <a:buChar char="•"/>
            </a:pPr>
            <a:r>
              <a:rPr lang="en-IN">
                <a:solidFill>
                  <a:srgbClr val="1A1A1A"/>
                </a:solidFill>
                <a:latin typeface="Calibri" panose="020F0502020204030204" pitchFamily="34" charset="0"/>
              </a:rPr>
              <a:t>Thank you. Questions?</a:t>
            </a:r>
          </a:p>
        </p:txBody>
      </p:sp>
    </p:spTree>
    <p:extLst>
      <p:ext uri="{BB962C8B-B14F-4D97-AF65-F5344CB8AC3E}">
        <p14:creationId xmlns:p14="http://schemas.microsoft.com/office/powerpoint/2010/main" val="3189138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4623</Words>
  <Application>Microsoft Office PowerPoint</Application>
  <PresentationFormat>Custom</PresentationFormat>
  <Paragraphs>409</Paragraphs>
  <Slides>22</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Office</dc:creator>
  <cp:lastModifiedBy>Office</cp:lastModifiedBy>
  <cp:revision>1</cp:revision>
  <dcterms:created xsi:type="dcterms:W3CDTF">2026-10-15T15:16:46Z</dcterms:created>
  <dcterms:modified xsi:type="dcterms:W3CDTF">2026-10-15T15:16:46Z</dcterms:modified>
</cp:coreProperties>
</file>