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446000" cy="609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FD0BD-BBED-04F2-16CB-D1D21309E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5750" y="997656"/>
            <a:ext cx="9334500" cy="2122311"/>
          </a:xfrm>
        </p:spPr>
        <p:txBody>
          <a:bodyPr anchor="b"/>
          <a:lstStyle>
            <a:lvl1pPr algn="ctr">
              <a:defRPr sz="533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BF315-2DF9-212C-F953-5E5702430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5750" y="3201812"/>
            <a:ext cx="9334500" cy="1471788"/>
          </a:xfrm>
        </p:spPr>
        <p:txBody>
          <a:bodyPr/>
          <a:lstStyle>
            <a:lvl1pPr marL="0" indent="0" algn="ctr">
              <a:buNone/>
              <a:defRPr sz="2133"/>
            </a:lvl1pPr>
            <a:lvl2pPr marL="406405" indent="0" algn="ctr">
              <a:buNone/>
              <a:defRPr sz="1778"/>
            </a:lvl2pPr>
            <a:lvl3pPr marL="812810" indent="0" algn="ctr">
              <a:buNone/>
              <a:defRPr sz="1600"/>
            </a:lvl3pPr>
            <a:lvl4pPr marL="1219215" indent="0" algn="ctr">
              <a:buNone/>
              <a:defRPr sz="1422"/>
            </a:lvl4pPr>
            <a:lvl5pPr marL="1625620" indent="0" algn="ctr">
              <a:buNone/>
              <a:defRPr sz="1422"/>
            </a:lvl5pPr>
            <a:lvl6pPr marL="2032025" indent="0" algn="ctr">
              <a:buNone/>
              <a:defRPr sz="1422"/>
            </a:lvl6pPr>
            <a:lvl7pPr marL="2438430" indent="0" algn="ctr">
              <a:buNone/>
              <a:defRPr sz="1422"/>
            </a:lvl7pPr>
            <a:lvl8pPr marL="2844836" indent="0" algn="ctr">
              <a:buNone/>
              <a:defRPr sz="1422"/>
            </a:lvl8pPr>
            <a:lvl9pPr marL="3251241" indent="0" algn="ctr">
              <a:buNone/>
              <a:defRPr sz="1422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E9F83-AFD5-CD6B-AD01-7FA6C0BDE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ACF84-45DB-4EC2-08B7-2F496CF0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3D7DC-8B0F-C60E-C5C4-69833714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3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0520C-0304-5B72-939A-B7F21E12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7A435-A3DD-3229-23B1-F6213A8F4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13A3C-D812-BAC2-6238-0A6280C7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B669A-129F-24A4-7F6E-F8158B46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16F4B-F48A-069B-33AC-D72ECFAB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81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FAC8-AB2D-0429-0E35-0DC8CF43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181" y="1519769"/>
            <a:ext cx="10734675" cy="2535766"/>
          </a:xfrm>
        </p:spPr>
        <p:txBody>
          <a:bodyPr anchor="b"/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CE5B2-6F40-7A8C-A8B3-24475C758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181" y="4079524"/>
            <a:ext cx="10734675" cy="1333500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1pPr>
            <a:lvl2pPr marL="406405" indent="0">
              <a:buNone/>
              <a:defRPr sz="1778">
                <a:solidFill>
                  <a:schemeClr val="tx1">
                    <a:tint val="75000"/>
                  </a:schemeClr>
                </a:solidFill>
              </a:defRPr>
            </a:lvl2pPr>
            <a:lvl3pPr marL="8128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21921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4pPr>
            <a:lvl5pPr marL="1625620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5pPr>
            <a:lvl6pPr marL="203202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6pPr>
            <a:lvl7pPr marL="2438430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7pPr>
            <a:lvl8pPr marL="2844836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8pPr>
            <a:lvl9pPr marL="3251241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E338E-C484-E998-015C-BA99AAC1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C80A1-FD9C-F477-A088-6CED2E2DE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EF5D9-01FC-E705-96F1-7B9B9372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3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5E118-F896-57AC-4A56-3A8F2D6D8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34069-A810-4AD5-A7C8-0718C2A4F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5663" y="1622778"/>
            <a:ext cx="5289550" cy="3867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109D6-6C0B-37AF-FE1A-5BF517070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788" y="1622778"/>
            <a:ext cx="5289550" cy="3867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1894D-FA06-AC79-0E78-67009439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9A846-A1B7-912F-7267-D7A2B770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ACCA4-1A1D-38F2-A8A1-8B263533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53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71FC-5366-ADC2-1F03-9526DCCF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85" y="324557"/>
            <a:ext cx="10734675" cy="1178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D2C66-B8CE-02DA-2C29-45A432A2C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84" y="1494367"/>
            <a:ext cx="5265241" cy="73236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405" indent="0">
              <a:buNone/>
              <a:defRPr sz="1778" b="1"/>
            </a:lvl2pPr>
            <a:lvl3pPr marL="812810" indent="0">
              <a:buNone/>
              <a:defRPr sz="1600" b="1"/>
            </a:lvl3pPr>
            <a:lvl4pPr marL="1219215" indent="0">
              <a:buNone/>
              <a:defRPr sz="1422" b="1"/>
            </a:lvl4pPr>
            <a:lvl5pPr marL="1625620" indent="0">
              <a:buNone/>
              <a:defRPr sz="1422" b="1"/>
            </a:lvl5pPr>
            <a:lvl6pPr marL="2032025" indent="0">
              <a:buNone/>
              <a:defRPr sz="1422" b="1"/>
            </a:lvl6pPr>
            <a:lvl7pPr marL="2438430" indent="0">
              <a:buNone/>
              <a:defRPr sz="1422" b="1"/>
            </a:lvl7pPr>
            <a:lvl8pPr marL="2844836" indent="0">
              <a:buNone/>
              <a:defRPr sz="1422" b="1"/>
            </a:lvl8pPr>
            <a:lvl9pPr marL="3251241" indent="0">
              <a:buNone/>
              <a:defRPr sz="14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A4961-20C7-476D-CFD0-3C13B3AB3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7284" y="2226734"/>
            <a:ext cx="5265241" cy="3275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02154-1DF1-D2B6-80B5-659816765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789" y="1494367"/>
            <a:ext cx="5291171" cy="73236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405" indent="0">
              <a:buNone/>
              <a:defRPr sz="1778" b="1"/>
            </a:lvl2pPr>
            <a:lvl3pPr marL="812810" indent="0">
              <a:buNone/>
              <a:defRPr sz="1600" b="1"/>
            </a:lvl3pPr>
            <a:lvl4pPr marL="1219215" indent="0">
              <a:buNone/>
              <a:defRPr sz="1422" b="1"/>
            </a:lvl4pPr>
            <a:lvl5pPr marL="1625620" indent="0">
              <a:buNone/>
              <a:defRPr sz="1422" b="1"/>
            </a:lvl5pPr>
            <a:lvl6pPr marL="2032025" indent="0">
              <a:buNone/>
              <a:defRPr sz="1422" b="1"/>
            </a:lvl6pPr>
            <a:lvl7pPr marL="2438430" indent="0">
              <a:buNone/>
              <a:defRPr sz="1422" b="1"/>
            </a:lvl7pPr>
            <a:lvl8pPr marL="2844836" indent="0">
              <a:buNone/>
              <a:defRPr sz="1422" b="1"/>
            </a:lvl8pPr>
            <a:lvl9pPr marL="3251241" indent="0">
              <a:buNone/>
              <a:defRPr sz="14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AD543-826E-7AD7-E76E-419DD8D2E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789" y="2226734"/>
            <a:ext cx="5291171" cy="3275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27A74-76DF-230E-5E86-F59AF85F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C1426-5CF9-897D-76BB-1DBDFF410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BEC994-06CB-5F38-B0B6-FCCE7388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76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E56A-BB10-8D1A-D070-20B97A165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AFDD0-27F3-FFE0-660B-AD0418C0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93CDF-DD98-F1CF-1C38-6E18FB92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11EC3-C17D-99AD-C3F7-D16A7A52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345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0CD253-A3B1-EAB9-701D-858FB9A8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86FC6-ED6D-CA19-20E1-4749C5A4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C5E31-87D6-4A60-2FED-361FC535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141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D88C-2D88-7C7B-04D8-66DB1FEF4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85" y="406400"/>
            <a:ext cx="4014159" cy="142240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A76C-BBA7-004D-D38E-3407CCD63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1171" y="877713"/>
            <a:ext cx="6300788" cy="4332111"/>
          </a:xfrm>
        </p:spPr>
        <p:txBody>
          <a:bodyPr/>
          <a:lstStyle>
            <a:lvl1pPr>
              <a:defRPr sz="2844"/>
            </a:lvl1pPr>
            <a:lvl2pPr>
              <a:defRPr sz="2489"/>
            </a:lvl2pPr>
            <a:lvl3pPr>
              <a:defRPr sz="2133"/>
            </a:lvl3pPr>
            <a:lvl4pPr>
              <a:defRPr sz="1778"/>
            </a:lvl4pPr>
            <a:lvl5pPr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E7C56-E120-B08C-F5C4-60D8F56E1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285" y="1828800"/>
            <a:ext cx="4014159" cy="3388078"/>
          </a:xfrm>
        </p:spPr>
        <p:txBody>
          <a:bodyPr/>
          <a:lstStyle>
            <a:lvl1pPr marL="0" indent="0">
              <a:buNone/>
              <a:defRPr sz="1422"/>
            </a:lvl1pPr>
            <a:lvl2pPr marL="406405" indent="0">
              <a:buNone/>
              <a:defRPr sz="1244"/>
            </a:lvl2pPr>
            <a:lvl3pPr marL="812810" indent="0">
              <a:buNone/>
              <a:defRPr sz="1067"/>
            </a:lvl3pPr>
            <a:lvl4pPr marL="1219215" indent="0">
              <a:buNone/>
              <a:defRPr sz="889"/>
            </a:lvl4pPr>
            <a:lvl5pPr marL="1625620" indent="0">
              <a:buNone/>
              <a:defRPr sz="889"/>
            </a:lvl5pPr>
            <a:lvl6pPr marL="2032025" indent="0">
              <a:buNone/>
              <a:defRPr sz="889"/>
            </a:lvl6pPr>
            <a:lvl7pPr marL="2438430" indent="0">
              <a:buNone/>
              <a:defRPr sz="889"/>
            </a:lvl7pPr>
            <a:lvl8pPr marL="2844836" indent="0">
              <a:buNone/>
              <a:defRPr sz="889"/>
            </a:lvl8pPr>
            <a:lvl9pPr marL="3251241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1684D-B4EE-FB64-796E-7C2EADD5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A30F6-F947-5B02-A0E0-50F00FDAE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E895D-2C6E-031B-52CB-11D861EE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32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D09C-8B46-255E-DCD2-D812F419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85" y="406400"/>
            <a:ext cx="4014159" cy="142240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010459-768E-643A-6FC6-3C740A31B5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91171" y="877713"/>
            <a:ext cx="6300788" cy="4332111"/>
          </a:xfrm>
        </p:spPr>
        <p:txBody>
          <a:bodyPr/>
          <a:lstStyle>
            <a:lvl1pPr marL="0" indent="0">
              <a:buNone/>
              <a:defRPr sz="2844"/>
            </a:lvl1pPr>
            <a:lvl2pPr marL="406405" indent="0">
              <a:buNone/>
              <a:defRPr sz="2489"/>
            </a:lvl2pPr>
            <a:lvl3pPr marL="812810" indent="0">
              <a:buNone/>
              <a:defRPr sz="2133"/>
            </a:lvl3pPr>
            <a:lvl4pPr marL="1219215" indent="0">
              <a:buNone/>
              <a:defRPr sz="1778"/>
            </a:lvl4pPr>
            <a:lvl5pPr marL="1625620" indent="0">
              <a:buNone/>
              <a:defRPr sz="1778"/>
            </a:lvl5pPr>
            <a:lvl6pPr marL="2032025" indent="0">
              <a:buNone/>
              <a:defRPr sz="1778"/>
            </a:lvl6pPr>
            <a:lvl7pPr marL="2438430" indent="0">
              <a:buNone/>
              <a:defRPr sz="1778"/>
            </a:lvl7pPr>
            <a:lvl8pPr marL="2844836" indent="0">
              <a:buNone/>
              <a:defRPr sz="1778"/>
            </a:lvl8pPr>
            <a:lvl9pPr marL="3251241" indent="0">
              <a:buNone/>
              <a:defRPr sz="1778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19717-28D3-853D-D04E-F733851B9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285" y="1828800"/>
            <a:ext cx="4014159" cy="3388078"/>
          </a:xfrm>
        </p:spPr>
        <p:txBody>
          <a:bodyPr/>
          <a:lstStyle>
            <a:lvl1pPr marL="0" indent="0">
              <a:buNone/>
              <a:defRPr sz="1422"/>
            </a:lvl1pPr>
            <a:lvl2pPr marL="406405" indent="0">
              <a:buNone/>
              <a:defRPr sz="1244"/>
            </a:lvl2pPr>
            <a:lvl3pPr marL="812810" indent="0">
              <a:buNone/>
              <a:defRPr sz="1067"/>
            </a:lvl3pPr>
            <a:lvl4pPr marL="1219215" indent="0">
              <a:buNone/>
              <a:defRPr sz="889"/>
            </a:lvl4pPr>
            <a:lvl5pPr marL="1625620" indent="0">
              <a:buNone/>
              <a:defRPr sz="889"/>
            </a:lvl5pPr>
            <a:lvl6pPr marL="2032025" indent="0">
              <a:buNone/>
              <a:defRPr sz="889"/>
            </a:lvl6pPr>
            <a:lvl7pPr marL="2438430" indent="0">
              <a:buNone/>
              <a:defRPr sz="889"/>
            </a:lvl7pPr>
            <a:lvl8pPr marL="2844836" indent="0">
              <a:buNone/>
              <a:defRPr sz="889"/>
            </a:lvl8pPr>
            <a:lvl9pPr marL="3251241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95EDE-AD62-24B9-48BF-0336E7FD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5CA6B-D858-3C7F-DBEF-B971BE6E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57814-6F67-3FEE-AB37-9FA9019B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97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32D1-076B-FA40-FEB2-933865B8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F7A72-78B5-F8D1-BFBD-2ECC639AB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6F34C-271C-EB10-DD72-C020C60A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06C46-4BB4-EC8E-5F30-EB563BBE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B9A0C-7BD5-27C9-7178-1910FA23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3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480AC-A847-8B50-D07D-E891CFB1E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06670" y="324556"/>
            <a:ext cx="2683669" cy="51660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EF8F7-6491-B042-4F9E-6E601F9FC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55664" y="324556"/>
            <a:ext cx="7895431" cy="51660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07B5F-5395-EB04-39DC-005F1BA4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041C-8907-7F14-1BDE-11D10783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89878-65F2-7E75-BC25-5C12E7A39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23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EB8FA-4557-7D0D-DE7F-2D61DC2D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63" y="324557"/>
            <a:ext cx="10734675" cy="1178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1C007-32FD-473A-4BB7-A7300EAAD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663" y="1622778"/>
            <a:ext cx="10734675" cy="3867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1E5CE-C2CD-5C36-49CA-2C3A01192B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5663" y="5650090"/>
            <a:ext cx="280035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C6148-A6EC-4020-9F3B-72DD6085142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39A80-D35C-8474-CB70-C18DBD1C2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2738" y="5650090"/>
            <a:ext cx="4200525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37A9A-65CE-56DA-88CD-E3EB7EB35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9988" y="5650090"/>
            <a:ext cx="280035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00CE3-6D3A-46F4-9D40-26D53D587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33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12810" rtl="0" eaLnBrk="1" latinLnBrk="0" hangingPunct="1">
        <a:lnSpc>
          <a:spcPct val="90000"/>
        </a:lnSpc>
        <a:spcBef>
          <a:spcPct val="0"/>
        </a:spcBef>
        <a:buNone/>
        <a:defRPr sz="39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203" indent="-203203" algn="l" defTabSz="81281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1pPr>
      <a:lvl2pPr marL="60960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601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42241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522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63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803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444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0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1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21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62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02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43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836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1241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827966-9A23-3DFF-4CA7-847AB050D7AA}"/>
              </a:ext>
            </a:extLst>
          </p:cNvPr>
          <p:cNvSpPr/>
          <p:nvPr/>
        </p:nvSpPr>
        <p:spPr>
          <a:xfrm>
            <a:off x="127000" y="317500"/>
            <a:ext cx="1524000" cy="762000"/>
          </a:xfrm>
          <a:prstGeom prst="rect">
            <a:avLst/>
          </a:prstGeom>
          <a:noFill/>
          <a:ln w="1397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 cap="flat" cmpd="sng" algn="ctr">
                <a:solidFill>
                  <a:srgbClr val="40404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Client (browser)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BCEA58-90FB-48F0-42E6-413D787B2A1A}"/>
              </a:ext>
            </a:extLst>
          </p:cNvPr>
          <p:cNvSpPr/>
          <p:nvPr/>
        </p:nvSpPr>
        <p:spPr>
          <a:xfrm>
            <a:off x="127000" y="1371600"/>
            <a:ext cx="1524000" cy="762000"/>
          </a:xfrm>
          <a:prstGeom prst="rect">
            <a:avLst/>
          </a:prstGeom>
          <a:noFill/>
          <a:ln w="1397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 cap="flat" cmpd="sng" algn="ctr">
                <a:solidFill>
                  <a:srgbClr val="40404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Transport &amp;</a:t>
            </a:r>
          </a:p>
          <a:p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API gateway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BE1C8-BCB2-7679-2B80-C08C11046135}"/>
              </a:ext>
            </a:extLst>
          </p:cNvPr>
          <p:cNvSpPr/>
          <p:nvPr/>
        </p:nvSpPr>
        <p:spPr>
          <a:xfrm>
            <a:off x="127000" y="2413000"/>
            <a:ext cx="1524000" cy="762000"/>
          </a:xfrm>
          <a:prstGeom prst="rect">
            <a:avLst/>
          </a:prstGeom>
          <a:noFill/>
          <a:ln w="1397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 cap="flat" cmpd="sng" algn="ctr">
                <a:solidFill>
                  <a:srgbClr val="40404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Application</a:t>
            </a:r>
          </a:p>
          <a:p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services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E18A1-169C-ECCC-077E-7715E67AF1F6}"/>
              </a:ext>
            </a:extLst>
          </p:cNvPr>
          <p:cNvSpPr/>
          <p:nvPr/>
        </p:nvSpPr>
        <p:spPr>
          <a:xfrm>
            <a:off x="127000" y="3873500"/>
            <a:ext cx="1524000" cy="762000"/>
          </a:xfrm>
          <a:prstGeom prst="rect">
            <a:avLst/>
          </a:prstGeom>
          <a:noFill/>
          <a:ln w="1397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3970" cap="flat" cmpd="sng" algn="ctr">
                <a:solidFill>
                  <a:srgbClr val="40404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ML core</a:t>
            </a:r>
          </a:p>
          <a:p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(PyTorch)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49F5B8-F814-4AB9-D25D-C0CE1C4FF633}"/>
              </a:ext>
            </a:extLst>
          </p:cNvPr>
          <p:cNvSpPr/>
          <p:nvPr/>
        </p:nvSpPr>
        <p:spPr>
          <a:xfrm>
            <a:off x="1778000" y="3175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X-ray Analysis page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upload or pick image, viewer, regions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6A8986-1F00-B12F-EDA7-2AAD80A9811F}"/>
              </a:ext>
            </a:extLst>
          </p:cNvPr>
          <p:cNvSpPr/>
          <p:nvPr/>
        </p:nvSpPr>
        <p:spPr>
          <a:xfrm>
            <a:off x="4343400" y="3175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Reports page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draft report, EN / HI / MR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FF51D7-D686-1DB8-8A06-0974A5689AE4}"/>
              </a:ext>
            </a:extLst>
          </p:cNvPr>
          <p:cNvSpPr/>
          <p:nvPr/>
        </p:nvSpPr>
        <p:spPr>
          <a:xfrm>
            <a:off x="6908800" y="3175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Review Findings page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decisions and approvals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CF641F-149B-4802-3F44-903B723AD406}"/>
              </a:ext>
            </a:extLst>
          </p:cNvPr>
          <p:cNvSpPr/>
          <p:nvPr/>
        </p:nvSpPr>
        <p:spPr>
          <a:xfrm>
            <a:off x="1778000" y="1435100"/>
            <a:ext cx="7416800" cy="63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React 18 + Vite proxy  →  FastAPI on 127.0.0.1:8000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API token added server-side · token auth · rate limits · input validation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D2FDA9-B5C6-C2A2-8C13-64A7F550F286}"/>
              </a:ext>
            </a:extLst>
          </p:cNvPr>
          <p:cNvSpPr/>
          <p:nvPr/>
        </p:nvSpPr>
        <p:spPr>
          <a:xfrm>
            <a:off x="1778000" y="24130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Analysis pipeline service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runs the four models, flags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B85402-94CF-2830-78AC-7A6A3297EF20}"/>
              </a:ext>
            </a:extLst>
          </p:cNvPr>
          <p:cNvSpPr/>
          <p:nvPr/>
        </p:nvSpPr>
        <p:spPr>
          <a:xfrm>
            <a:off x="4343400" y="24130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Report service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template draft + output validator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A5224B1-B260-80FF-FFC9-3053D70081EC}"/>
              </a:ext>
            </a:extLst>
          </p:cNvPr>
          <p:cNvSpPr/>
          <p:nvPr/>
        </p:nvSpPr>
        <p:spPr>
          <a:xfrm>
            <a:off x="6908800" y="24130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Review &amp; registry services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revisions, promotion, ledger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4C8451-5150-C518-E361-9C18DF1A9806}"/>
              </a:ext>
            </a:extLst>
          </p:cNvPr>
          <p:cNvSpPr/>
          <p:nvPr/>
        </p:nvSpPr>
        <p:spPr>
          <a:xfrm>
            <a:off x="1778000" y="3454400"/>
            <a:ext cx="7416800" cy="1422400"/>
          </a:xfrm>
          <a:prstGeom prst="rect">
            <a:avLst/>
          </a:prstGeom>
          <a:noFill/>
          <a:ln w="11430" cap="flat" cmpd="sng" algn="ctr">
            <a:solidFill>
              <a:srgbClr val="969696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63500" bIns="38100" rtlCol="0" anchor="t"/>
          <a:lstStyle/>
          <a:p>
            <a:r>
              <a:rPr lang="en-IN" sz="1150" b="1">
                <a:solidFill>
                  <a:srgbClr val="5A5A5A"/>
                </a:solidFill>
                <a:latin typeface="Calibri" panose="020F0502020204030204" pitchFamily="34" charset="0"/>
              </a:rPr>
              <a:t>dentexmodel package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3AD027-80EA-5418-60DE-7AB12595BA4E}"/>
              </a:ext>
            </a:extLst>
          </p:cNvPr>
          <p:cNvSpPr/>
          <p:nvPr/>
        </p:nvSpPr>
        <p:spPr>
          <a:xfrm>
            <a:off x="1892300" y="3835400"/>
            <a:ext cx="1346200" cy="8382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250" b="1">
                <a:solidFill>
                  <a:srgbClr val="1A1A1A"/>
                </a:solidFill>
                <a:latin typeface="Calibri" panose="020F0502020204030204" pitchFamily="34" charset="0"/>
              </a:rPr>
              <a:t>Detection</a:t>
            </a:r>
          </a:p>
          <a:p>
            <a:pPr algn="ctr"/>
            <a:r>
              <a:rPr lang="en-IN" sz="1100">
                <a:solidFill>
                  <a:srgbClr val="5A5A5A"/>
                </a:solidFill>
                <a:latin typeface="Calibri" panose="020F0502020204030204" pitchFamily="34" charset="0"/>
              </a:rPr>
              <a:t>Faster R-CNN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1480C3-B1BB-A7D6-5646-4905756851FF}"/>
              </a:ext>
            </a:extLst>
          </p:cNvPr>
          <p:cNvSpPr/>
          <p:nvPr/>
        </p:nvSpPr>
        <p:spPr>
          <a:xfrm>
            <a:off x="3352800" y="3835400"/>
            <a:ext cx="1346200" cy="8382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250" b="1">
                <a:solidFill>
                  <a:srgbClr val="1A1A1A"/>
                </a:solidFill>
                <a:latin typeface="Calibri" panose="020F0502020204030204" pitchFamily="34" charset="0"/>
              </a:rPr>
              <a:t>Numbering</a:t>
            </a:r>
          </a:p>
          <a:p>
            <a:pPr algn="ctr"/>
            <a:r>
              <a:rPr lang="en-IN" sz="1100">
                <a:solidFill>
                  <a:srgbClr val="5A5A5A"/>
                </a:solidFill>
                <a:latin typeface="Calibri" panose="020F0502020204030204" pitchFamily="34" charset="0"/>
              </a:rPr>
              <a:t>Faster R-CNN, 32 FDI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24D347-0305-6285-0D8E-518DAE7BF616}"/>
              </a:ext>
            </a:extLst>
          </p:cNvPr>
          <p:cNvSpPr/>
          <p:nvPr/>
        </p:nvSpPr>
        <p:spPr>
          <a:xfrm>
            <a:off x="4813300" y="3835400"/>
            <a:ext cx="1346200" cy="8382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250" b="1">
                <a:solidFill>
                  <a:srgbClr val="1A1A1A"/>
                </a:solidFill>
                <a:latin typeface="Calibri" panose="020F0502020204030204" pitchFamily="34" charset="0"/>
              </a:rPr>
              <a:t>Segmentation</a:t>
            </a:r>
          </a:p>
          <a:p>
            <a:pPr algn="ctr"/>
            <a:r>
              <a:rPr lang="en-IN" sz="1100">
                <a:solidFill>
                  <a:srgbClr val="5A5A5A"/>
                </a:solidFill>
                <a:latin typeface="Calibri" panose="020F0502020204030204" pitchFamily="34" charset="0"/>
              </a:rPr>
              <a:t>Mask R-CNN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18C2AE-5039-2A33-6E06-AA9C41D57260}"/>
              </a:ext>
            </a:extLst>
          </p:cNvPr>
          <p:cNvSpPr/>
          <p:nvPr/>
        </p:nvSpPr>
        <p:spPr>
          <a:xfrm>
            <a:off x="6273800" y="3835400"/>
            <a:ext cx="1346200" cy="8382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250" b="1">
                <a:solidFill>
                  <a:srgbClr val="1A1A1A"/>
                </a:solidFill>
                <a:latin typeface="Calibri" panose="020F0502020204030204" pitchFamily="34" charset="0"/>
              </a:rPr>
              <a:t>Classifier</a:t>
            </a:r>
          </a:p>
          <a:p>
            <a:pPr algn="ctr"/>
            <a:r>
              <a:rPr lang="en-IN" sz="1100">
                <a:solidFill>
                  <a:srgbClr val="5A5A5A"/>
                </a:solidFill>
                <a:latin typeface="Calibri" panose="020F0502020204030204" pitchFamily="34" charset="0"/>
              </a:rPr>
              <a:t>ResNet-50, 4 cls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D9F94B-A6C3-4729-CE54-D40CF1C34F56}"/>
              </a:ext>
            </a:extLst>
          </p:cNvPr>
          <p:cNvSpPr/>
          <p:nvPr/>
        </p:nvSpPr>
        <p:spPr>
          <a:xfrm>
            <a:off x="7734300" y="3835400"/>
            <a:ext cx="1346200" cy="83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250" b="1">
                <a:solidFill>
                  <a:srgbClr val="1A1A1A"/>
                </a:solidFill>
                <a:latin typeface="Calibri" panose="020F0502020204030204" pitchFamily="34" charset="0"/>
              </a:rPr>
              <a:t>Uncertainty</a:t>
            </a:r>
          </a:p>
          <a:p>
            <a:pPr algn="ctr"/>
            <a:r>
              <a:rPr lang="en-IN" sz="1100">
                <a:solidFill>
                  <a:srgbClr val="5A5A5A"/>
                </a:solidFill>
                <a:latin typeface="Calibri" panose="020F0502020204030204" pitchFamily="34" charset="0"/>
              </a:rPr>
              <a:t>flip-TTA, entropy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746A6CE-9DDF-1BE4-E744-ECCBEE9D018D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16200000" flipH="1">
            <a:off x="4025900" y="-25400"/>
            <a:ext cx="355600" cy="25654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F66C90-67CC-A876-22CA-4F724B04EAEF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486400" y="1079500"/>
            <a:ext cx="0" cy="3556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1C19977-F07E-E23E-10EC-A37067C547E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6591300" y="-25400"/>
            <a:ext cx="355600" cy="25654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A1CEBA9-5490-1946-B22A-E2B384F71CFD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4032250" y="958850"/>
            <a:ext cx="342900" cy="25654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EC396A-5F61-99DC-4944-AA9E33FA85C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486400" y="2070100"/>
            <a:ext cx="0" cy="3429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7ACACB03-208C-54BC-AA3A-4F38842CA58B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16200000" flipH="1">
            <a:off x="6597650" y="958850"/>
            <a:ext cx="342900" cy="25654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F45C16A-D2F9-7A07-D142-3E01A1E34203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4064000" y="2032000"/>
            <a:ext cx="279400" cy="25654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3F05A9D-16DD-F964-75BD-147833C09568}"/>
              </a:ext>
            </a:extLst>
          </p:cNvPr>
          <p:cNvSpPr/>
          <p:nvPr/>
        </p:nvSpPr>
        <p:spPr>
          <a:xfrm>
            <a:off x="9969500" y="317500"/>
            <a:ext cx="2349500" cy="4572000"/>
          </a:xfrm>
          <a:prstGeom prst="rect">
            <a:avLst/>
          </a:prstGeom>
          <a:noFill/>
          <a:ln w="11430" cap="flat" cmpd="sng" algn="ctr">
            <a:solidFill>
              <a:srgbClr val="969696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63500" bIns="38100" rtlCol="0" anchor="t"/>
          <a:lstStyle/>
          <a:p>
            <a:r>
              <a:rPr lang="en-IN" sz="1150" b="1">
                <a:solidFill>
                  <a:srgbClr val="5A5A5A"/>
                </a:solidFill>
                <a:latin typeface="Calibri" panose="020F0502020204030204" pitchFamily="34" charset="0"/>
              </a:rPr>
              <a:t>Storage (local disk)</a:t>
            </a:r>
          </a:p>
        </p:txBody>
      </p:sp>
      <p:sp>
        <p:nvSpPr>
          <p:cNvPr id="27" name="Flowchart: Magnetic Disk 26">
            <a:extLst>
              <a:ext uri="{FF2B5EF4-FFF2-40B4-BE49-F238E27FC236}">
                <a16:creationId xmlns:a16="http://schemas.microsoft.com/office/drawing/2014/main" id="{D8A29480-B52D-9A86-047C-D3E42D52ECA1}"/>
              </a:ext>
            </a:extLst>
          </p:cNvPr>
          <p:cNvSpPr/>
          <p:nvPr/>
        </p:nvSpPr>
        <p:spPr>
          <a:xfrm>
            <a:off x="10160000" y="698500"/>
            <a:ext cx="1968500" cy="7874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250" b="1">
                <a:solidFill>
                  <a:srgbClr val="1A1A1A"/>
                </a:solidFill>
                <a:latin typeface="Calibri" panose="020F0502020204030204" pitchFamily="34" charset="0"/>
              </a:rPr>
              <a:t>SQLite database</a:t>
            </a:r>
          </a:p>
          <a:p>
            <a:pPr algn="ctr"/>
            <a:r>
              <a:rPr lang="en-IN" sz="1100">
                <a:solidFill>
                  <a:srgbClr val="5A5A5A"/>
                </a:solidFill>
                <a:latin typeface="Calibri" panose="020F0502020204030204" pitchFamily="34" charset="0"/>
              </a:rPr>
              <a:t>analyses, reports, reviews</a:t>
            </a:r>
          </a:p>
        </p:txBody>
      </p: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90D249F0-9159-F220-FC60-CC6EA71CF248}"/>
              </a:ext>
            </a:extLst>
          </p:cNvPr>
          <p:cNvSpPr/>
          <p:nvPr/>
        </p:nvSpPr>
        <p:spPr>
          <a:xfrm>
            <a:off x="10160000" y="1714500"/>
            <a:ext cx="1968500" cy="7874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Checkpoints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4 models + sidecars, SHA-256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Flowchart: Magnetic Disk 28">
            <a:extLst>
              <a:ext uri="{FF2B5EF4-FFF2-40B4-BE49-F238E27FC236}">
                <a16:creationId xmlns:a16="http://schemas.microsoft.com/office/drawing/2014/main" id="{AD66983E-F74D-C813-302E-334FFCFE5F39}"/>
              </a:ext>
            </a:extLst>
          </p:cNvPr>
          <p:cNvSpPr/>
          <p:nvPr/>
        </p:nvSpPr>
        <p:spPr>
          <a:xfrm>
            <a:off x="10160000" y="2730500"/>
            <a:ext cx="1968500" cy="7874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fr-FR" sz="1250" b="1">
                <a:solidFill>
                  <a:srgbClr val="1A1A1A"/>
                </a:solidFill>
                <a:latin typeface="Calibri" panose="020F0502020204030204" pitchFamily="34" charset="0"/>
              </a:rPr>
              <a:t>DENTEX images</a:t>
            </a:r>
          </a:p>
          <a:p>
            <a:pPr algn="ctr"/>
            <a:r>
              <a:rPr lang="fr-FR" sz="1100">
                <a:solidFill>
                  <a:srgbClr val="5A5A5A"/>
                </a:solidFill>
                <a:latin typeface="Calibri" panose="020F0502020204030204" pitchFamily="34" charset="0"/>
              </a:rPr>
              <a:t>manifest + split file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Flowchart: Magnetic Disk 29">
            <a:extLst>
              <a:ext uri="{FF2B5EF4-FFF2-40B4-BE49-F238E27FC236}">
                <a16:creationId xmlns:a16="http://schemas.microsoft.com/office/drawing/2014/main" id="{860B4593-FC44-784D-EC91-EF3146F57D8A}"/>
              </a:ext>
            </a:extLst>
          </p:cNvPr>
          <p:cNvSpPr/>
          <p:nvPr/>
        </p:nvSpPr>
        <p:spPr>
          <a:xfrm>
            <a:off x="10160000" y="3746500"/>
            <a:ext cx="1968500" cy="7874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Evaluation reports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JSON / MD + test ledger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7074ECF-B06B-2981-616A-F39C96284E44}"/>
              </a:ext>
            </a:extLst>
          </p:cNvPr>
          <p:cNvCxnSpPr>
            <a:cxnSpLocks/>
            <a:stCxn id="12" idx="3"/>
            <a:endCxn id="27" idx="2"/>
          </p:cNvCxnSpPr>
          <p:nvPr/>
        </p:nvCxnSpPr>
        <p:spPr>
          <a:xfrm flipV="1">
            <a:off x="9194800" y="1092200"/>
            <a:ext cx="965200" cy="17018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2FD1121-3D01-83C7-0BB1-C08AC507289F}"/>
              </a:ext>
            </a:extLst>
          </p:cNvPr>
          <p:cNvCxnSpPr>
            <a:cxnSpLocks/>
            <a:stCxn id="13" idx="3"/>
            <a:endCxn id="28" idx="2"/>
          </p:cNvCxnSpPr>
          <p:nvPr/>
        </p:nvCxnSpPr>
        <p:spPr>
          <a:xfrm flipV="1">
            <a:off x="9194800" y="2108200"/>
            <a:ext cx="965200" cy="20574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59A0534-FF1B-B5BD-06F9-C58C68B172F4}"/>
              </a:ext>
            </a:extLst>
          </p:cNvPr>
          <p:cNvSpPr txBox="1"/>
          <p:nvPr/>
        </p:nvSpPr>
        <p:spPr>
          <a:xfrm>
            <a:off x="127000" y="5143500"/>
            <a:ext cx="12192000" cy="92333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noAutofit/>
          </a:bodyPr>
          <a:lstStyle/>
          <a:p>
            <a:r>
              <a:rPr lang="en-US" sz="1200">
                <a:solidFill>
                  <a:srgbClr val="5A5A5A"/>
                </a:solidFill>
                <a:latin typeface="Calibri" panose="020F0502020204030204" pitchFamily="34" charset="0"/>
              </a:rPr>
              <a:t>Grey boxes are trained networks; white boxes are ordinary code. Everything runs on one machine and the API listens only on the loopback address. An optional OpenAI-compatible LLM path for report wording exists in code but is not configured, so all drafts in this project come from the deterministic template.</a:t>
            </a:r>
            <a:endParaRPr lang="en-IN" sz="12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3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73CFF4-8372-C4DD-6893-A7D46AB1662C}"/>
              </a:ext>
            </a:extLst>
          </p:cNvPr>
          <p:cNvSpPr/>
          <p:nvPr/>
        </p:nvSpPr>
        <p:spPr>
          <a:xfrm>
            <a:off x="203200" y="5080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1  Input radiograph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upload or test image (PNG/JPEG)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14F0AF-5CC1-5E2A-CB34-8EDC9F2BFDDD}"/>
              </a:ext>
            </a:extLst>
          </p:cNvPr>
          <p:cNvSpPr/>
          <p:nvPr/>
        </p:nvSpPr>
        <p:spPr>
          <a:xfrm>
            <a:off x="2260600" y="5080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2  Pre-processing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load grayscale → 3-channel tensor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568817-4485-528D-9619-7F025DC2BA31}"/>
              </a:ext>
            </a:extLst>
          </p:cNvPr>
          <p:cNvSpPr/>
          <p:nvPr/>
        </p:nvSpPr>
        <p:spPr>
          <a:xfrm>
            <a:off x="4318000" y="5080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3  Tooth detection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Faster R-CNN, score ≥ 0.3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0685CC-2AC4-9225-011C-F9E1D4EA5443}"/>
              </a:ext>
            </a:extLst>
          </p:cNvPr>
          <p:cNvSpPr/>
          <p:nvPr/>
        </p:nvSpPr>
        <p:spPr>
          <a:xfrm>
            <a:off x="6375400" y="5080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4  FDI numbering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Faster R-CNN, matched at IoU ≥ 0.5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365999-1C64-261F-EA58-D22EDAE97D2B}"/>
              </a:ext>
            </a:extLst>
          </p:cNvPr>
          <p:cNvSpPr/>
          <p:nvPr/>
        </p:nvSpPr>
        <p:spPr>
          <a:xfrm>
            <a:off x="8432800" y="5080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5  Tooth segmentation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Mask R-CNN outline per tooth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C9FD72-F8D9-CEEC-E80C-A6FF6906E048}"/>
              </a:ext>
            </a:extLst>
          </p:cNvPr>
          <p:cNvSpPr/>
          <p:nvPr/>
        </p:nvSpPr>
        <p:spPr>
          <a:xfrm>
            <a:off x="10490200" y="5080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6  Tooth crops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box + 10 % padding, 224 px, ImageNet norm.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8622AD-2C71-CE9A-9058-CA17E9FA7061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1981200" y="10922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3880D9-F77B-40F5-0B35-5C25B666AE3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038600" y="10922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0ADAF3-D7BD-C658-A99E-2B137966584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096000" y="10922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10A0C5-2F1B-C406-2033-16141218988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153400" y="10922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1EDCCD-005C-C836-6C2F-7C49E837F0E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0210800" y="10922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F36FC6-0BAB-DE22-ED54-07D7868B067A}"/>
              </a:ext>
            </a:extLst>
          </p:cNvPr>
          <p:cNvSpPr/>
          <p:nvPr/>
        </p:nvSpPr>
        <p:spPr>
          <a:xfrm>
            <a:off x="10490200" y="28575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7  Finding classifier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ResNet-50, 4 classes, argmax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9FBB45-0649-42E2-3A20-456A95491904}"/>
              </a:ext>
            </a:extLst>
          </p:cNvPr>
          <p:cNvSpPr/>
          <p:nvPr/>
        </p:nvSpPr>
        <p:spPr>
          <a:xfrm>
            <a:off x="8432800" y="28575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8  Uncertainty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flip-TTA disagreement, normalised entropy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D75D6F-F266-3741-DC46-9660A60013C4}"/>
              </a:ext>
            </a:extLst>
          </p:cNvPr>
          <p:cNvSpPr/>
          <p:nvPr/>
        </p:nvSpPr>
        <p:spPr>
          <a:xfrm>
            <a:off x="6375400" y="28575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fr-FR" sz="1300" b="1">
                <a:solidFill>
                  <a:srgbClr val="1A1A1A"/>
                </a:solidFill>
                <a:latin typeface="Calibri" panose="020F0502020204030204" pitchFamily="34" charset="0"/>
              </a:rPr>
              <a:t>9  Flags &amp; abstention</a:t>
            </a:r>
          </a:p>
          <a:p>
            <a:pPr algn="ctr"/>
            <a:r>
              <a:rPr lang="fr-FR" sz="1150">
                <a:solidFill>
                  <a:srgbClr val="5A5A5A"/>
                </a:solidFill>
                <a:latin typeface="Calibri" panose="020F0502020204030204" pitchFamily="34" charset="0"/>
              </a:rPr>
              <a:t>entropy ≥ 0.397 → 'no reliable class'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630D77-66BA-4D85-097F-ABAC71FBBE31}"/>
              </a:ext>
            </a:extLst>
          </p:cNvPr>
          <p:cNvSpPr/>
          <p:nvPr/>
        </p:nvSpPr>
        <p:spPr>
          <a:xfrm>
            <a:off x="4318000" y="28575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10  Draft report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evidence → template (EN/HI/MR) → validator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DAFD4DC-3A1B-07B0-890D-8885DD19A105}"/>
              </a:ext>
            </a:extLst>
          </p:cNvPr>
          <p:cNvSpPr/>
          <p:nvPr/>
        </p:nvSpPr>
        <p:spPr>
          <a:xfrm>
            <a:off x="2260600" y="28575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11  Human review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confirm / correct / reject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C5A7DF-7E05-F626-1C18-E24B779273ED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11379200" y="1676400"/>
            <a:ext cx="0" cy="11811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3D8081-3D84-AEE4-A21E-B16AE2C3AB40}"/>
              </a:ext>
            </a:extLst>
          </p:cNvPr>
          <p:cNvCxnSpPr>
            <a:cxnSpLocks/>
            <a:stCxn id="13" idx="1"/>
            <a:endCxn id="14" idx="3"/>
          </p:cNvCxnSpPr>
          <p:nvPr/>
        </p:nvCxnSpPr>
        <p:spPr>
          <a:xfrm flipH="1">
            <a:off x="10210800" y="34417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F3B425-36B0-966D-764B-07256E7A6616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flipH="1">
            <a:off x="8153400" y="34417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49C215-6A0D-C587-6CF2-CBF3F28DFB2E}"/>
              </a:ext>
            </a:extLst>
          </p:cNvPr>
          <p:cNvCxnSpPr>
            <a:cxnSpLocks/>
            <a:stCxn id="15" idx="1"/>
            <a:endCxn id="16" idx="3"/>
          </p:cNvCxnSpPr>
          <p:nvPr/>
        </p:nvCxnSpPr>
        <p:spPr>
          <a:xfrm flipH="1">
            <a:off x="6096000" y="34417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E4C4CE-3D6C-67BF-0D54-5DDCDE025C5C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>
            <a:off x="4038600" y="34417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C50BAB1-12B0-8F97-57CC-9CBF9AABAFCC}"/>
              </a:ext>
            </a:extLst>
          </p:cNvPr>
          <p:cNvSpPr/>
          <p:nvPr/>
        </p:nvSpPr>
        <p:spPr>
          <a:xfrm>
            <a:off x="203200" y="2857500"/>
            <a:ext cx="1778000" cy="1168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Per-region output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box, FDI number, outline, closest class + raw score, flags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4CA6F6-7604-6475-741D-16350A4FF9AB}"/>
              </a:ext>
            </a:extLst>
          </p:cNvPr>
          <p:cNvCxnSpPr>
            <a:cxnSpLocks/>
            <a:stCxn id="17" idx="1"/>
            <a:endCxn id="23" idx="3"/>
          </p:cNvCxnSpPr>
          <p:nvPr/>
        </p:nvCxnSpPr>
        <p:spPr>
          <a:xfrm flipH="1">
            <a:off x="1981200" y="3441700"/>
            <a:ext cx="279400" cy="0"/>
          </a:xfrm>
          <a:prstGeom prst="straightConnector1">
            <a:avLst/>
          </a:prstGeom>
          <a:ln w="15875">
            <a:solidFill>
              <a:srgbClr val="404040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815B1DF-356A-278B-DDB2-BFD1BBC3C67A}"/>
              </a:ext>
            </a:extLst>
          </p:cNvPr>
          <p:cNvSpPr txBox="1"/>
          <p:nvPr/>
        </p:nvSpPr>
        <p:spPr>
          <a:xfrm>
            <a:off x="203200" y="4381500"/>
            <a:ext cx="12039600" cy="1200329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noAutofit/>
          </a:bodyPr>
          <a:lstStyle/>
          <a:p>
            <a:r>
              <a:rPr lang="en-US" sz="1250">
                <a:solidFill>
                  <a:srgbClr val="5A5A5A"/>
                </a:solidFill>
                <a:latin typeface="Calibri" panose="020F0502020204030204" pitchFamily="34" charset="0"/>
              </a:rPr>
              <a:t>Order of operations as implemented in backend/services/pipeline.py. Thresholds: detection score 0.3 (boxes below 0.5 are flagged as weak detections); abstention when normalised entropy ≥ 0.3966, chosen by Youden's J on the calibration split; flip-instability flag when TTA disagreement ≥ 0.0762. The classifier has no healthy class, so every detected tooth receives its closest of four findings; the system therefore presents a candidate for review, never a diagnosis.</a:t>
            </a:r>
            <a:endParaRPr lang="en-IN" sz="12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79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Magnetic Disk 1">
            <a:extLst>
              <a:ext uri="{FF2B5EF4-FFF2-40B4-BE49-F238E27FC236}">
                <a16:creationId xmlns:a16="http://schemas.microsoft.com/office/drawing/2014/main" id="{828E7C2A-8408-9D20-F492-75649B69B842}"/>
              </a:ext>
            </a:extLst>
          </p:cNvPr>
          <p:cNvSpPr/>
          <p:nvPr/>
        </p:nvSpPr>
        <p:spPr>
          <a:xfrm>
            <a:off x="254000" y="254000"/>
            <a:ext cx="2590800" cy="8890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DENTEX archives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3,653 PNG files in 5 folders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566F34-2E18-4E5F-9C72-20F663813782}"/>
              </a:ext>
            </a:extLst>
          </p:cNvPr>
          <p:cNvSpPr/>
          <p:nvPr/>
        </p:nvSpPr>
        <p:spPr>
          <a:xfrm>
            <a:off x="3352800" y="254000"/>
            <a:ext cx="2590800" cy="88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Dataset audit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pixel hashing → 2,716 unique films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17D251-C5C5-9C64-943E-A50EAA386D42}"/>
              </a:ext>
            </a:extLst>
          </p:cNvPr>
          <p:cNvSpPr/>
          <p:nvPr/>
        </p:nvSpPr>
        <p:spPr>
          <a:xfrm>
            <a:off x="6451600" y="254000"/>
            <a:ext cx="2590800" cy="88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Duplicate-aware split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1,133 annotated radiographs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92811C-81B0-22AA-F0E6-191800F12E53}"/>
              </a:ext>
            </a:extLst>
          </p:cNvPr>
          <p:cNvSpPr/>
          <p:nvPr/>
        </p:nvSpPr>
        <p:spPr>
          <a:xfrm>
            <a:off x="9550400" y="254000"/>
            <a:ext cx="2590800" cy="88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Leakage check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18 checks: 17 pass, 1 warning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24A3CC-CE97-76F3-05AC-892E42C8CE74}"/>
              </a:ext>
            </a:extLst>
          </p:cNvPr>
          <p:cNvCxnSpPr>
            <a:cxnSpLocks/>
            <a:stCxn id="2" idx="4"/>
            <a:endCxn id="3" idx="1"/>
          </p:cNvCxnSpPr>
          <p:nvPr/>
        </p:nvCxnSpPr>
        <p:spPr>
          <a:xfrm>
            <a:off x="2844800" y="698500"/>
            <a:ext cx="5080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2013C1-0917-015D-E3BD-AB1F5D53DD2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5943600" y="698500"/>
            <a:ext cx="5080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A95550-C365-9F7F-7A7B-1098A18CB72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9042400" y="698500"/>
            <a:ext cx="5080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914547D5-6E33-4E9E-714D-E955AB3E443A}"/>
              </a:ext>
            </a:extLst>
          </p:cNvPr>
          <p:cNvSpPr/>
          <p:nvPr/>
        </p:nvSpPr>
        <p:spPr>
          <a:xfrm>
            <a:off x="254000" y="1778000"/>
            <a:ext cx="2540000" cy="7112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Train split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794 radiographs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A9FC09DA-B00A-F5A9-1FAB-6C107BDA1F45}"/>
              </a:ext>
            </a:extLst>
          </p:cNvPr>
          <p:cNvSpPr/>
          <p:nvPr/>
        </p:nvSpPr>
        <p:spPr>
          <a:xfrm>
            <a:off x="3429000" y="1778000"/>
            <a:ext cx="2540000" cy="7112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Validation split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113 radiographs</a:t>
            </a:r>
          </a:p>
        </p:txBody>
      </p:sp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2E6F6D0D-2772-8F2A-67FD-939BE834FAF9}"/>
              </a:ext>
            </a:extLst>
          </p:cNvPr>
          <p:cNvSpPr/>
          <p:nvPr/>
        </p:nvSpPr>
        <p:spPr>
          <a:xfrm>
            <a:off x="6604000" y="1778000"/>
            <a:ext cx="2540000" cy="7112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Calibration split</a:t>
            </a:r>
          </a:p>
          <a:p>
            <a:pPr algn="ctr"/>
            <a:r>
              <a:rPr lang="en-IN" sz="1150">
                <a:solidFill>
                  <a:srgbClr val="5A5A5A"/>
                </a:solidFill>
                <a:latin typeface="Calibri" panose="020F0502020204030204" pitchFamily="34" charset="0"/>
              </a:rPr>
              <a:t>113 radiographs</a:t>
            </a:r>
          </a:p>
        </p:txBody>
      </p: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E6299DDC-EA92-0D3F-2A91-C4F6F2BF9E9A}"/>
              </a:ext>
            </a:extLst>
          </p:cNvPr>
          <p:cNvSpPr/>
          <p:nvPr/>
        </p:nvSpPr>
        <p:spPr>
          <a:xfrm>
            <a:off x="9779000" y="1778000"/>
            <a:ext cx="2540000" cy="711200"/>
          </a:xfrm>
          <a:prstGeom prst="flowChartMagneticDisk">
            <a:avLst/>
          </a:prstGeom>
          <a:solidFill>
            <a:srgbClr val="F5F5F5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Test split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113 radiographs, ledger-gated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212F337-8C5A-7188-DDB8-1FB52F8F397E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rot="5400000">
            <a:off x="5867400" y="-3200400"/>
            <a:ext cx="635000" cy="93218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A7DD878-8B19-264D-820E-B43050364799}"/>
              </a:ext>
            </a:extLst>
          </p:cNvPr>
          <p:cNvCxnSpPr>
            <a:cxnSpLocks/>
            <a:stCxn id="5" idx="2"/>
            <a:endCxn id="10" idx="1"/>
          </p:cNvCxnSpPr>
          <p:nvPr/>
        </p:nvCxnSpPr>
        <p:spPr>
          <a:xfrm rot="5400000">
            <a:off x="7454900" y="-1612900"/>
            <a:ext cx="635000" cy="61468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CB13F2D-C02A-1909-E147-CDB47FD490CF}"/>
              </a:ext>
            </a:extLst>
          </p:cNvPr>
          <p:cNvCxnSpPr>
            <a:cxnSpLocks/>
            <a:stCxn id="5" idx="2"/>
            <a:endCxn id="11" idx="1"/>
          </p:cNvCxnSpPr>
          <p:nvPr/>
        </p:nvCxnSpPr>
        <p:spPr>
          <a:xfrm rot="5400000">
            <a:off x="9042400" y="-25400"/>
            <a:ext cx="635000" cy="29718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A4F80AE-C84D-2970-BA68-805505C34D64}"/>
              </a:ext>
            </a:extLst>
          </p:cNvPr>
          <p:cNvCxnSpPr>
            <a:cxnSpLocks/>
            <a:stCxn id="5" idx="2"/>
            <a:endCxn id="12" idx="1"/>
          </p:cNvCxnSpPr>
          <p:nvPr/>
        </p:nvCxnSpPr>
        <p:spPr>
          <a:xfrm rot="16200000" flipH="1">
            <a:off x="10629900" y="1358900"/>
            <a:ext cx="635000" cy="2032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C634B2-7B00-7380-289A-B883FC7B65F5}"/>
              </a:ext>
            </a:extLst>
          </p:cNvPr>
          <p:cNvSpPr/>
          <p:nvPr/>
        </p:nvSpPr>
        <p:spPr>
          <a:xfrm>
            <a:off x="254000" y="31750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Training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AdamW, cosine LR, AMP; manifest with data + code hashes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E90312-0FB9-BCB1-DB51-2E97C40E5E22}"/>
              </a:ext>
            </a:extLst>
          </p:cNvPr>
          <p:cNvSpPr/>
          <p:nvPr/>
        </p:nvSpPr>
        <p:spPr>
          <a:xfrm>
            <a:off x="3429000" y="31750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Selection &amp; comparison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best epoch; 5-seed runs; pre-registered rule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16B8858-E80B-C9EC-A373-AB0AAD1BA0D4}"/>
              </a:ext>
            </a:extLst>
          </p:cNvPr>
          <p:cNvSpPr/>
          <p:nvPr/>
        </p:nvSpPr>
        <p:spPr>
          <a:xfrm>
            <a:off x="6604000" y="31750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Uncertainty thresholds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Youden's J; temperature fit (not applied)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67968F8-6C19-E948-1715-701E6650A942}"/>
              </a:ext>
            </a:extLst>
          </p:cNvPr>
          <p:cNvSpPr/>
          <p:nvPr/>
        </p:nvSpPr>
        <p:spPr>
          <a:xfrm>
            <a:off x="9779000" y="31750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Historical test report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once per checkpoint, hash-chained ledger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620C5E-2A21-6E74-9F3A-BF80082A3A09}"/>
              </a:ext>
            </a:extLst>
          </p:cNvPr>
          <p:cNvCxnSpPr>
            <a:cxnSpLocks/>
            <a:stCxn id="9" idx="3"/>
            <a:endCxn id="17" idx="0"/>
          </p:cNvCxnSpPr>
          <p:nvPr/>
        </p:nvCxnSpPr>
        <p:spPr>
          <a:xfrm>
            <a:off x="1524000" y="2489200"/>
            <a:ext cx="0" cy="6858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3DBF2E-AB07-F8C7-2413-E0CCA0DA0FE4}"/>
              </a:ext>
            </a:extLst>
          </p:cNvPr>
          <p:cNvCxnSpPr>
            <a:cxnSpLocks/>
            <a:stCxn id="10" idx="3"/>
            <a:endCxn id="18" idx="0"/>
          </p:cNvCxnSpPr>
          <p:nvPr/>
        </p:nvCxnSpPr>
        <p:spPr>
          <a:xfrm>
            <a:off x="4699000" y="2489200"/>
            <a:ext cx="0" cy="6858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799CA1-5FA7-20DA-40FE-C694C887E8C5}"/>
              </a:ext>
            </a:extLst>
          </p:cNvPr>
          <p:cNvCxnSpPr>
            <a:cxnSpLocks/>
            <a:stCxn id="11" idx="3"/>
            <a:endCxn id="19" idx="0"/>
          </p:cNvCxnSpPr>
          <p:nvPr/>
        </p:nvCxnSpPr>
        <p:spPr>
          <a:xfrm>
            <a:off x="7874000" y="2489200"/>
            <a:ext cx="0" cy="6858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F5AB09-C190-9234-F3A2-A02E83F3DB40}"/>
              </a:ext>
            </a:extLst>
          </p:cNvPr>
          <p:cNvCxnSpPr>
            <a:cxnSpLocks/>
            <a:stCxn id="12" idx="3"/>
            <a:endCxn id="20" idx="0"/>
          </p:cNvCxnSpPr>
          <p:nvPr/>
        </p:nvCxnSpPr>
        <p:spPr>
          <a:xfrm>
            <a:off x="11049000" y="2489200"/>
            <a:ext cx="0" cy="6858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5A4BC3-9710-74EC-7D78-5EA3F7F2C89F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2794000" y="3683000"/>
            <a:ext cx="6350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5C4C7D-2AF7-11EB-BEFA-A26965506D8D}"/>
              </a:ext>
            </a:extLst>
          </p:cNvPr>
          <p:cNvSpPr/>
          <p:nvPr/>
        </p:nvSpPr>
        <p:spPr>
          <a:xfrm>
            <a:off x="3429000" y="4699000"/>
            <a:ext cx="571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1A1A1A"/>
                </a:solidFill>
                <a:latin typeface="Calibri" panose="020F0502020204030204" pitchFamily="34" charset="0"/>
              </a:rPr>
              <a:t>Promotion gate (human decision)</a:t>
            </a:r>
          </a:p>
          <a:p>
            <a:pPr algn="ctr"/>
            <a:r>
              <a:rPr lang="en-US" sz="1150">
                <a:solidFill>
                  <a:srgbClr val="5A5A5A"/>
                </a:solidFill>
                <a:latin typeface="Calibri" panose="020F0502020204030204" pitchFamily="34" charset="0"/>
              </a:rPr>
              <a:t>needs a validation report + written justification; recorded with rollback</a:t>
            </a:r>
            <a:endParaRPr lang="en-IN" sz="11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EA6D0E0-22EB-7BC8-A40B-1B3B9314C438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 rot="16200000" flipH="1">
            <a:off x="5238750" y="3651250"/>
            <a:ext cx="508000" cy="15875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D857EE-9BB5-53CC-373A-88A943BBC859}"/>
              </a:ext>
            </a:extLst>
          </p:cNvPr>
          <p:cNvSpPr/>
          <p:nvPr/>
        </p:nvSpPr>
        <p:spPr>
          <a:xfrm>
            <a:off x="9779000" y="4699000"/>
            <a:ext cx="2540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00">
                <a:solidFill>
                  <a:srgbClr val="1A1A1A"/>
                </a:solidFill>
                <a:latin typeface="Calibri" panose="020F0502020204030204" pitchFamily="34" charset="0"/>
              </a:rPr>
              <a:t>Never used for model selection, thresholds or promotion</a:t>
            </a:r>
            <a:endParaRPr lang="en-IN" sz="1200">
              <a:solidFill>
                <a:srgbClr val="1A1A1A"/>
              </a:solidFill>
              <a:latin typeface="Calibri" panose="020F050202020403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1CBBBEE-6B33-593A-DE54-D899CD4501F8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>
            <a:off x="11049000" y="4191000"/>
            <a:ext cx="0" cy="508000"/>
          </a:xfrm>
          <a:prstGeom prst="straightConnector1">
            <a:avLst/>
          </a:prstGeom>
          <a:ln w="15875">
            <a:solidFill>
              <a:srgbClr val="404040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8FBDB23-2E23-950B-5CAB-E6AB4EF72995}"/>
              </a:ext>
            </a:extLst>
          </p:cNvPr>
          <p:cNvSpPr/>
          <p:nvPr/>
        </p:nvSpPr>
        <p:spPr>
          <a:xfrm>
            <a:off x="254000" y="4699000"/>
            <a:ext cx="2540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00">
                <a:solidFill>
                  <a:srgbClr val="1A1A1A"/>
                </a:solidFill>
                <a:latin typeface="Calibri" panose="020F0502020204030204" pitchFamily="34" charset="0"/>
              </a:rPr>
              <a:t>All splits are assigned per unique radiograph, so duplicate files never cross splits.</a:t>
            </a:r>
            <a:endParaRPr lang="en-IN" sz="1200">
              <a:solidFill>
                <a:srgbClr val="1A1A1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693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4ED0BB-19CC-5338-8248-DCF5072681EE}"/>
              </a:ext>
            </a:extLst>
          </p:cNvPr>
          <p:cNvSpPr/>
          <p:nvPr/>
        </p:nvSpPr>
        <p:spPr>
          <a:xfrm>
            <a:off x="254000" y="1333500"/>
            <a:ext cx="22225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AI output per region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box, FDI number, closest class + score, flags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9B704C1C-7A1F-BC4B-D06D-92511F550F5E}"/>
              </a:ext>
            </a:extLst>
          </p:cNvPr>
          <p:cNvSpPr/>
          <p:nvPr/>
        </p:nvSpPr>
        <p:spPr>
          <a:xfrm>
            <a:off x="2984500" y="1168400"/>
            <a:ext cx="2159000" cy="1397000"/>
          </a:xfrm>
          <a:prstGeom prst="diamond">
            <a:avLst/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300" b="1">
                <a:solidFill>
                  <a:srgbClr val="1A1A1A"/>
                </a:solidFill>
                <a:latin typeface="Calibri" panose="020F0502020204030204" pitchFamily="34" charset="0"/>
              </a:rPr>
              <a:t>Any flag?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1537BD-4949-1453-91D3-62D7BDB8D152}"/>
              </a:ext>
            </a:extLst>
          </p:cNvPr>
          <p:cNvSpPr/>
          <p:nvPr/>
        </p:nvSpPr>
        <p:spPr>
          <a:xfrm>
            <a:off x="5715000" y="355600"/>
            <a:ext cx="25400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Needs review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abstained, weak detection, unstable, unnumbered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1A93FF-1559-74BE-3EE5-CC7EE3F1CCFF}"/>
              </a:ext>
            </a:extLst>
          </p:cNvPr>
          <p:cNvSpPr/>
          <p:nvPr/>
        </p:nvSpPr>
        <p:spPr>
          <a:xfrm>
            <a:off x="5715000" y="2311400"/>
            <a:ext cx="25400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No flag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shown in the table, still open to review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7133AC-C0E3-677A-6141-18172B9E7A0D}"/>
              </a:ext>
            </a:extLst>
          </p:cNvPr>
          <p:cNvSpPr/>
          <p:nvPr/>
        </p:nvSpPr>
        <p:spPr>
          <a:xfrm>
            <a:off x="8890000" y="1104900"/>
            <a:ext cx="3302000" cy="152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Reviewer decision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confirm · correct class · reject · set tooth number · mark unassigned · specialist review · unusable image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B245E3-9B91-FFA6-A977-0D2CD6544C9A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476500" y="1866900"/>
            <a:ext cx="5080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37072D5-D1E0-3B8F-E2E1-51725F07D23F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4749800" y="203200"/>
            <a:ext cx="279400" cy="1651000"/>
          </a:xfrm>
          <a:prstGeom prst="bentConnector2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51F2AD2-6336-CA64-1C2E-F3A8D36593CD}"/>
              </a:ext>
            </a:extLst>
          </p:cNvPr>
          <p:cNvCxnSpPr>
            <a:cxnSpLocks/>
            <a:stCxn id="3" idx="2"/>
            <a:endCxn id="5" idx="1"/>
          </p:cNvCxnSpPr>
          <p:nvPr/>
        </p:nvCxnSpPr>
        <p:spPr>
          <a:xfrm rot="16200000" flipH="1">
            <a:off x="4749800" y="1879600"/>
            <a:ext cx="279400" cy="1651000"/>
          </a:xfrm>
          <a:prstGeom prst="bentConnector2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A7FBB2-241C-42B9-AFD3-5B29CCA06BAD}"/>
              </a:ext>
            </a:extLst>
          </p:cNvPr>
          <p:cNvSpPr txBox="1"/>
          <p:nvPr/>
        </p:nvSpPr>
        <p:spPr>
          <a:xfrm>
            <a:off x="4318000" y="584200"/>
            <a:ext cx="635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noAutofit/>
          </a:bodyPr>
          <a:lstStyle/>
          <a:p>
            <a:r>
              <a:rPr lang="en-IN" sz="1200" b="1">
                <a:solidFill>
                  <a:srgbClr val="5A5A5A"/>
                </a:solidFill>
                <a:latin typeface="Calibri" panose="020F0502020204030204" pitchFamily="34" charset="0"/>
              </a:rPr>
              <a:t>yes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075A43-F34B-DD94-5178-34D83F1BEADC}"/>
              </a:ext>
            </a:extLst>
          </p:cNvPr>
          <p:cNvSpPr txBox="1"/>
          <p:nvPr/>
        </p:nvSpPr>
        <p:spPr>
          <a:xfrm>
            <a:off x="4140200" y="2616200"/>
            <a:ext cx="635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noAutofit/>
          </a:bodyPr>
          <a:lstStyle/>
          <a:p>
            <a:r>
              <a:rPr lang="en-IN" sz="1200" b="1">
                <a:solidFill>
                  <a:srgbClr val="5A5A5A"/>
                </a:solidFill>
                <a:latin typeface="Calibri" panose="020F0502020204030204" pitchFamily="34" charset="0"/>
              </a:rPr>
              <a:t>no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2915120-3834-FCE8-FE83-8E5602997D5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8255000" y="889000"/>
            <a:ext cx="635000" cy="9779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FCDFCDE-4CCA-5F91-394D-07727337C8A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8255000" y="1866900"/>
            <a:ext cx="635000" cy="977900"/>
          </a:xfrm>
          <a:prstGeom prst="bentConnector3">
            <a:avLst>
              <a:gd name="adj1" fmla="val 50000"/>
            </a:avLst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B0BC1FB-2AB4-09E1-B408-D1D7A97ACC42}"/>
              </a:ext>
            </a:extLst>
          </p:cNvPr>
          <p:cNvSpPr/>
          <p:nvPr/>
        </p:nvSpPr>
        <p:spPr>
          <a:xfrm>
            <a:off x="8890000" y="3022600"/>
            <a:ext cx="33020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Review record (SQLite)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revisioned; previous output kept; reviewer + self-declared role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4EE3F1-DB3E-BFF9-551F-3C39727FAB32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10541000" y="2628900"/>
            <a:ext cx="0" cy="3937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C4E7A1F-5779-5618-519A-2E566CEE371A}"/>
              </a:ext>
            </a:extLst>
          </p:cNvPr>
          <p:cNvSpPr/>
          <p:nvPr/>
        </p:nvSpPr>
        <p:spPr>
          <a:xfrm>
            <a:off x="8890000" y="4089400"/>
            <a:ext cx="33020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Approval by a second person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approved or rejected; identical resubmission refused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18EEB4-33D0-53BA-90AC-E7E4075CF828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10541000" y="3810000"/>
            <a:ext cx="0" cy="27940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4849E5-CD25-019D-D906-3C116263F7AB}"/>
              </a:ext>
            </a:extLst>
          </p:cNvPr>
          <p:cNvSpPr/>
          <p:nvPr/>
        </p:nvSpPr>
        <p:spPr>
          <a:xfrm>
            <a:off x="4826000" y="4089400"/>
            <a:ext cx="34290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Report draft marked 'reviewed'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the clinician stays responsible for any diagnosis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2AE4C9-EE36-25EE-BCE9-63586A18E890}"/>
              </a:ext>
            </a:extLst>
          </p:cNvPr>
          <p:cNvSpPr/>
          <p:nvPr/>
        </p:nvSpPr>
        <p:spPr>
          <a:xfrm>
            <a:off x="4826000" y="5105400"/>
            <a:ext cx="34290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1A1A1A"/>
                </a:solidFill>
                <a:latin typeface="Calibri" panose="020F0502020204030204" pitchFamily="34" charset="0"/>
              </a:rPr>
              <a:t>Training-eligibility check</a:t>
            </a:r>
          </a:p>
          <a:p>
            <a:pPr algn="ctr"/>
            <a:r>
              <a:rPr lang="en-US" sz="1100">
                <a:solidFill>
                  <a:srgbClr val="5A5A5A"/>
                </a:solidFill>
                <a:latin typeface="Calibri" panose="020F0502020204030204" pitchFamily="34" charset="0"/>
              </a:rPr>
              <a:t>only unassigned images, never a copy of a labelled film</a:t>
            </a:r>
            <a:endParaRPr lang="en-IN" sz="11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332204-F224-A315-849C-5AD49EEFD496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flipH="1">
            <a:off x="8255000" y="4483100"/>
            <a:ext cx="6350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A920DF6-B206-6E47-3BFB-C0DF03FB019C}"/>
              </a:ext>
            </a:extLst>
          </p:cNvPr>
          <p:cNvCxnSpPr>
            <a:cxnSpLocks/>
            <a:stCxn id="16" idx="2"/>
            <a:endCxn id="19" idx="3"/>
          </p:cNvCxnSpPr>
          <p:nvPr/>
        </p:nvCxnSpPr>
        <p:spPr>
          <a:xfrm rot="5400000">
            <a:off x="9086850" y="4044950"/>
            <a:ext cx="622300" cy="2286000"/>
          </a:xfrm>
          <a:prstGeom prst="bentConnector2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88BC4E-B915-5FDC-4AC6-96990B443EDE}"/>
              </a:ext>
            </a:extLst>
          </p:cNvPr>
          <p:cNvSpPr/>
          <p:nvPr/>
        </p:nvSpPr>
        <p:spPr>
          <a:xfrm>
            <a:off x="254000" y="5105400"/>
            <a:ext cx="3937000" cy="787400"/>
          </a:xfrm>
          <a:prstGeom prst="roundRect">
            <a:avLst>
              <a:gd name="adj" fmla="val 12000"/>
            </a:avLst>
          </a:prstGeom>
          <a:solidFill>
            <a:srgbClr val="E2E2E2"/>
          </a:solidFill>
          <a:ln w="1397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IN" sz="1250" b="1">
                <a:solidFill>
                  <a:srgbClr val="1A1A1A"/>
                </a:solidFill>
                <a:latin typeface="Calibri" panose="020F0502020204030204" pitchFamily="34" charset="0"/>
              </a:rPr>
              <a:t>Candidate model</a:t>
            </a:r>
          </a:p>
          <a:p>
            <a:pPr algn="ctr"/>
            <a:r>
              <a:rPr lang="en-IN" sz="1100">
                <a:solidFill>
                  <a:srgbClr val="5A5A5A"/>
                </a:solidFill>
                <a:latin typeface="Calibri" panose="020F0502020204030204" pitchFamily="34" charset="0"/>
              </a:rPr>
              <a:t>validation report → human promotion gate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A27583-A235-9185-CFA0-30945B2A9FAD}"/>
              </a:ext>
            </a:extLst>
          </p:cNvPr>
          <p:cNvCxnSpPr>
            <a:cxnSpLocks/>
            <a:stCxn id="19" idx="1"/>
            <a:endCxn id="22" idx="3"/>
          </p:cNvCxnSpPr>
          <p:nvPr/>
        </p:nvCxnSpPr>
        <p:spPr>
          <a:xfrm flipH="1">
            <a:off x="4191000" y="5499100"/>
            <a:ext cx="635000" cy="0"/>
          </a:xfrm>
          <a:prstGeom prst="straightConnector1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2EA045D-0769-8305-5259-796DB692ECC5}"/>
              </a:ext>
            </a:extLst>
          </p:cNvPr>
          <p:cNvSpPr txBox="1"/>
          <p:nvPr/>
        </p:nvSpPr>
        <p:spPr>
          <a:xfrm>
            <a:off x="254000" y="3302000"/>
            <a:ext cx="4191000" cy="1477328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noAutofit/>
          </a:bodyPr>
          <a:lstStyle/>
          <a:p>
            <a:r>
              <a:rPr lang="en-US" sz="1250">
                <a:solidFill>
                  <a:srgbClr val="5A5A5A"/>
                </a:solidFill>
                <a:latin typeface="Calibri" panose="020F0502020204030204" pitchFamily="34" charset="0"/>
              </a:rPr>
              <a:t>The AI never finalises a finding. Every region stays editable, approvals need a second person, and reviewed images only become training data after the leakage rules are checked.</a:t>
            </a:r>
            <a:endParaRPr lang="en-IN" sz="125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68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Custom</PresentationFormat>
  <Paragraphs>117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2026-10-15T15:16:37Z</dcterms:created>
  <dcterms:modified xsi:type="dcterms:W3CDTF">2026-10-15T15:16:37Z</dcterms:modified>
</cp:coreProperties>
</file>